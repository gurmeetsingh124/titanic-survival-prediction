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a supervised learning demonstration built from the Titanic.csv file included with the project. The ship image is generated artwork, not an archival photograph. Fill in student, mentor, section, and date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as the clickable agenda. Click each Open Section button to jump to that part of the deck. Explain that the task is classification: estimate the recorded outcome from selected passenger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values from Titanic.csv: 891 records, 342 survived, 549 did not survive. Missingness counts: age 177 (19.9%), deck 688 (77.2%), embarked 2 (0.2%). The unnamed index and alive are not model inputs. The broader CSV contains 16 columns, but not all are valid features.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from Titanic.csv: female 233 survived and 81 did not (314 total); male 109 survived and 468 did not (577 total). Survival rates are 74.2% and 18.9%. Emphasize that this is an observed group association, not a causal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exact group counts are 1st class 136/216 = 63.0%, 2nd class 87/184 = 47.3%, and 3rd class 119/491 = 24.2%. Chart values are rounded to whole percentages. These are descriptive statistics from the included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Age-band counts and survival: 0–12: 40/69 = 58%; 13–18: 30/70 = 43%; 19–30: 96/270 = 36%; 31–45: 86/202 = 43%; 46–60: 33/81 = 41%; 60+: 5/22 = 23%. Family size is sibsp + parch + 1; the extra one counts the passenger.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puts imputers, scaling, and encoding in a scikit-learn pipeline fit only on the training split. `alive` duplicates the target and would leak the answer. The unnamed index is not a passenger attribute; class duplicates pclass.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full flow: load data, explore, engineer family size, split, fit pipelines, compare models, validate, then refit the selected pipeline on all rows for the interactive demo. The validation score comes from held-out rows; the final saved model has no unseen test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Models confirmed in the notebook: DummyClassifier, Logistic Regression, Decision Tree, Random Forest. Random Forest is selected by the best training cross-validation ROC-AUC (0.878). Logistic Regression scores 0.006 higher ROC-AUC on the validation split; the notebook keeps the preplanned CV selection rule instead of reselecting based on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Metrics and confusion counts are from the notebook validation set, 179 records. Matrix [[100,10],[26,43]] with rows actual no/yes and columns predicted no/yes. Accuracy = 143/179 = 0.799. Precision for survivors = 43/(43+10)=0.811; recall=43/(43+26)=0.623; F1=0.705; ROC-AUC=0.833. Dummy baseline validation accuracy 0.615, F1 0, AUC 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calculates permutation importance and names sex, pclass, and age as the three strongest validation features. The bars on the slide show rank only, not numerical scores. Keep interpretation cautious: predictive association is not causation.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browser submits the profile to POST /api/predict. FastAPI loads the serialized complete scikit-learn preprocessing/model pipeline. GET /api/stats reads the CSV for group summaries. The notebook compares and saves the model. The app checks the model feature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explicitly labeled placeholders rather than presenting a mockup as a real screenshot. The local app URLs are /predict, /explore, and /about. Replace each placeholder with a real browser screenshot after running the app locally.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predictor if the app is running. It collects six fields, serializes them to JSON, the FastAPI endpoint passes them into the saved pipeline, and the page displays the probability estimate. Technology list comes from requirements.txt and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summarizing the end-to-end workflow and noting limitations. References: project files are the primary source for project-specific facts. The data file’s original provenance is not established by the files inspected, so confirm the dataset citation before final academic submission. scikit-learn model persistence documentation: https://scikit-learn.org/stable/model_persistence.html. Future work is not yet implemented.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AF8F1"/>
        </a:solidFill>
      </p:bgPr>
    </p:bg>
    <p:spTree>
      <p:nvGrpSpPr>
        <p:cNvPr id="1" name=""/>
        <p:cNvGrpSpPr/>
        <p:nvPr/>
      </p:nvGrpSpPr>
      <p:grpSpPr>
        <a:xfrm>
          <a:off x="0" y="0"/>
          <a:ext cx="0" cy="0"/>
          <a:chOff x="0" y="0"/>
          <a:chExt cx="0" cy="0"/>
        </a:xfrm>
      </p:grpSpPr>
      <p:sp>
        <p:nvSpPr>
          <p:cNvPr id="2" name="Shape 0"/>
          <p:cNvSpPr/>
          <p:nvPr/>
        </p:nvSpPr>
        <p:spPr>
          <a:xfrm>
            <a:off x="457200" y="6510528"/>
            <a:ext cx="11247120" cy="0"/>
          </a:xfrm>
          <a:prstGeom prst="line">
            <a:avLst/>
          </a:prstGeom>
          <a:noFill/>
          <a:ln w="8890">
            <a:solidFill>
              <a:srgbClr val="D8E0DC"/>
            </a:solidFill>
            <a:prstDash val="solid"/>
          </a:ln>
        </p:spPr>
      </p:sp>
      <p:sp>
        <p:nvSpPr>
          <p:cNvPr id="3" name="Text 1"/>
          <p:cNvSpPr/>
          <p:nvPr/>
        </p:nvSpPr>
        <p:spPr>
          <a:xfrm>
            <a:off x="502920" y="6565392"/>
            <a:ext cx="5577840" cy="146304"/>
          </a:xfrm>
          <a:prstGeom prst="rect">
            <a:avLst/>
          </a:prstGeom>
          <a:noFill/>
          <a:ln/>
        </p:spPr>
        <p:txBody>
          <a:bodyPr wrap="square" lIns="0" tIns="0" rIns="0" bIns="0" rtlCol="0" anchor="ctr"/>
          <a:lstStyle/>
          <a:p>
            <a:pPr indent="0" marL="0">
              <a:buNone/>
            </a:pPr>
            <a:r>
              <a:rPr lang="en-US" sz="700" spc="130" kern="0" dirty="0">
                <a:solidFill>
                  <a:srgbClr val="71838D"/>
                </a:solidFill>
                <a:latin typeface="Aptos" pitchFamily="34" charset="0"/>
                <a:ea typeface="Aptos" pitchFamily="34" charset="-122"/>
                <a:cs typeface="Aptos" pitchFamily="34" charset="-120"/>
              </a:rPr>
              <a:t>TITANIC SURVIVAL PREDICTION  /  INVERTIS UNIVERSITY</a:t>
            </a:r>
            <a:endParaRPr lang="en-US" sz="700" dirty="0"/>
          </a:p>
        </p:txBody>
      </p:sp>
      <p:sp>
        <p:nvSpPr>
          <p:cNvPr id="4" name="Text 2"/>
          <p:cNvSpPr/>
          <p:nvPr/>
        </p:nvSpPr>
        <p:spPr>
          <a:xfrm>
            <a:off x="7772400" y="6565392"/>
            <a:ext cx="3566160" cy="146304"/>
          </a:xfrm>
          <a:prstGeom prst="rect">
            <a:avLst/>
          </a:prstGeom>
          <a:noFill/>
          <a:ln/>
        </p:spPr>
        <p:txBody>
          <a:bodyPr wrap="square" lIns="0" tIns="0" rIns="0" bIns="0" rtlCol="0" anchor="ctr"/>
          <a:lstStyle/>
          <a:p>
            <a:pPr algn="r" indent="0" marL="0">
              <a:buNone/>
            </a:pPr>
            <a:r>
              <a:rPr lang="en-US" sz="700" spc="80" kern="0" dirty="0">
                <a:solidFill>
                  <a:srgbClr val="71838D"/>
                </a:solidFill>
                <a:latin typeface="Aptos" pitchFamily="34" charset="0"/>
                <a:ea typeface="Aptos" pitchFamily="34" charset="-122"/>
                <a:cs typeface="Aptos" pitchFamily="34" charset="-120"/>
              </a:rPr>
              <a:t>CLICK THE SECTION LABELS TO NAVIGATE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2.xml"/><Relationship Id="rId6" Type="http://schemas.openxmlformats.org/officeDocument/2006/relationships/slide" Target="slide3.xml"/><Relationship Id="rId7" Type="http://schemas.openxmlformats.org/officeDocument/2006/relationships/slide" Target="slide8.xml"/><Relationship Id="rId8" Type="http://schemas.openxmlformats.org/officeDocument/2006/relationships/slide" Target="slide12.xml"/><Relationship Id="rId9" Type="http://schemas.openxmlformats.org/officeDocument/2006/relationships/slide" Target="slide13.xml"/><Relationship Id="rId10" Type="http://schemas.openxmlformats.org/officeDocument/2006/relationships/slideLayout" Target="../slideLayouts/slideLayout2.xml"/><Relationship Id="rId1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8.xml"/><Relationship Id="rId4" Type="http://schemas.openxmlformats.org/officeDocument/2006/relationships/slide" Target="slide12.xml"/><Relationship Id="rId5" Type="http://schemas.openxmlformats.org/officeDocument/2006/relationships/slide" Target="slide13.xml"/><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13.xml"/><Relationship Id="rId3" Type="http://schemas.openxmlformats.org/officeDocument/2006/relationships/slide" Target="slide13.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8.xml"/><Relationship Id="rId7" Type="http://schemas.openxmlformats.org/officeDocument/2006/relationships/slide" Target="slide12.xml"/><Relationship Id="rId8" Type="http://schemas.openxmlformats.org/officeDocument/2006/relationships/slide" Target="slide13.xml"/><Relationship Id="rId9" Type="http://schemas.openxmlformats.org/officeDocument/2006/relationships/slideLayout" Target="../slideLayouts/slideLayout2.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127.0.0.1:8000/predict" TargetMode="Externa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12.xml"/><Relationship Id="rId6" Type="http://schemas.openxmlformats.org/officeDocument/2006/relationships/slide" Target="slide13.xml"/><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scikit-learn.org/stable/model_persistence.html" TargetMode="External"/><Relationship Id="rId2" Type="http://schemas.openxmlformats.org/officeDocument/2006/relationships/slide" Target="slide2.xml"/><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12.xml"/><Relationship Id="rId6" Type="http://schemas.openxmlformats.org/officeDocument/2006/relationships/slide" Target="slide13.xml"/><Relationship Id="rId7" Type="http://schemas.openxmlformats.org/officeDocument/2006/relationships/slideLayout" Target="../slideLayouts/slideLayout2.xml"/><Relationship Id="rId8"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F49"/>
        </a:solidFill>
      </p:bgPr>
    </p:bg>
    <p:spTree>
      <p:nvGrpSpPr>
        <p:cNvPr id="1" name=""/>
        <p:cNvGrpSpPr/>
        <p:nvPr/>
      </p:nvGrpSpPr>
      <p:grpSpPr>
        <a:xfrm>
          <a:off x="0" y="0"/>
          <a:ext cx="0" cy="0"/>
          <a:chOff x="0" y="0"/>
          <a:chExt cx="0" cy="0"/>
        </a:xfrm>
      </p:grpSpPr>
      <p:pic>
        <p:nvPicPr>
          <p:cNvPr id="2" name="Image 0" descr="C:\Users\acer\Desktop\Titanic Survival Prediction\static\images\titanic-dawn.png">    </p:cNvPr>
          <p:cNvPicPr>
            <a:picLocks noChangeAspect="1"/>
          </p:cNvPicPr>
          <p:nvPr/>
        </p:nvPicPr>
        <p:blipFill>
          <a:blip r:embed="rId1"/>
          <a:stretch>
            <a:fillRect/>
          </a:stretch>
        </p:blipFill>
        <p:spPr>
          <a:xfrm>
            <a:off x="5486400" y="0"/>
            <a:ext cx="6711696" cy="6858000"/>
          </a:xfrm>
          <a:prstGeom prst="rect">
            <a:avLst/>
          </a:prstGeom>
        </p:spPr>
      </p:pic>
      <p:sp>
        <p:nvSpPr>
          <p:cNvPr id="3" name="Shape 0"/>
          <p:cNvSpPr/>
          <p:nvPr/>
        </p:nvSpPr>
        <p:spPr>
          <a:xfrm>
            <a:off x="0" y="0"/>
            <a:ext cx="5852160" cy="6858000"/>
          </a:xfrm>
          <a:prstGeom prst="rect">
            <a:avLst>
              <a:gd name="adj" fmla="val 1250"/>
            </a:avLst>
          </a:prstGeom>
          <a:solidFill>
            <a:srgbClr val="142F49"/>
          </a:solidFill>
          <a:ln w="12700">
            <a:solidFill>
              <a:srgbClr val="142F49">
                <a:alpha val="0"/>
              </a:srgbClr>
            </a:solidFill>
            <a:prstDash val="solid"/>
          </a:ln>
        </p:spPr>
      </p:sp>
      <p:sp>
        <p:nvSpPr>
          <p:cNvPr id="4" name="Shape 1"/>
          <p:cNvSpPr/>
          <p:nvPr/>
        </p:nvSpPr>
        <p:spPr>
          <a:xfrm>
            <a:off x="5257800" y="0"/>
            <a:ext cx="1051560" cy="6858000"/>
          </a:xfrm>
          <a:prstGeom prst="rect">
            <a:avLst>
              <a:gd name="adj" fmla="val 6957"/>
            </a:avLst>
          </a:prstGeom>
          <a:solidFill>
            <a:srgbClr val="142F49">
              <a:alpha val="82000"/>
            </a:srgbClr>
          </a:solidFill>
          <a:ln w="12700">
            <a:solidFill>
              <a:srgbClr val="142F49">
                <a:alpha val="0"/>
              </a:srgbClr>
            </a:solidFill>
            <a:prstDash val="solid"/>
          </a:ln>
        </p:spPr>
      </p:sp>
      <p:sp>
        <p:nvSpPr>
          <p:cNvPr id="5" name="Text 2"/>
          <p:cNvSpPr/>
          <p:nvPr/>
        </p:nvSpPr>
        <p:spPr>
          <a:xfrm>
            <a:off x="658368" y="493776"/>
            <a:ext cx="4023360" cy="228600"/>
          </a:xfrm>
          <a:prstGeom prst="rect">
            <a:avLst/>
          </a:prstGeom>
          <a:noFill/>
          <a:ln/>
        </p:spPr>
        <p:txBody>
          <a:bodyPr wrap="square" lIns="0" tIns="0" rIns="0" bIns="0" rtlCol="0" anchor="ctr">
            <a:normAutofit/>
          </a:bodyPr>
          <a:lstStyle/>
          <a:p>
            <a:pPr algn="l" indent="0" marL="0">
              <a:buNone/>
            </a:pPr>
            <a:r>
              <a:rPr lang="en-US" sz="1000" b="1" spc="200" kern="0" dirty="0">
                <a:solidFill>
                  <a:srgbClr val="D1A56A"/>
                </a:solidFill>
                <a:latin typeface="Aptos" pitchFamily="34" charset="0"/>
                <a:ea typeface="Aptos" pitchFamily="34" charset="-122"/>
                <a:cs typeface="Aptos" pitchFamily="34" charset="-120"/>
              </a:rPr>
              <a:t>INVERTIS UNIVERSITY</a:t>
            </a:r>
            <a:endParaRPr lang="en-US" sz="1000" dirty="0"/>
          </a:p>
        </p:txBody>
      </p:sp>
      <p:sp>
        <p:nvSpPr>
          <p:cNvPr id="6" name="Text 3"/>
          <p:cNvSpPr/>
          <p:nvPr/>
        </p:nvSpPr>
        <p:spPr>
          <a:xfrm>
            <a:off x="658368" y="841248"/>
            <a:ext cx="4572000" cy="219456"/>
          </a:xfrm>
          <a:prstGeom prst="rect">
            <a:avLst/>
          </a:prstGeom>
          <a:noFill/>
          <a:ln/>
        </p:spPr>
        <p:txBody>
          <a:bodyPr wrap="square" lIns="0" tIns="0" rIns="0" bIns="0" rtlCol="0" anchor="ctr">
            <a:normAutofit/>
          </a:bodyPr>
          <a:lstStyle/>
          <a:p>
            <a:pPr algn="l" indent="0" marL="0">
              <a:buNone/>
            </a:pPr>
            <a:r>
              <a:rPr lang="en-US" sz="800" spc="110" kern="0" dirty="0">
                <a:solidFill>
                  <a:srgbClr val="C7D8DD"/>
                </a:solidFill>
                <a:latin typeface="Aptos" pitchFamily="34" charset="0"/>
                <a:ea typeface="Aptos" pitchFamily="34" charset="-122"/>
                <a:cs typeface="Aptos" pitchFamily="34" charset="-120"/>
              </a:rPr>
              <a:t>DEPARTMENT OF COMPUTER SCIENCE &amp; ENGINEERING</a:t>
            </a:r>
            <a:endParaRPr lang="en-US" sz="800" dirty="0"/>
          </a:p>
        </p:txBody>
      </p:sp>
      <p:sp>
        <p:nvSpPr>
          <p:cNvPr id="7" name="Shape 4"/>
          <p:cNvSpPr/>
          <p:nvPr/>
        </p:nvSpPr>
        <p:spPr>
          <a:xfrm>
            <a:off x="658368" y="1298448"/>
            <a:ext cx="758952" cy="0"/>
          </a:xfrm>
          <a:prstGeom prst="line">
            <a:avLst/>
          </a:prstGeom>
          <a:noFill/>
          <a:ln w="27940">
            <a:solidFill>
              <a:srgbClr val="E77765"/>
            </a:solidFill>
            <a:prstDash val="solid"/>
            <a:headEnd type="none"/>
            <a:tailEnd type="none"/>
          </a:ln>
        </p:spPr>
      </p:sp>
      <p:sp>
        <p:nvSpPr>
          <p:cNvPr id="8" name="Text 5"/>
          <p:cNvSpPr/>
          <p:nvPr/>
        </p:nvSpPr>
        <p:spPr>
          <a:xfrm>
            <a:off x="658368" y="1691640"/>
            <a:ext cx="4846320" cy="685800"/>
          </a:xfrm>
          <a:prstGeom prst="rect">
            <a:avLst/>
          </a:prstGeom>
          <a:noFill/>
          <a:ln/>
        </p:spPr>
        <p:txBody>
          <a:bodyPr wrap="square" lIns="0" tIns="0" rIns="0" bIns="0" rtlCol="0" anchor="ctr">
            <a:normAutofit/>
          </a:bodyPr>
          <a:lstStyle/>
          <a:p>
            <a:pPr algn="l" indent="0" marL="0">
              <a:buNone/>
            </a:pPr>
            <a:r>
              <a:rPr lang="en-US" sz="3900" b="1" dirty="0">
                <a:solidFill>
                  <a:srgbClr val="FAF8F1"/>
                </a:solidFill>
                <a:latin typeface="Georgia" pitchFamily="34" charset="0"/>
                <a:ea typeface="Georgia" pitchFamily="34" charset="-122"/>
                <a:cs typeface="Georgia" pitchFamily="34" charset="-120"/>
              </a:rPr>
              <a:t>TITANIC</a:t>
            </a:r>
            <a:endParaRPr lang="en-US" sz="3900" dirty="0"/>
          </a:p>
        </p:txBody>
      </p:sp>
      <p:sp>
        <p:nvSpPr>
          <p:cNvPr id="9" name="Text 6"/>
          <p:cNvSpPr/>
          <p:nvPr/>
        </p:nvSpPr>
        <p:spPr>
          <a:xfrm>
            <a:off x="658368" y="2377440"/>
            <a:ext cx="4846320" cy="685800"/>
          </a:xfrm>
          <a:prstGeom prst="rect">
            <a:avLst/>
          </a:prstGeom>
          <a:noFill/>
          <a:ln/>
        </p:spPr>
        <p:txBody>
          <a:bodyPr wrap="square" lIns="0" tIns="0" rIns="0" bIns="0" rtlCol="0" anchor="ctr">
            <a:normAutofit/>
          </a:bodyPr>
          <a:lstStyle/>
          <a:p>
            <a:pPr algn="l" indent="0" marL="0">
              <a:buNone/>
            </a:pPr>
            <a:r>
              <a:rPr lang="en-US" sz="3900" b="1" dirty="0">
                <a:solidFill>
                  <a:srgbClr val="FAF8F1"/>
                </a:solidFill>
                <a:latin typeface="Georgia" pitchFamily="34" charset="0"/>
                <a:ea typeface="Georgia" pitchFamily="34" charset="-122"/>
                <a:cs typeface="Georgia" pitchFamily="34" charset="-120"/>
              </a:rPr>
              <a:t>SURVIVAL</a:t>
            </a:r>
            <a:endParaRPr lang="en-US" sz="3900" dirty="0"/>
          </a:p>
        </p:txBody>
      </p:sp>
      <p:sp>
        <p:nvSpPr>
          <p:cNvPr id="10" name="Text 7"/>
          <p:cNvSpPr/>
          <p:nvPr/>
        </p:nvSpPr>
        <p:spPr>
          <a:xfrm>
            <a:off x="658368" y="3063240"/>
            <a:ext cx="4663440" cy="685800"/>
          </a:xfrm>
          <a:prstGeom prst="rect">
            <a:avLst/>
          </a:prstGeom>
          <a:noFill/>
          <a:ln/>
        </p:spPr>
        <p:txBody>
          <a:bodyPr wrap="square" lIns="0" tIns="0" rIns="0" bIns="0" rtlCol="0" anchor="ctr">
            <a:normAutofit/>
          </a:bodyPr>
          <a:lstStyle/>
          <a:p>
            <a:pPr algn="l" indent="0" marL="0">
              <a:buNone/>
            </a:pPr>
            <a:r>
              <a:rPr lang="en-US" sz="3900" b="1" dirty="0">
                <a:solidFill>
                  <a:srgbClr val="E77765"/>
                </a:solidFill>
                <a:latin typeface="Georgia" pitchFamily="34" charset="0"/>
                <a:ea typeface="Georgia" pitchFamily="34" charset="-122"/>
                <a:cs typeface="Georgia" pitchFamily="34" charset="-120"/>
              </a:rPr>
              <a:t>PREDICTION</a:t>
            </a:r>
            <a:endParaRPr lang="en-US" sz="3900" dirty="0"/>
          </a:p>
        </p:txBody>
      </p:sp>
      <p:sp>
        <p:nvSpPr>
          <p:cNvPr id="11" name="Text 8"/>
          <p:cNvSpPr/>
          <p:nvPr/>
        </p:nvSpPr>
        <p:spPr>
          <a:xfrm>
            <a:off x="694944" y="3977640"/>
            <a:ext cx="4434840" cy="530352"/>
          </a:xfrm>
          <a:prstGeom prst="rect">
            <a:avLst/>
          </a:prstGeom>
          <a:noFill/>
          <a:ln/>
        </p:spPr>
        <p:txBody>
          <a:bodyPr wrap="square" lIns="0" tIns="0" rIns="0" bIns="0" rtlCol="0" anchor="ctr">
            <a:normAutofit/>
          </a:bodyPr>
          <a:lstStyle/>
          <a:p>
            <a:pPr algn="l" indent="0" marL="0">
              <a:buNone/>
            </a:pPr>
            <a:r>
              <a:rPr lang="en-US" sz="1600" dirty="0">
                <a:solidFill>
                  <a:srgbClr val="DCE7E4"/>
                </a:solidFill>
                <a:latin typeface="Georgia" pitchFamily="34" charset="0"/>
                <a:ea typeface="Georgia" pitchFamily="34" charset="-122"/>
                <a:cs typeface="Georgia" pitchFamily="34" charset="-120"/>
              </a:rPr>
              <a:t>A machine learning study of historical passenger records</a:t>
            </a:r>
            <a:endParaRPr lang="en-US" sz="1600" dirty="0"/>
          </a:p>
        </p:txBody>
      </p:sp>
      <p:sp>
        <p:nvSpPr>
          <p:cNvPr id="12" name="Shape 9"/>
          <p:cNvSpPr/>
          <p:nvPr/>
        </p:nvSpPr>
        <p:spPr>
          <a:xfrm>
            <a:off x="694944" y="4754880"/>
            <a:ext cx="1417320" cy="256032"/>
          </a:xfrm>
          <a:prstGeom prst="roundRect">
            <a:avLst>
              <a:gd name="adj" fmla="val 28571"/>
            </a:avLst>
          </a:prstGeom>
          <a:solidFill>
            <a:srgbClr val="274A60"/>
          </a:solidFill>
          <a:ln w="12700">
            <a:solidFill>
              <a:srgbClr val="274A60">
                <a:alpha val="0"/>
              </a:srgbClr>
            </a:solidFill>
            <a:prstDash val="solid"/>
          </a:ln>
        </p:spPr>
      </p:sp>
      <p:sp>
        <p:nvSpPr>
          <p:cNvPr id="13" name="Text 10"/>
          <p:cNvSpPr/>
          <p:nvPr/>
        </p:nvSpPr>
        <p:spPr>
          <a:xfrm>
            <a:off x="768096" y="4768596"/>
            <a:ext cx="1271016" cy="219456"/>
          </a:xfrm>
          <a:prstGeom prst="rect">
            <a:avLst/>
          </a:prstGeom>
          <a:noFill/>
          <a:ln/>
        </p:spPr>
        <p:txBody>
          <a:bodyPr wrap="square" lIns="0" tIns="0" rIns="0" bIns="0" rtlCol="0" anchor="ctr">
            <a:normAutofit/>
          </a:bodyPr>
          <a:lstStyle/>
          <a:p>
            <a:pPr algn="l" indent="0" marL="0">
              <a:buNone/>
            </a:pPr>
            <a:r>
              <a:rPr lang="en-US" sz="800" b="1" spc="30" kern="0" dirty="0">
                <a:solidFill>
                  <a:srgbClr val="F0C893"/>
                </a:solidFill>
                <a:latin typeface="Aptos" pitchFamily="34" charset="0"/>
                <a:ea typeface="Aptos" pitchFamily="34" charset="-122"/>
                <a:cs typeface="Aptos" pitchFamily="34" charset="-120"/>
              </a:rPr>
              <a:t>MACHINE LEARNING</a:t>
            </a:r>
            <a:endParaRPr lang="en-US" sz="800" dirty="0"/>
          </a:p>
        </p:txBody>
      </p:sp>
      <p:sp>
        <p:nvSpPr>
          <p:cNvPr id="14" name="Shape 11"/>
          <p:cNvSpPr/>
          <p:nvPr/>
        </p:nvSpPr>
        <p:spPr>
          <a:xfrm>
            <a:off x="2221992" y="4754880"/>
            <a:ext cx="1005840" cy="256032"/>
          </a:xfrm>
          <a:prstGeom prst="roundRect">
            <a:avLst>
              <a:gd name="adj" fmla="val 28571"/>
            </a:avLst>
          </a:prstGeom>
          <a:solidFill>
            <a:srgbClr val="274A60"/>
          </a:solidFill>
          <a:ln w="12700">
            <a:solidFill>
              <a:srgbClr val="274A60">
                <a:alpha val="0"/>
              </a:srgbClr>
            </a:solidFill>
            <a:prstDash val="solid"/>
          </a:ln>
        </p:spPr>
      </p:sp>
      <p:sp>
        <p:nvSpPr>
          <p:cNvPr id="15" name="Text 12"/>
          <p:cNvSpPr/>
          <p:nvPr/>
        </p:nvSpPr>
        <p:spPr>
          <a:xfrm>
            <a:off x="2295144" y="4768596"/>
            <a:ext cx="859536" cy="219456"/>
          </a:xfrm>
          <a:prstGeom prst="rect">
            <a:avLst/>
          </a:prstGeom>
          <a:noFill/>
          <a:ln/>
        </p:spPr>
        <p:txBody>
          <a:bodyPr wrap="square" lIns="0" tIns="0" rIns="0" bIns="0" rtlCol="0" anchor="ctr">
            <a:normAutofit/>
          </a:bodyPr>
          <a:lstStyle/>
          <a:p>
            <a:pPr algn="l" indent="0" marL="0">
              <a:buNone/>
            </a:pPr>
            <a:r>
              <a:rPr lang="en-US" sz="800" b="1" spc="30" kern="0" dirty="0">
                <a:solidFill>
                  <a:srgbClr val="D2E5DF"/>
                </a:solidFill>
                <a:latin typeface="Aptos" pitchFamily="34" charset="0"/>
                <a:ea typeface="Aptos" pitchFamily="34" charset="-122"/>
                <a:cs typeface="Aptos" pitchFamily="34" charset="-120"/>
              </a:rPr>
              <a:t>B.TECH CSE</a:t>
            </a:r>
            <a:endParaRPr lang="en-US" sz="800" dirty="0"/>
          </a:p>
        </p:txBody>
      </p:sp>
      <p:sp>
        <p:nvSpPr>
          <p:cNvPr id="16" name="Text 13"/>
          <p:cNvSpPr/>
          <p:nvPr/>
        </p:nvSpPr>
        <p:spPr>
          <a:xfrm>
            <a:off x="694944" y="5687568"/>
            <a:ext cx="2148840" cy="182880"/>
          </a:xfrm>
          <a:prstGeom prst="rect">
            <a:avLst/>
          </a:prstGeom>
          <a:noFill/>
          <a:ln/>
        </p:spPr>
        <p:txBody>
          <a:bodyPr wrap="square" lIns="0" tIns="0" rIns="0" bIns="0" rtlCol="0" anchor="ctr">
            <a:normAutofit/>
          </a:bodyPr>
          <a:lstStyle/>
          <a:p>
            <a:pPr algn="l" indent="0" marL="0">
              <a:buNone/>
            </a:pPr>
            <a:r>
              <a:rPr lang="en-US" sz="900" dirty="0">
                <a:solidFill>
                  <a:srgbClr val="D0DEDC"/>
                </a:solidFill>
                <a:latin typeface="Aptos" pitchFamily="34" charset="0"/>
                <a:ea typeface="Aptos" pitchFamily="34" charset="-122"/>
                <a:cs typeface="Aptos" pitchFamily="34" charset="-120"/>
              </a:rPr>
              <a:t>Student: [Name / ID]</a:t>
            </a:r>
            <a:endParaRPr lang="en-US" sz="900" dirty="0"/>
          </a:p>
        </p:txBody>
      </p:sp>
      <p:sp>
        <p:nvSpPr>
          <p:cNvPr id="17" name="Text 14"/>
          <p:cNvSpPr/>
          <p:nvPr/>
        </p:nvSpPr>
        <p:spPr>
          <a:xfrm>
            <a:off x="2834640" y="5687568"/>
            <a:ext cx="2103120" cy="182880"/>
          </a:xfrm>
          <a:prstGeom prst="rect">
            <a:avLst/>
          </a:prstGeom>
          <a:noFill/>
          <a:ln/>
        </p:spPr>
        <p:txBody>
          <a:bodyPr wrap="square" lIns="0" tIns="0" rIns="0" bIns="0" rtlCol="0" anchor="ctr">
            <a:normAutofit/>
          </a:bodyPr>
          <a:lstStyle/>
          <a:p>
            <a:pPr algn="l" indent="0" marL="0">
              <a:buNone/>
            </a:pPr>
            <a:r>
              <a:rPr lang="en-US" sz="900" dirty="0">
                <a:solidFill>
                  <a:srgbClr val="D0DEDC"/>
                </a:solidFill>
                <a:latin typeface="Aptos" pitchFamily="34" charset="0"/>
                <a:ea typeface="Aptos" pitchFamily="34" charset="-122"/>
                <a:cs typeface="Aptos" pitchFamily="34" charset="-120"/>
              </a:rPr>
              <a:t>Mentor: [Name]</a:t>
            </a:r>
            <a:endParaRPr lang="en-US" sz="900" dirty="0"/>
          </a:p>
        </p:txBody>
      </p:sp>
      <p:sp>
        <p:nvSpPr>
          <p:cNvPr id="18" name="Text 15"/>
          <p:cNvSpPr/>
          <p:nvPr/>
        </p:nvSpPr>
        <p:spPr>
          <a:xfrm>
            <a:off x="694944" y="6016752"/>
            <a:ext cx="4389120" cy="164592"/>
          </a:xfrm>
          <a:prstGeom prst="rect">
            <a:avLst/>
          </a:prstGeom>
          <a:noFill/>
          <a:ln/>
        </p:spPr>
        <p:txBody>
          <a:bodyPr wrap="square" lIns="0" tIns="0" rIns="0" bIns="0" rtlCol="0" anchor="ctr">
            <a:normAutofit/>
          </a:bodyPr>
          <a:lstStyle/>
          <a:p>
            <a:pPr algn="l" indent="0" marL="0">
              <a:buNone/>
            </a:pPr>
            <a:r>
              <a:rPr lang="en-US" sz="800" dirty="0">
                <a:solidFill>
                  <a:srgbClr val="9FB4B7"/>
                </a:solidFill>
                <a:latin typeface="Aptos" pitchFamily="34" charset="0"/>
                <a:ea typeface="Aptos" pitchFamily="34" charset="-122"/>
                <a:cs typeface="Aptos" pitchFamily="34" charset="-120"/>
              </a:rPr>
              <a:t>Academic presentation • [Section] • [Date]</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PROJECT OVERVIEW</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One dataset, three parts</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This presentation follows the same path as the project: understand the data, train a model, then use it in a website.</a:t>
            </a:r>
            <a:endParaRPr lang="en-US" sz="1100" dirty="0"/>
          </a:p>
        </p:txBody>
      </p:sp>
      <p:sp>
        <p:nvSpPr>
          <p:cNvPr id="5" name="Shape 3"/>
          <p:cNvSpPr/>
          <p:nvPr/>
        </p:nvSpPr>
        <p:spPr>
          <a:xfrm>
            <a:off x="658368" y="1691640"/>
            <a:ext cx="5166360" cy="1143000"/>
          </a:xfrm>
          <a:prstGeom prst="roundRect">
            <a:avLst>
              <a:gd name="adj" fmla="val 6400"/>
            </a:avLst>
          </a:prstGeom>
          <a:solidFill>
            <a:srgbClr val="FFFFFF"/>
          </a:solidFill>
          <a:ln w="10160">
            <a:solidFill>
              <a:srgbClr val="D8E0DC"/>
            </a:solidFill>
            <a:prstDash val="solid"/>
          </a:ln>
        </p:spPr>
      </p:sp>
      <p:sp>
        <p:nvSpPr>
          <p:cNvPr id="6" name="Shape 4"/>
          <p:cNvSpPr/>
          <p:nvPr/>
        </p:nvSpPr>
        <p:spPr>
          <a:xfrm>
            <a:off x="841248" y="1874520"/>
            <a:ext cx="411480" cy="411480"/>
          </a:xfrm>
          <a:prstGeom prst="ellipse">
            <a:avLst/>
          </a:prstGeom>
          <a:solidFill>
            <a:srgbClr val="1E4661"/>
          </a:solidFill>
          <a:ln w="8890">
            <a:solidFill>
              <a:srgbClr val="1E4661"/>
            </a:solidFill>
            <a:prstDash val="solid"/>
          </a:ln>
        </p:spPr>
      </p:sp>
      <p:sp>
        <p:nvSpPr>
          <p:cNvPr id="7" name="Text 5"/>
          <p:cNvSpPr/>
          <p:nvPr/>
        </p:nvSpPr>
        <p:spPr>
          <a:xfrm>
            <a:off x="841248" y="1920240"/>
            <a:ext cx="411480"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01</a:t>
            </a:r>
            <a:endParaRPr lang="en-US" sz="900" dirty="0"/>
          </a:p>
        </p:txBody>
      </p:sp>
      <p:sp>
        <p:nvSpPr>
          <p:cNvPr id="8" name="Text 6"/>
          <p:cNvSpPr/>
          <p:nvPr/>
        </p:nvSpPr>
        <p:spPr>
          <a:xfrm>
            <a:off x="1435608" y="1874520"/>
            <a:ext cx="4069080" cy="274320"/>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Passenger data</a:t>
            </a:r>
            <a:endParaRPr lang="en-US" sz="1700" dirty="0"/>
          </a:p>
        </p:txBody>
      </p:sp>
      <p:sp>
        <p:nvSpPr>
          <p:cNvPr id="9" name="Text 7"/>
          <p:cNvSpPr/>
          <p:nvPr/>
        </p:nvSpPr>
        <p:spPr>
          <a:xfrm>
            <a:off x="1435608" y="2286000"/>
            <a:ext cx="4114800" cy="228600"/>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891 records • target and missingness</a:t>
            </a:r>
            <a:endParaRPr lang="en-US" sz="1000" dirty="0"/>
          </a:p>
        </p:txBody>
      </p:sp>
      <p:sp>
        <p:nvSpPr>
          <p:cNvPr id="10" name="Text 8">
            <a:hlinkClick r:id="rId1" tooltip="" action="ppaction://hlinksldjump"/>
          </p:cNvPr>
          <p:cNvSpPr/>
          <p:nvPr/>
        </p:nvSpPr>
        <p:spPr>
          <a:xfrm>
            <a:off x="4727448" y="2514600"/>
            <a:ext cx="91440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OPEN SECTION →</a:t>
            </a:r>
            <a:endParaRPr lang="en-US" sz="800" dirty="0"/>
          </a:p>
        </p:txBody>
      </p:sp>
      <p:sp>
        <p:nvSpPr>
          <p:cNvPr id="11" name="Shape 9"/>
          <p:cNvSpPr/>
          <p:nvPr/>
        </p:nvSpPr>
        <p:spPr>
          <a:xfrm>
            <a:off x="6281928" y="1691640"/>
            <a:ext cx="5166360" cy="1143000"/>
          </a:xfrm>
          <a:prstGeom prst="roundRect">
            <a:avLst>
              <a:gd name="adj" fmla="val 6400"/>
            </a:avLst>
          </a:prstGeom>
          <a:solidFill>
            <a:srgbClr val="FFFFFF"/>
          </a:solidFill>
          <a:ln w="10160">
            <a:solidFill>
              <a:srgbClr val="D8E0DC"/>
            </a:solidFill>
            <a:prstDash val="solid"/>
          </a:ln>
        </p:spPr>
      </p:sp>
      <p:sp>
        <p:nvSpPr>
          <p:cNvPr id="12" name="Shape 10"/>
          <p:cNvSpPr/>
          <p:nvPr/>
        </p:nvSpPr>
        <p:spPr>
          <a:xfrm>
            <a:off x="6464808" y="1874520"/>
            <a:ext cx="411480" cy="411480"/>
          </a:xfrm>
          <a:prstGeom prst="ellipse">
            <a:avLst/>
          </a:prstGeom>
          <a:solidFill>
            <a:srgbClr val="E77765"/>
          </a:solidFill>
          <a:ln w="8890">
            <a:solidFill>
              <a:srgbClr val="E77765"/>
            </a:solidFill>
            <a:prstDash val="solid"/>
          </a:ln>
        </p:spPr>
      </p:sp>
      <p:sp>
        <p:nvSpPr>
          <p:cNvPr id="13" name="Text 11"/>
          <p:cNvSpPr/>
          <p:nvPr/>
        </p:nvSpPr>
        <p:spPr>
          <a:xfrm>
            <a:off x="6464808" y="1920240"/>
            <a:ext cx="411480"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02</a:t>
            </a:r>
            <a:endParaRPr lang="en-US" sz="900" dirty="0"/>
          </a:p>
        </p:txBody>
      </p:sp>
      <p:sp>
        <p:nvSpPr>
          <p:cNvPr id="14" name="Text 12"/>
          <p:cNvSpPr/>
          <p:nvPr/>
        </p:nvSpPr>
        <p:spPr>
          <a:xfrm>
            <a:off x="7059168" y="1874520"/>
            <a:ext cx="4069080" cy="274320"/>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Explore patterns</a:t>
            </a:r>
            <a:endParaRPr lang="en-US" sz="1700" dirty="0"/>
          </a:p>
        </p:txBody>
      </p:sp>
      <p:sp>
        <p:nvSpPr>
          <p:cNvPr id="15" name="Text 13"/>
          <p:cNvSpPr/>
          <p:nvPr/>
        </p:nvSpPr>
        <p:spPr>
          <a:xfrm>
            <a:off x="7059168" y="2286000"/>
            <a:ext cx="4114800" cy="228600"/>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EDA and family-size feature</a:t>
            </a:r>
            <a:endParaRPr lang="en-US" sz="1000" dirty="0"/>
          </a:p>
        </p:txBody>
      </p:sp>
      <p:sp>
        <p:nvSpPr>
          <p:cNvPr id="16" name="Text 14">
            <a:hlinkClick r:id="rId2" tooltip="" action="ppaction://hlinksldjump"/>
          </p:cNvPr>
          <p:cNvSpPr/>
          <p:nvPr/>
        </p:nvSpPr>
        <p:spPr>
          <a:xfrm>
            <a:off x="10351008" y="2514600"/>
            <a:ext cx="91440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OPEN SECTION →</a:t>
            </a:r>
            <a:endParaRPr lang="en-US" sz="800" dirty="0"/>
          </a:p>
        </p:txBody>
      </p:sp>
      <p:sp>
        <p:nvSpPr>
          <p:cNvPr id="17" name="Shape 15"/>
          <p:cNvSpPr/>
          <p:nvPr/>
        </p:nvSpPr>
        <p:spPr>
          <a:xfrm>
            <a:off x="658368" y="3200400"/>
            <a:ext cx="5166360" cy="1143000"/>
          </a:xfrm>
          <a:prstGeom prst="roundRect">
            <a:avLst>
              <a:gd name="adj" fmla="val 6400"/>
            </a:avLst>
          </a:prstGeom>
          <a:solidFill>
            <a:srgbClr val="FFFFFF"/>
          </a:solidFill>
          <a:ln w="10160">
            <a:solidFill>
              <a:srgbClr val="D8E0DC"/>
            </a:solidFill>
            <a:prstDash val="solid"/>
          </a:ln>
        </p:spPr>
      </p:sp>
      <p:sp>
        <p:nvSpPr>
          <p:cNvPr id="18" name="Shape 16"/>
          <p:cNvSpPr/>
          <p:nvPr/>
        </p:nvSpPr>
        <p:spPr>
          <a:xfrm>
            <a:off x="841248" y="3383280"/>
            <a:ext cx="411480" cy="411480"/>
          </a:xfrm>
          <a:prstGeom prst="ellipse">
            <a:avLst/>
          </a:prstGeom>
          <a:solidFill>
            <a:srgbClr val="1E4661"/>
          </a:solidFill>
          <a:ln w="8890">
            <a:solidFill>
              <a:srgbClr val="1E4661"/>
            </a:solidFill>
            <a:prstDash val="solid"/>
          </a:ln>
        </p:spPr>
      </p:sp>
      <p:sp>
        <p:nvSpPr>
          <p:cNvPr id="19" name="Text 17"/>
          <p:cNvSpPr/>
          <p:nvPr/>
        </p:nvSpPr>
        <p:spPr>
          <a:xfrm>
            <a:off x="841248" y="3429000"/>
            <a:ext cx="411480"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03</a:t>
            </a:r>
            <a:endParaRPr lang="en-US" sz="900" dirty="0"/>
          </a:p>
        </p:txBody>
      </p:sp>
      <p:sp>
        <p:nvSpPr>
          <p:cNvPr id="20" name="Text 18"/>
          <p:cNvSpPr/>
          <p:nvPr/>
        </p:nvSpPr>
        <p:spPr>
          <a:xfrm>
            <a:off x="1435608" y="3383280"/>
            <a:ext cx="4069080" cy="274320"/>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Train &amp; evaluate</a:t>
            </a:r>
            <a:endParaRPr lang="en-US" sz="1700" dirty="0"/>
          </a:p>
        </p:txBody>
      </p:sp>
      <p:sp>
        <p:nvSpPr>
          <p:cNvPr id="21" name="Text 19"/>
          <p:cNvSpPr/>
          <p:nvPr/>
        </p:nvSpPr>
        <p:spPr>
          <a:xfrm>
            <a:off x="1435608" y="3794760"/>
            <a:ext cx="4114800" cy="228600"/>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Validation, model comparison, limits</a:t>
            </a:r>
            <a:endParaRPr lang="en-US" sz="1000" dirty="0"/>
          </a:p>
        </p:txBody>
      </p:sp>
      <p:sp>
        <p:nvSpPr>
          <p:cNvPr id="22" name="Text 20">
            <a:hlinkClick r:id="rId3" tooltip="" action="ppaction://hlinksldjump"/>
          </p:cNvPr>
          <p:cNvSpPr/>
          <p:nvPr/>
        </p:nvSpPr>
        <p:spPr>
          <a:xfrm>
            <a:off x="4727448" y="4023360"/>
            <a:ext cx="91440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OPEN SECTION →</a:t>
            </a:r>
            <a:endParaRPr lang="en-US" sz="800" dirty="0"/>
          </a:p>
        </p:txBody>
      </p:sp>
      <p:sp>
        <p:nvSpPr>
          <p:cNvPr id="23" name="Shape 21"/>
          <p:cNvSpPr/>
          <p:nvPr/>
        </p:nvSpPr>
        <p:spPr>
          <a:xfrm>
            <a:off x="6281928" y="3200400"/>
            <a:ext cx="5166360" cy="1143000"/>
          </a:xfrm>
          <a:prstGeom prst="roundRect">
            <a:avLst>
              <a:gd name="adj" fmla="val 6400"/>
            </a:avLst>
          </a:prstGeom>
          <a:solidFill>
            <a:srgbClr val="FFFFFF"/>
          </a:solidFill>
          <a:ln w="10160">
            <a:solidFill>
              <a:srgbClr val="D8E0DC"/>
            </a:solidFill>
            <a:prstDash val="solid"/>
          </a:ln>
        </p:spPr>
      </p:sp>
      <p:sp>
        <p:nvSpPr>
          <p:cNvPr id="24" name="Shape 22"/>
          <p:cNvSpPr/>
          <p:nvPr/>
        </p:nvSpPr>
        <p:spPr>
          <a:xfrm>
            <a:off x="6464808" y="3383280"/>
            <a:ext cx="411480" cy="411480"/>
          </a:xfrm>
          <a:prstGeom prst="ellipse">
            <a:avLst/>
          </a:prstGeom>
          <a:solidFill>
            <a:srgbClr val="1E4661"/>
          </a:solidFill>
          <a:ln w="8890">
            <a:solidFill>
              <a:srgbClr val="1E4661"/>
            </a:solidFill>
            <a:prstDash val="solid"/>
          </a:ln>
        </p:spPr>
      </p:sp>
      <p:sp>
        <p:nvSpPr>
          <p:cNvPr id="25" name="Text 23"/>
          <p:cNvSpPr/>
          <p:nvPr/>
        </p:nvSpPr>
        <p:spPr>
          <a:xfrm>
            <a:off x="6464808" y="3429000"/>
            <a:ext cx="411480" cy="228600"/>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Aptos" pitchFamily="34" charset="0"/>
                <a:ea typeface="Aptos" pitchFamily="34" charset="-122"/>
                <a:cs typeface="Aptos" pitchFamily="34" charset="-120"/>
              </a:rPr>
              <a:t>04</a:t>
            </a:r>
            <a:endParaRPr lang="en-US" sz="900" dirty="0"/>
          </a:p>
        </p:txBody>
      </p:sp>
      <p:sp>
        <p:nvSpPr>
          <p:cNvPr id="26" name="Text 24"/>
          <p:cNvSpPr/>
          <p:nvPr/>
        </p:nvSpPr>
        <p:spPr>
          <a:xfrm>
            <a:off x="7059168" y="3383280"/>
            <a:ext cx="4069080" cy="274320"/>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Use the model</a:t>
            </a:r>
            <a:endParaRPr lang="en-US" sz="1700" dirty="0"/>
          </a:p>
        </p:txBody>
      </p:sp>
      <p:sp>
        <p:nvSpPr>
          <p:cNvPr id="27" name="Text 25"/>
          <p:cNvSpPr/>
          <p:nvPr/>
        </p:nvSpPr>
        <p:spPr>
          <a:xfrm>
            <a:off x="7059168" y="3794760"/>
            <a:ext cx="4114800" cy="228600"/>
          </a:xfrm>
          <a:prstGeom prst="rect">
            <a:avLst/>
          </a:prstGeom>
          <a:noFill/>
          <a:ln/>
        </p:spPr>
        <p:txBody>
          <a:bodyPr wrap="square" lIns="0" tIns="0" rIns="0" bIns="0" rtlCol="0" anchor="ctr">
            <a:normAutofit/>
          </a:bodyPr>
          <a:lstStyle/>
          <a:p>
            <a:pPr algn="l" indent="0" marL="0">
              <a:buNone/>
            </a:pPr>
            <a:r>
              <a:rPr lang="en-US" sz="1000" dirty="0">
                <a:solidFill>
                  <a:srgbClr val="71838D"/>
                </a:solidFill>
                <a:latin typeface="Aptos" pitchFamily="34" charset="0"/>
                <a:ea typeface="Aptos" pitchFamily="34" charset="-122"/>
                <a:cs typeface="Aptos" pitchFamily="34" charset="-120"/>
              </a:rPr>
              <a:t>FastAPI and three-page website</a:t>
            </a:r>
            <a:endParaRPr lang="en-US" sz="1000" dirty="0"/>
          </a:p>
        </p:txBody>
      </p:sp>
      <p:sp>
        <p:nvSpPr>
          <p:cNvPr id="28" name="Text 26">
            <a:hlinkClick r:id="rId4" tooltip="" action="ppaction://hlinksldjump"/>
          </p:cNvPr>
          <p:cNvSpPr/>
          <p:nvPr/>
        </p:nvSpPr>
        <p:spPr>
          <a:xfrm>
            <a:off x="10351008" y="4023360"/>
            <a:ext cx="91440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OPEN SECTION →</a:t>
            </a:r>
            <a:endParaRPr lang="en-US" sz="800" dirty="0"/>
          </a:p>
        </p:txBody>
      </p:sp>
      <p:sp>
        <p:nvSpPr>
          <p:cNvPr id="29" name="Text 27"/>
          <p:cNvSpPr/>
          <p:nvPr/>
        </p:nvSpPr>
        <p:spPr>
          <a:xfrm>
            <a:off x="676656" y="5056632"/>
            <a:ext cx="50292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E77765"/>
                </a:solidFill>
                <a:latin typeface="Aptos" pitchFamily="34" charset="0"/>
                <a:ea typeface="Aptos" pitchFamily="34" charset="-122"/>
                <a:cs typeface="Aptos" pitchFamily="34" charset="-120"/>
              </a:rPr>
              <a:t>TASK</a:t>
            </a:r>
            <a:endParaRPr lang="en-US" sz="800" dirty="0"/>
          </a:p>
        </p:txBody>
      </p:sp>
      <p:sp>
        <p:nvSpPr>
          <p:cNvPr id="30" name="Text 28"/>
          <p:cNvSpPr/>
          <p:nvPr/>
        </p:nvSpPr>
        <p:spPr>
          <a:xfrm>
            <a:off x="1325880" y="4992624"/>
            <a:ext cx="7955280" cy="274320"/>
          </a:xfrm>
          <a:prstGeom prst="rect">
            <a:avLst/>
          </a:prstGeom>
          <a:noFill/>
          <a:ln/>
        </p:spPr>
        <p:txBody>
          <a:bodyPr wrap="square" lIns="0" tIns="0" rIns="0" bIns="0" rtlCol="0" anchor="ctr">
            <a:normAutofit/>
          </a:bodyPr>
          <a:lstStyle/>
          <a:p>
            <a:pPr algn="l" indent="0" marL="0">
              <a:buNone/>
            </a:pPr>
            <a:r>
              <a:rPr lang="en-US" sz="1700" dirty="0">
                <a:solidFill>
                  <a:srgbClr val="142F49"/>
                </a:solidFill>
                <a:latin typeface="Georgia" pitchFamily="34" charset="0"/>
                <a:ea typeface="Georgia" pitchFamily="34" charset="-122"/>
                <a:cs typeface="Georgia" pitchFamily="34" charset="-120"/>
              </a:rPr>
              <a:t>Estimate the recorded survival outcome from passenger attributes.</a:t>
            </a:r>
            <a:endParaRPr lang="en-US" sz="1700" dirty="0"/>
          </a:p>
        </p:txBody>
      </p:sp>
      <p:sp>
        <p:nvSpPr>
          <p:cNvPr id="32" name="Text 29">
            <a:hlinkClick r:id="rId5"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33" name="Text 30">
            <a:hlinkClick r:id="rId6"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34" name="Text 31">
            <a:hlinkClick r:id="rId7"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35" name="Text 32">
            <a:hlinkClick r:id="rId8"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8"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36" name="Text 33">
            <a:hlinkClick r:id="rId9"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9"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01 / DATASET</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A compact passenger manifest</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 included CSV has 891 rows and a binary outcome; it also contains duplicate, derived, and incomplete fields.</a:t>
            </a:r>
            <a:endParaRPr lang="en-US" sz="1100" dirty="0"/>
          </a:p>
        </p:txBody>
      </p:sp>
      <p:sp>
        <p:nvSpPr>
          <p:cNvPr id="5" name="Shape 3"/>
          <p:cNvSpPr/>
          <p:nvPr/>
        </p:nvSpPr>
        <p:spPr>
          <a:xfrm>
            <a:off x="658368" y="1645920"/>
            <a:ext cx="2514600" cy="1051560"/>
          </a:xfrm>
          <a:prstGeom prst="roundRect">
            <a:avLst>
              <a:gd name="adj" fmla="val 6957"/>
            </a:avLst>
          </a:prstGeom>
          <a:solidFill>
            <a:srgbClr val="FFFFFF"/>
          </a:solidFill>
          <a:ln w="10160">
            <a:solidFill>
              <a:srgbClr val="D8E0DC"/>
            </a:solidFill>
            <a:prstDash val="solid"/>
          </a:ln>
        </p:spPr>
      </p:sp>
      <p:sp>
        <p:nvSpPr>
          <p:cNvPr id="6" name="Text 4"/>
          <p:cNvSpPr/>
          <p:nvPr/>
        </p:nvSpPr>
        <p:spPr>
          <a:xfrm>
            <a:off x="822960" y="1783080"/>
            <a:ext cx="2185416" cy="384048"/>
          </a:xfrm>
          <a:prstGeom prst="rect">
            <a:avLst/>
          </a:prstGeom>
          <a:noFill/>
          <a:ln/>
        </p:spPr>
        <p:txBody>
          <a:bodyPr wrap="square" lIns="0" tIns="0" rIns="0" bIns="0" rtlCol="0" anchor="ctr">
            <a:normAutofit/>
          </a:bodyPr>
          <a:lstStyle/>
          <a:p>
            <a:pPr algn="l" indent="0" marL="0">
              <a:buNone/>
            </a:pPr>
            <a:r>
              <a:rPr lang="en-US" sz="2500" b="1" dirty="0">
                <a:solidFill>
                  <a:srgbClr val="142F49"/>
                </a:solidFill>
                <a:latin typeface="Georgia" pitchFamily="34" charset="0"/>
                <a:ea typeface="Georgia" pitchFamily="34" charset="-122"/>
                <a:cs typeface="Georgia" pitchFamily="34" charset="-120"/>
              </a:rPr>
              <a:t>891</a:t>
            </a:r>
            <a:endParaRPr lang="en-US" sz="2500" dirty="0"/>
          </a:p>
        </p:txBody>
      </p:sp>
      <p:sp>
        <p:nvSpPr>
          <p:cNvPr id="7" name="Text 5"/>
          <p:cNvSpPr/>
          <p:nvPr/>
        </p:nvSpPr>
        <p:spPr>
          <a:xfrm>
            <a:off x="822960" y="2212848"/>
            <a:ext cx="2185416"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PASSENGER RECORDS</a:t>
            </a:r>
            <a:endParaRPr lang="en-US" sz="800" dirty="0"/>
          </a:p>
        </p:txBody>
      </p:sp>
      <p:sp>
        <p:nvSpPr>
          <p:cNvPr id="8" name="Text 6"/>
          <p:cNvSpPr/>
          <p:nvPr/>
        </p:nvSpPr>
        <p:spPr>
          <a:xfrm>
            <a:off x="822960" y="2414016"/>
            <a:ext cx="2185416"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One row per passenger</a:t>
            </a:r>
            <a:endParaRPr lang="en-US" sz="800" dirty="0"/>
          </a:p>
        </p:txBody>
      </p:sp>
      <p:sp>
        <p:nvSpPr>
          <p:cNvPr id="9" name="Shape 7"/>
          <p:cNvSpPr/>
          <p:nvPr/>
        </p:nvSpPr>
        <p:spPr>
          <a:xfrm>
            <a:off x="3337560" y="1645920"/>
            <a:ext cx="2514600" cy="1051560"/>
          </a:xfrm>
          <a:prstGeom prst="roundRect">
            <a:avLst>
              <a:gd name="adj" fmla="val 6957"/>
            </a:avLst>
          </a:prstGeom>
          <a:solidFill>
            <a:srgbClr val="FFFFFF"/>
          </a:solidFill>
          <a:ln w="10160">
            <a:solidFill>
              <a:srgbClr val="D8E0DC"/>
            </a:solidFill>
            <a:prstDash val="solid"/>
          </a:ln>
        </p:spPr>
      </p:sp>
      <p:sp>
        <p:nvSpPr>
          <p:cNvPr id="10" name="Text 8"/>
          <p:cNvSpPr/>
          <p:nvPr/>
        </p:nvSpPr>
        <p:spPr>
          <a:xfrm>
            <a:off x="3502152" y="1783080"/>
            <a:ext cx="2185416" cy="384048"/>
          </a:xfrm>
          <a:prstGeom prst="rect">
            <a:avLst/>
          </a:prstGeom>
          <a:noFill/>
          <a:ln/>
        </p:spPr>
        <p:txBody>
          <a:bodyPr wrap="square" lIns="0" tIns="0" rIns="0" bIns="0" rtlCol="0" anchor="ctr">
            <a:normAutofit/>
          </a:bodyPr>
          <a:lstStyle/>
          <a:p>
            <a:pPr algn="l" indent="0" marL="0">
              <a:buNone/>
            </a:pPr>
            <a:r>
              <a:rPr lang="en-US" sz="2500" b="1" dirty="0">
                <a:solidFill>
                  <a:srgbClr val="398E82"/>
                </a:solidFill>
                <a:latin typeface="Georgia" pitchFamily="34" charset="0"/>
                <a:ea typeface="Georgia" pitchFamily="34" charset="-122"/>
                <a:cs typeface="Georgia" pitchFamily="34" charset="-120"/>
              </a:rPr>
              <a:t>342</a:t>
            </a:r>
            <a:endParaRPr lang="en-US" sz="2500" dirty="0"/>
          </a:p>
        </p:txBody>
      </p:sp>
      <p:sp>
        <p:nvSpPr>
          <p:cNvPr id="11" name="Text 9"/>
          <p:cNvSpPr/>
          <p:nvPr/>
        </p:nvSpPr>
        <p:spPr>
          <a:xfrm>
            <a:off x="3502152" y="2212848"/>
            <a:ext cx="2185416"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SURVIVED</a:t>
            </a:r>
            <a:endParaRPr lang="en-US" sz="800" dirty="0"/>
          </a:p>
        </p:txBody>
      </p:sp>
      <p:sp>
        <p:nvSpPr>
          <p:cNvPr id="12" name="Text 10"/>
          <p:cNvSpPr/>
          <p:nvPr/>
        </p:nvSpPr>
        <p:spPr>
          <a:xfrm>
            <a:off x="3502152" y="2414016"/>
            <a:ext cx="2185416"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38.4% of records</a:t>
            </a:r>
            <a:endParaRPr lang="en-US" sz="800" dirty="0"/>
          </a:p>
        </p:txBody>
      </p:sp>
      <p:sp>
        <p:nvSpPr>
          <p:cNvPr id="13" name="Shape 11"/>
          <p:cNvSpPr/>
          <p:nvPr/>
        </p:nvSpPr>
        <p:spPr>
          <a:xfrm>
            <a:off x="6016752" y="1645920"/>
            <a:ext cx="2514600" cy="1051560"/>
          </a:xfrm>
          <a:prstGeom prst="roundRect">
            <a:avLst>
              <a:gd name="adj" fmla="val 6957"/>
            </a:avLst>
          </a:prstGeom>
          <a:solidFill>
            <a:srgbClr val="FFFFFF"/>
          </a:solidFill>
          <a:ln w="10160">
            <a:solidFill>
              <a:srgbClr val="D8E0DC"/>
            </a:solidFill>
            <a:prstDash val="solid"/>
          </a:ln>
        </p:spPr>
      </p:sp>
      <p:sp>
        <p:nvSpPr>
          <p:cNvPr id="14" name="Text 12"/>
          <p:cNvSpPr/>
          <p:nvPr/>
        </p:nvSpPr>
        <p:spPr>
          <a:xfrm>
            <a:off x="6181344" y="1783080"/>
            <a:ext cx="2185416" cy="384048"/>
          </a:xfrm>
          <a:prstGeom prst="rect">
            <a:avLst/>
          </a:prstGeom>
          <a:noFill/>
          <a:ln/>
        </p:spPr>
        <p:txBody>
          <a:bodyPr wrap="square" lIns="0" tIns="0" rIns="0" bIns="0" rtlCol="0" anchor="ctr">
            <a:normAutofit/>
          </a:bodyPr>
          <a:lstStyle/>
          <a:p>
            <a:pPr algn="l" indent="0" marL="0">
              <a:buNone/>
            </a:pPr>
            <a:r>
              <a:rPr lang="en-US" sz="2500" b="1" dirty="0">
                <a:solidFill>
                  <a:srgbClr val="E77765"/>
                </a:solidFill>
                <a:latin typeface="Georgia" pitchFamily="34" charset="0"/>
                <a:ea typeface="Georgia" pitchFamily="34" charset="-122"/>
                <a:cs typeface="Georgia" pitchFamily="34" charset="-120"/>
              </a:rPr>
              <a:t>549</a:t>
            </a:r>
            <a:endParaRPr lang="en-US" sz="2500" dirty="0"/>
          </a:p>
        </p:txBody>
      </p:sp>
      <p:sp>
        <p:nvSpPr>
          <p:cNvPr id="15" name="Text 13"/>
          <p:cNvSpPr/>
          <p:nvPr/>
        </p:nvSpPr>
        <p:spPr>
          <a:xfrm>
            <a:off x="6181344" y="2212848"/>
            <a:ext cx="2185416"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DID NOT SURVIVE</a:t>
            </a:r>
            <a:endParaRPr lang="en-US" sz="800" dirty="0"/>
          </a:p>
        </p:txBody>
      </p:sp>
      <p:sp>
        <p:nvSpPr>
          <p:cNvPr id="16" name="Text 14"/>
          <p:cNvSpPr/>
          <p:nvPr/>
        </p:nvSpPr>
        <p:spPr>
          <a:xfrm>
            <a:off x="6181344" y="2414016"/>
            <a:ext cx="2185416"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61.6% of records</a:t>
            </a:r>
            <a:endParaRPr lang="en-US" sz="800" dirty="0"/>
          </a:p>
        </p:txBody>
      </p:sp>
      <p:sp>
        <p:nvSpPr>
          <p:cNvPr id="17" name="Shape 15"/>
          <p:cNvSpPr/>
          <p:nvPr/>
        </p:nvSpPr>
        <p:spPr>
          <a:xfrm>
            <a:off x="8695944" y="1645920"/>
            <a:ext cx="2514600" cy="1051560"/>
          </a:xfrm>
          <a:prstGeom prst="roundRect">
            <a:avLst>
              <a:gd name="adj" fmla="val 6957"/>
            </a:avLst>
          </a:prstGeom>
          <a:solidFill>
            <a:srgbClr val="FFFFFF"/>
          </a:solidFill>
          <a:ln w="10160">
            <a:solidFill>
              <a:srgbClr val="D8E0DC"/>
            </a:solidFill>
            <a:prstDash val="solid"/>
          </a:ln>
        </p:spPr>
      </p:sp>
      <p:sp>
        <p:nvSpPr>
          <p:cNvPr id="18" name="Text 16"/>
          <p:cNvSpPr/>
          <p:nvPr/>
        </p:nvSpPr>
        <p:spPr>
          <a:xfrm>
            <a:off x="8860536" y="1783080"/>
            <a:ext cx="2185416" cy="384048"/>
          </a:xfrm>
          <a:prstGeom prst="rect">
            <a:avLst/>
          </a:prstGeom>
          <a:noFill/>
          <a:ln/>
        </p:spPr>
        <p:txBody>
          <a:bodyPr wrap="square" lIns="0" tIns="0" rIns="0" bIns="0" rtlCol="0" anchor="ctr">
            <a:normAutofit/>
          </a:bodyPr>
          <a:lstStyle/>
          <a:p>
            <a:pPr algn="l" indent="0" marL="0">
              <a:buNone/>
            </a:pPr>
            <a:r>
              <a:rPr lang="en-US" sz="2500" b="1" dirty="0">
                <a:solidFill>
                  <a:srgbClr val="D1A56A"/>
                </a:solidFill>
                <a:latin typeface="Georgia" pitchFamily="34" charset="0"/>
                <a:ea typeface="Georgia" pitchFamily="34" charset="-122"/>
                <a:cs typeface="Georgia" pitchFamily="34" charset="-120"/>
              </a:rPr>
              <a:t>16</a:t>
            </a:r>
            <a:endParaRPr lang="en-US" sz="2500" dirty="0"/>
          </a:p>
        </p:txBody>
      </p:sp>
      <p:sp>
        <p:nvSpPr>
          <p:cNvPr id="19" name="Text 17"/>
          <p:cNvSpPr/>
          <p:nvPr/>
        </p:nvSpPr>
        <p:spPr>
          <a:xfrm>
            <a:off x="8860536" y="2212848"/>
            <a:ext cx="2185416"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CSV COLUMNS</a:t>
            </a:r>
            <a:endParaRPr lang="en-US" sz="800" dirty="0"/>
          </a:p>
        </p:txBody>
      </p:sp>
      <p:sp>
        <p:nvSpPr>
          <p:cNvPr id="20" name="Text 18"/>
          <p:cNvSpPr/>
          <p:nvPr/>
        </p:nvSpPr>
        <p:spPr>
          <a:xfrm>
            <a:off x="8860536" y="2414016"/>
            <a:ext cx="2185416"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Includes index/duplicate fields</a:t>
            </a:r>
            <a:endParaRPr lang="en-US" sz="800" dirty="0"/>
          </a:p>
        </p:txBody>
      </p:sp>
      <p:sp>
        <p:nvSpPr>
          <p:cNvPr id="21" name="Text 19"/>
          <p:cNvSpPr/>
          <p:nvPr/>
        </p:nvSpPr>
        <p:spPr>
          <a:xfrm>
            <a:off x="713232" y="3154680"/>
            <a:ext cx="3108960"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398E82"/>
                </a:solidFill>
                <a:latin typeface="Aptos" pitchFamily="34" charset="0"/>
                <a:ea typeface="Aptos" pitchFamily="34" charset="-122"/>
                <a:cs typeface="Aptos" pitchFamily="34" charset="-120"/>
              </a:rPr>
              <a:t>TARGET BALANCE</a:t>
            </a:r>
            <a:endParaRPr lang="en-US" sz="800" dirty="0"/>
          </a:p>
        </p:txBody>
      </p:sp>
      <p:sp>
        <p:nvSpPr>
          <p:cNvPr id="22" name="Shape 20"/>
          <p:cNvSpPr/>
          <p:nvPr/>
        </p:nvSpPr>
        <p:spPr>
          <a:xfrm>
            <a:off x="1097280" y="5294376"/>
            <a:ext cx="4709160" cy="0"/>
          </a:xfrm>
          <a:prstGeom prst="line">
            <a:avLst/>
          </a:prstGeom>
          <a:noFill/>
          <a:ln w="7620">
            <a:solidFill>
              <a:srgbClr val="E6EBE6"/>
            </a:solidFill>
            <a:prstDash val="solid"/>
            <a:headEnd type="none"/>
            <a:tailEnd type="none"/>
          </a:ln>
        </p:spPr>
      </p:sp>
      <p:sp>
        <p:nvSpPr>
          <p:cNvPr id="23" name="Text 21"/>
          <p:cNvSpPr/>
          <p:nvPr/>
        </p:nvSpPr>
        <p:spPr>
          <a:xfrm>
            <a:off x="685800" y="523036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0</a:t>
            </a:r>
            <a:endParaRPr lang="en-US" sz="700" dirty="0"/>
          </a:p>
        </p:txBody>
      </p:sp>
      <p:sp>
        <p:nvSpPr>
          <p:cNvPr id="24" name="Shape 22"/>
          <p:cNvSpPr/>
          <p:nvPr/>
        </p:nvSpPr>
        <p:spPr>
          <a:xfrm>
            <a:off x="1097280" y="4905756"/>
            <a:ext cx="4709160" cy="0"/>
          </a:xfrm>
          <a:prstGeom prst="line">
            <a:avLst/>
          </a:prstGeom>
          <a:noFill/>
          <a:ln w="7620">
            <a:solidFill>
              <a:srgbClr val="E6EBE6"/>
            </a:solidFill>
            <a:prstDash val="solid"/>
            <a:headEnd type="none"/>
            <a:tailEnd type="none"/>
          </a:ln>
        </p:spPr>
      </p:sp>
      <p:sp>
        <p:nvSpPr>
          <p:cNvPr id="25" name="Text 23"/>
          <p:cNvSpPr/>
          <p:nvPr/>
        </p:nvSpPr>
        <p:spPr>
          <a:xfrm>
            <a:off x="685800" y="484174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150</a:t>
            </a:r>
            <a:endParaRPr lang="en-US" sz="700" dirty="0"/>
          </a:p>
        </p:txBody>
      </p:sp>
      <p:sp>
        <p:nvSpPr>
          <p:cNvPr id="26" name="Shape 24"/>
          <p:cNvSpPr/>
          <p:nvPr/>
        </p:nvSpPr>
        <p:spPr>
          <a:xfrm>
            <a:off x="1097280" y="4517136"/>
            <a:ext cx="4709160" cy="0"/>
          </a:xfrm>
          <a:prstGeom prst="line">
            <a:avLst/>
          </a:prstGeom>
          <a:noFill/>
          <a:ln w="7620">
            <a:solidFill>
              <a:srgbClr val="E6EBE6"/>
            </a:solidFill>
            <a:prstDash val="solid"/>
            <a:headEnd type="none"/>
            <a:tailEnd type="none"/>
          </a:ln>
        </p:spPr>
      </p:sp>
      <p:sp>
        <p:nvSpPr>
          <p:cNvPr id="27" name="Text 25"/>
          <p:cNvSpPr/>
          <p:nvPr/>
        </p:nvSpPr>
        <p:spPr>
          <a:xfrm>
            <a:off x="685800" y="445312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300</a:t>
            </a:r>
            <a:endParaRPr lang="en-US" sz="700" dirty="0"/>
          </a:p>
        </p:txBody>
      </p:sp>
      <p:sp>
        <p:nvSpPr>
          <p:cNvPr id="28" name="Shape 26"/>
          <p:cNvSpPr/>
          <p:nvPr/>
        </p:nvSpPr>
        <p:spPr>
          <a:xfrm>
            <a:off x="1097280" y="4128516"/>
            <a:ext cx="4709160" cy="0"/>
          </a:xfrm>
          <a:prstGeom prst="line">
            <a:avLst/>
          </a:prstGeom>
          <a:noFill/>
          <a:ln w="7620">
            <a:solidFill>
              <a:srgbClr val="E6EBE6"/>
            </a:solidFill>
            <a:prstDash val="solid"/>
            <a:headEnd type="none"/>
            <a:tailEnd type="none"/>
          </a:ln>
        </p:spPr>
      </p:sp>
      <p:sp>
        <p:nvSpPr>
          <p:cNvPr id="29" name="Text 27"/>
          <p:cNvSpPr/>
          <p:nvPr/>
        </p:nvSpPr>
        <p:spPr>
          <a:xfrm>
            <a:off x="685800" y="406450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450</a:t>
            </a:r>
            <a:endParaRPr lang="en-US" sz="700" dirty="0"/>
          </a:p>
        </p:txBody>
      </p:sp>
      <p:sp>
        <p:nvSpPr>
          <p:cNvPr id="30" name="Shape 28"/>
          <p:cNvSpPr/>
          <p:nvPr/>
        </p:nvSpPr>
        <p:spPr>
          <a:xfrm>
            <a:off x="1097280" y="3739896"/>
            <a:ext cx="4709160" cy="0"/>
          </a:xfrm>
          <a:prstGeom prst="line">
            <a:avLst/>
          </a:prstGeom>
          <a:noFill/>
          <a:ln w="7620">
            <a:solidFill>
              <a:srgbClr val="E6EBE6"/>
            </a:solidFill>
            <a:prstDash val="solid"/>
            <a:headEnd type="none"/>
            <a:tailEnd type="none"/>
          </a:ln>
        </p:spPr>
      </p:sp>
      <p:sp>
        <p:nvSpPr>
          <p:cNvPr id="31" name="Text 29"/>
          <p:cNvSpPr/>
          <p:nvPr/>
        </p:nvSpPr>
        <p:spPr>
          <a:xfrm>
            <a:off x="685800" y="367588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600</a:t>
            </a:r>
            <a:endParaRPr lang="en-US" sz="700" dirty="0"/>
          </a:p>
        </p:txBody>
      </p:sp>
      <p:sp>
        <p:nvSpPr>
          <p:cNvPr id="32" name="Shape 30"/>
          <p:cNvSpPr/>
          <p:nvPr/>
        </p:nvSpPr>
        <p:spPr>
          <a:xfrm>
            <a:off x="1743075" y="4408322"/>
            <a:ext cx="1239926" cy="886054"/>
          </a:xfrm>
          <a:prstGeom prst="roundRect">
            <a:avLst>
              <a:gd name="adj" fmla="val 8256"/>
            </a:avLst>
          </a:prstGeom>
          <a:solidFill>
            <a:srgbClr val="398E82"/>
          </a:solidFill>
          <a:ln w="12700">
            <a:solidFill>
              <a:srgbClr val="398E82">
                <a:alpha val="0"/>
              </a:srgbClr>
            </a:solidFill>
            <a:prstDash val="solid"/>
          </a:ln>
        </p:spPr>
      </p:sp>
      <p:sp>
        <p:nvSpPr>
          <p:cNvPr id="33" name="Text 31"/>
          <p:cNvSpPr/>
          <p:nvPr/>
        </p:nvSpPr>
        <p:spPr>
          <a:xfrm>
            <a:off x="1605915" y="4207154"/>
            <a:ext cx="151424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342 (38.4%)</a:t>
            </a:r>
            <a:endParaRPr lang="en-US" sz="800" dirty="0"/>
          </a:p>
        </p:txBody>
      </p:sp>
      <p:sp>
        <p:nvSpPr>
          <p:cNvPr id="34" name="Text 32"/>
          <p:cNvSpPr/>
          <p:nvPr/>
        </p:nvSpPr>
        <p:spPr>
          <a:xfrm>
            <a:off x="1523619" y="5376672"/>
            <a:ext cx="167883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Survived</a:t>
            </a:r>
            <a:endParaRPr lang="en-US" sz="800" dirty="0"/>
          </a:p>
        </p:txBody>
      </p:sp>
      <p:sp>
        <p:nvSpPr>
          <p:cNvPr id="35" name="Shape 33"/>
          <p:cNvSpPr/>
          <p:nvPr/>
        </p:nvSpPr>
        <p:spPr>
          <a:xfrm>
            <a:off x="4326255" y="3872027"/>
            <a:ext cx="1239926" cy="1422349"/>
          </a:xfrm>
          <a:prstGeom prst="roundRect">
            <a:avLst>
              <a:gd name="adj" fmla="val 5900"/>
            </a:avLst>
          </a:prstGeom>
          <a:solidFill>
            <a:srgbClr val="E77765"/>
          </a:solidFill>
          <a:ln w="12700">
            <a:solidFill>
              <a:srgbClr val="E77765">
                <a:alpha val="0"/>
              </a:srgbClr>
            </a:solidFill>
            <a:prstDash val="solid"/>
          </a:ln>
        </p:spPr>
      </p:sp>
      <p:sp>
        <p:nvSpPr>
          <p:cNvPr id="36" name="Text 34"/>
          <p:cNvSpPr/>
          <p:nvPr/>
        </p:nvSpPr>
        <p:spPr>
          <a:xfrm>
            <a:off x="4189095" y="3670859"/>
            <a:ext cx="151424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549 (61.6%)</a:t>
            </a:r>
            <a:endParaRPr lang="en-US" sz="800" dirty="0"/>
          </a:p>
        </p:txBody>
      </p:sp>
      <p:sp>
        <p:nvSpPr>
          <p:cNvPr id="37" name="Text 35"/>
          <p:cNvSpPr/>
          <p:nvPr/>
        </p:nvSpPr>
        <p:spPr>
          <a:xfrm>
            <a:off x="4106799" y="5376672"/>
            <a:ext cx="167883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Did not survive</a:t>
            </a:r>
            <a:endParaRPr lang="en-US" sz="800" dirty="0"/>
          </a:p>
        </p:txBody>
      </p:sp>
      <p:sp>
        <p:nvSpPr>
          <p:cNvPr id="38" name="Shape 36"/>
          <p:cNvSpPr/>
          <p:nvPr/>
        </p:nvSpPr>
        <p:spPr>
          <a:xfrm>
            <a:off x="6263640" y="3200400"/>
            <a:ext cx="4937760" cy="2560320"/>
          </a:xfrm>
          <a:prstGeom prst="roundRect">
            <a:avLst>
              <a:gd name="adj" fmla="val 2857"/>
            </a:avLst>
          </a:prstGeom>
          <a:solidFill>
            <a:srgbClr val="E3F0E9"/>
          </a:solidFill>
          <a:ln w="12700">
            <a:solidFill>
              <a:srgbClr val="E3F0E9">
                <a:alpha val="0"/>
              </a:srgbClr>
            </a:solidFill>
            <a:prstDash val="solid"/>
          </a:ln>
        </p:spPr>
      </p:sp>
      <p:sp>
        <p:nvSpPr>
          <p:cNvPr id="39" name="Text 37"/>
          <p:cNvSpPr/>
          <p:nvPr/>
        </p:nvSpPr>
        <p:spPr>
          <a:xfrm>
            <a:off x="6537960" y="3493008"/>
            <a:ext cx="3840480" cy="182880"/>
          </a:xfrm>
          <a:prstGeom prst="rect">
            <a:avLst/>
          </a:prstGeom>
          <a:noFill/>
          <a:ln/>
        </p:spPr>
        <p:txBody>
          <a:bodyPr wrap="square" lIns="0" tIns="0" rIns="0" bIns="0" rtlCol="0" anchor="ctr">
            <a:normAutofit/>
          </a:bodyPr>
          <a:lstStyle/>
          <a:p>
            <a:pPr algn="l" indent="0" marL="0">
              <a:buNone/>
            </a:pPr>
            <a:r>
              <a:rPr lang="en-US" sz="900" b="1" spc="100" kern="0" dirty="0">
                <a:solidFill>
                  <a:srgbClr val="398E82"/>
                </a:solidFill>
                <a:latin typeface="Aptos" pitchFamily="34" charset="0"/>
                <a:ea typeface="Aptos" pitchFamily="34" charset="-122"/>
                <a:cs typeface="Aptos" pitchFamily="34" charset="-120"/>
              </a:rPr>
              <a:t>DATA QUALITY TO NOTICE</a:t>
            </a:r>
            <a:endParaRPr lang="en-US" sz="900" dirty="0"/>
          </a:p>
        </p:txBody>
      </p:sp>
      <p:sp>
        <p:nvSpPr>
          <p:cNvPr id="40" name="Text 38"/>
          <p:cNvSpPr/>
          <p:nvPr/>
        </p:nvSpPr>
        <p:spPr>
          <a:xfrm>
            <a:off x="6492240" y="3931920"/>
            <a:ext cx="1325880" cy="173736"/>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Age missing</a:t>
            </a:r>
            <a:endParaRPr lang="en-US" sz="900" dirty="0"/>
          </a:p>
        </p:txBody>
      </p:sp>
      <p:sp>
        <p:nvSpPr>
          <p:cNvPr id="41" name="Shape 39"/>
          <p:cNvSpPr/>
          <p:nvPr/>
        </p:nvSpPr>
        <p:spPr>
          <a:xfrm>
            <a:off x="7909560" y="3941064"/>
            <a:ext cx="2331720" cy="128016"/>
          </a:xfrm>
          <a:prstGeom prst="roundRect">
            <a:avLst>
              <a:gd name="adj" fmla="val 57143"/>
            </a:avLst>
          </a:prstGeom>
          <a:solidFill>
            <a:srgbClr val="E8EEEA"/>
          </a:solidFill>
          <a:ln w="12700">
            <a:solidFill>
              <a:srgbClr val="E8EEEA">
                <a:alpha val="0"/>
              </a:srgbClr>
            </a:solidFill>
            <a:prstDash val="solid"/>
          </a:ln>
        </p:spPr>
      </p:sp>
      <p:sp>
        <p:nvSpPr>
          <p:cNvPr id="42" name="Shape 40"/>
          <p:cNvSpPr/>
          <p:nvPr/>
        </p:nvSpPr>
        <p:spPr>
          <a:xfrm>
            <a:off x="7909560" y="3941064"/>
            <a:ext cx="464012" cy="128016"/>
          </a:xfrm>
          <a:prstGeom prst="roundRect">
            <a:avLst>
              <a:gd name="adj" fmla="val 57143"/>
            </a:avLst>
          </a:prstGeom>
          <a:solidFill>
            <a:srgbClr val="E77765"/>
          </a:solidFill>
          <a:ln w="12700">
            <a:solidFill>
              <a:srgbClr val="E77765">
                <a:alpha val="0"/>
              </a:srgbClr>
            </a:solidFill>
            <a:prstDash val="solid"/>
          </a:ln>
        </p:spPr>
      </p:sp>
      <p:sp>
        <p:nvSpPr>
          <p:cNvPr id="43" name="Text 41"/>
          <p:cNvSpPr/>
          <p:nvPr/>
        </p:nvSpPr>
        <p:spPr>
          <a:xfrm>
            <a:off x="10305288" y="3909060"/>
            <a:ext cx="438912" cy="182880"/>
          </a:xfrm>
          <a:prstGeom prst="rect">
            <a:avLst/>
          </a:prstGeom>
          <a:noFill/>
          <a:ln/>
        </p:spPr>
        <p:txBody>
          <a:bodyPr wrap="square" lIns="0" tIns="0" rIns="0" bIns="0" rtlCol="0" anchor="ctr">
            <a:normAutofit/>
          </a:bodyPr>
          <a:lstStyle/>
          <a:p>
            <a:pPr algn="r" indent="0" marL="0">
              <a:buNone/>
            </a:pPr>
            <a:r>
              <a:rPr lang="en-US" sz="900" b="1" dirty="0">
                <a:solidFill>
                  <a:srgbClr val="213B52"/>
                </a:solidFill>
                <a:latin typeface="Aptos" pitchFamily="34" charset="0"/>
                <a:ea typeface="Aptos" pitchFamily="34" charset="-122"/>
                <a:cs typeface="Aptos" pitchFamily="34" charset="-120"/>
              </a:rPr>
              <a:t>19.9%</a:t>
            </a:r>
            <a:endParaRPr lang="en-US" sz="900" dirty="0"/>
          </a:p>
        </p:txBody>
      </p:sp>
      <p:sp>
        <p:nvSpPr>
          <p:cNvPr id="44" name="Text 42"/>
          <p:cNvSpPr/>
          <p:nvPr/>
        </p:nvSpPr>
        <p:spPr>
          <a:xfrm>
            <a:off x="6492240" y="4328160"/>
            <a:ext cx="1325880" cy="173736"/>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Deck missing</a:t>
            </a:r>
            <a:endParaRPr lang="en-US" sz="900" dirty="0"/>
          </a:p>
        </p:txBody>
      </p:sp>
      <p:sp>
        <p:nvSpPr>
          <p:cNvPr id="45" name="Shape 43"/>
          <p:cNvSpPr/>
          <p:nvPr/>
        </p:nvSpPr>
        <p:spPr>
          <a:xfrm>
            <a:off x="7909560" y="4337304"/>
            <a:ext cx="2331720" cy="128016"/>
          </a:xfrm>
          <a:prstGeom prst="roundRect">
            <a:avLst>
              <a:gd name="adj" fmla="val 57143"/>
            </a:avLst>
          </a:prstGeom>
          <a:solidFill>
            <a:srgbClr val="E8EEEA"/>
          </a:solidFill>
          <a:ln w="12700">
            <a:solidFill>
              <a:srgbClr val="E8EEEA">
                <a:alpha val="0"/>
              </a:srgbClr>
            </a:solidFill>
            <a:prstDash val="solid"/>
          </a:ln>
        </p:spPr>
      </p:sp>
      <p:sp>
        <p:nvSpPr>
          <p:cNvPr id="46" name="Shape 44"/>
          <p:cNvSpPr/>
          <p:nvPr/>
        </p:nvSpPr>
        <p:spPr>
          <a:xfrm>
            <a:off x="7909560" y="4337304"/>
            <a:ext cx="1800088" cy="128016"/>
          </a:xfrm>
          <a:prstGeom prst="roundRect">
            <a:avLst>
              <a:gd name="adj" fmla="val 57143"/>
            </a:avLst>
          </a:prstGeom>
          <a:solidFill>
            <a:srgbClr val="E77765"/>
          </a:solidFill>
          <a:ln w="12700">
            <a:solidFill>
              <a:srgbClr val="E77765">
                <a:alpha val="0"/>
              </a:srgbClr>
            </a:solidFill>
            <a:prstDash val="solid"/>
          </a:ln>
        </p:spPr>
      </p:sp>
      <p:sp>
        <p:nvSpPr>
          <p:cNvPr id="47" name="Text 45"/>
          <p:cNvSpPr/>
          <p:nvPr/>
        </p:nvSpPr>
        <p:spPr>
          <a:xfrm>
            <a:off x="10305288" y="4305300"/>
            <a:ext cx="438912" cy="182880"/>
          </a:xfrm>
          <a:prstGeom prst="rect">
            <a:avLst/>
          </a:prstGeom>
          <a:noFill/>
          <a:ln/>
        </p:spPr>
        <p:txBody>
          <a:bodyPr wrap="square" lIns="0" tIns="0" rIns="0" bIns="0" rtlCol="0" anchor="ctr">
            <a:normAutofit/>
          </a:bodyPr>
          <a:lstStyle/>
          <a:p>
            <a:pPr algn="r" indent="0" marL="0">
              <a:buNone/>
            </a:pPr>
            <a:r>
              <a:rPr lang="en-US" sz="900" b="1" dirty="0">
                <a:solidFill>
                  <a:srgbClr val="213B52"/>
                </a:solidFill>
                <a:latin typeface="Aptos" pitchFamily="34" charset="0"/>
                <a:ea typeface="Aptos" pitchFamily="34" charset="-122"/>
                <a:cs typeface="Aptos" pitchFamily="34" charset="-120"/>
              </a:rPr>
              <a:t>77.2%</a:t>
            </a:r>
            <a:endParaRPr lang="en-US" sz="900" dirty="0"/>
          </a:p>
        </p:txBody>
      </p:sp>
      <p:sp>
        <p:nvSpPr>
          <p:cNvPr id="48" name="Text 46"/>
          <p:cNvSpPr/>
          <p:nvPr/>
        </p:nvSpPr>
        <p:spPr>
          <a:xfrm>
            <a:off x="6492240" y="4724400"/>
            <a:ext cx="1325880" cy="173736"/>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Embarked missing</a:t>
            </a:r>
            <a:endParaRPr lang="en-US" sz="900" dirty="0"/>
          </a:p>
        </p:txBody>
      </p:sp>
      <p:sp>
        <p:nvSpPr>
          <p:cNvPr id="49" name="Shape 47"/>
          <p:cNvSpPr/>
          <p:nvPr/>
        </p:nvSpPr>
        <p:spPr>
          <a:xfrm>
            <a:off x="7909560" y="4733544"/>
            <a:ext cx="2331720" cy="128016"/>
          </a:xfrm>
          <a:prstGeom prst="roundRect">
            <a:avLst>
              <a:gd name="adj" fmla="val 57143"/>
            </a:avLst>
          </a:prstGeom>
          <a:solidFill>
            <a:srgbClr val="E8EEEA"/>
          </a:solidFill>
          <a:ln w="12700">
            <a:solidFill>
              <a:srgbClr val="E8EEEA">
                <a:alpha val="0"/>
              </a:srgbClr>
            </a:solidFill>
            <a:prstDash val="solid"/>
          </a:ln>
        </p:spPr>
      </p:sp>
      <p:sp>
        <p:nvSpPr>
          <p:cNvPr id="50" name="Shape 48"/>
          <p:cNvSpPr/>
          <p:nvPr/>
        </p:nvSpPr>
        <p:spPr>
          <a:xfrm>
            <a:off x="7909560" y="4733544"/>
            <a:ext cx="36576" cy="128016"/>
          </a:xfrm>
          <a:prstGeom prst="roundRect">
            <a:avLst>
              <a:gd name="adj" fmla="val 200000"/>
            </a:avLst>
          </a:prstGeom>
          <a:solidFill>
            <a:srgbClr val="E77765"/>
          </a:solidFill>
          <a:ln w="12700">
            <a:solidFill>
              <a:srgbClr val="E77765">
                <a:alpha val="0"/>
              </a:srgbClr>
            </a:solidFill>
            <a:prstDash val="solid"/>
          </a:ln>
        </p:spPr>
      </p:sp>
      <p:sp>
        <p:nvSpPr>
          <p:cNvPr id="51" name="Text 49"/>
          <p:cNvSpPr/>
          <p:nvPr/>
        </p:nvSpPr>
        <p:spPr>
          <a:xfrm>
            <a:off x="10305288" y="4701540"/>
            <a:ext cx="438912" cy="182880"/>
          </a:xfrm>
          <a:prstGeom prst="rect">
            <a:avLst/>
          </a:prstGeom>
          <a:noFill/>
          <a:ln/>
        </p:spPr>
        <p:txBody>
          <a:bodyPr wrap="square" lIns="0" tIns="0" rIns="0" bIns="0" rtlCol="0" anchor="ctr">
            <a:normAutofit/>
          </a:bodyPr>
          <a:lstStyle/>
          <a:p>
            <a:pPr algn="r" indent="0" marL="0">
              <a:buNone/>
            </a:pPr>
            <a:r>
              <a:rPr lang="en-US" sz="900" b="1" dirty="0">
                <a:solidFill>
                  <a:srgbClr val="213B52"/>
                </a:solidFill>
                <a:latin typeface="Aptos" pitchFamily="34" charset="0"/>
                <a:ea typeface="Aptos" pitchFamily="34" charset="-122"/>
                <a:cs typeface="Aptos" pitchFamily="34" charset="-120"/>
              </a:rPr>
              <a:t>0.2%</a:t>
            </a:r>
            <a:endParaRPr lang="en-US" sz="900" dirty="0"/>
          </a:p>
        </p:txBody>
      </p:sp>
      <p:sp>
        <p:nvSpPr>
          <p:cNvPr id="52" name="Text 50"/>
          <p:cNvSpPr/>
          <p:nvPr/>
        </p:nvSpPr>
        <p:spPr>
          <a:xfrm>
            <a:off x="6537960" y="5276088"/>
            <a:ext cx="4206240" cy="201168"/>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Missing values are handled inside the model pipeline.</a:t>
            </a:r>
            <a:endParaRPr lang="en-US" sz="900" dirty="0"/>
          </a:p>
        </p:txBody>
      </p:sp>
      <p:sp>
        <p:nvSpPr>
          <p:cNvPr id="54" name="Text 51">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55" name="Text 52">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56" name="Text 53">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57" name="Text 54">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58" name="Text 55">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02 / EDA</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Survival differs across recorded groups</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Group comparisons are descriptive patterns in this dataset; they do not establish causation.</a:t>
            </a:r>
            <a:endParaRPr lang="en-US" sz="1100" dirty="0"/>
          </a:p>
        </p:txBody>
      </p:sp>
      <p:sp>
        <p:nvSpPr>
          <p:cNvPr id="5" name="Shape 3"/>
          <p:cNvSpPr/>
          <p:nvPr/>
        </p:nvSpPr>
        <p:spPr>
          <a:xfrm>
            <a:off x="658368" y="1664208"/>
            <a:ext cx="5486400" cy="4261104"/>
          </a:xfrm>
          <a:prstGeom prst="roundRect">
            <a:avLst>
              <a:gd name="adj" fmla="val 1717"/>
            </a:avLst>
          </a:prstGeom>
          <a:solidFill>
            <a:srgbClr val="FFFFFF"/>
          </a:solidFill>
          <a:ln w="10160">
            <a:solidFill>
              <a:srgbClr val="D8E0DC"/>
            </a:solidFill>
            <a:prstDash val="solid"/>
          </a:ln>
        </p:spPr>
      </p:sp>
      <p:sp>
        <p:nvSpPr>
          <p:cNvPr id="6" name="Text 4"/>
          <p:cNvSpPr/>
          <p:nvPr/>
        </p:nvSpPr>
        <p:spPr>
          <a:xfrm>
            <a:off x="914400" y="1920240"/>
            <a:ext cx="4114800" cy="228600"/>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OUTCOME COUNTS BY SEX</a:t>
            </a:r>
            <a:endParaRPr lang="en-US" sz="1700" dirty="0"/>
          </a:p>
        </p:txBody>
      </p:sp>
      <p:sp>
        <p:nvSpPr>
          <p:cNvPr id="7" name="Shape 5"/>
          <p:cNvSpPr/>
          <p:nvPr/>
        </p:nvSpPr>
        <p:spPr>
          <a:xfrm>
            <a:off x="1298448" y="5303520"/>
            <a:ext cx="4389120" cy="0"/>
          </a:xfrm>
          <a:prstGeom prst="line">
            <a:avLst/>
          </a:prstGeom>
          <a:noFill/>
          <a:ln w="10160">
            <a:solidFill>
              <a:srgbClr val="D8E0DC"/>
            </a:solidFill>
            <a:prstDash val="solid"/>
            <a:headEnd type="none"/>
            <a:tailEnd type="none"/>
          </a:ln>
        </p:spPr>
      </p:sp>
      <p:sp>
        <p:nvSpPr>
          <p:cNvPr id="8" name="Shape 6"/>
          <p:cNvSpPr/>
          <p:nvPr/>
        </p:nvSpPr>
        <p:spPr>
          <a:xfrm>
            <a:off x="1298448" y="5303520"/>
            <a:ext cx="4389120" cy="0"/>
          </a:xfrm>
          <a:prstGeom prst="line">
            <a:avLst/>
          </a:prstGeom>
          <a:noFill/>
          <a:ln w="7620">
            <a:solidFill>
              <a:srgbClr val="E8ECE8"/>
            </a:solidFill>
            <a:prstDash val="solid"/>
            <a:headEnd type="none"/>
            <a:tailEnd type="none"/>
          </a:ln>
        </p:spPr>
      </p:sp>
      <p:sp>
        <p:nvSpPr>
          <p:cNvPr id="9" name="Text 7"/>
          <p:cNvSpPr/>
          <p:nvPr/>
        </p:nvSpPr>
        <p:spPr>
          <a:xfrm>
            <a:off x="896112" y="5230368"/>
            <a:ext cx="310896" cy="146304"/>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0</a:t>
            </a:r>
            <a:endParaRPr lang="en-US" sz="700" dirty="0"/>
          </a:p>
        </p:txBody>
      </p:sp>
      <p:sp>
        <p:nvSpPr>
          <p:cNvPr id="10" name="Shape 8"/>
          <p:cNvSpPr/>
          <p:nvPr/>
        </p:nvSpPr>
        <p:spPr>
          <a:xfrm>
            <a:off x="1298448" y="4686300"/>
            <a:ext cx="4389120" cy="0"/>
          </a:xfrm>
          <a:prstGeom prst="line">
            <a:avLst/>
          </a:prstGeom>
          <a:noFill/>
          <a:ln w="7620">
            <a:solidFill>
              <a:srgbClr val="E8ECE8"/>
            </a:solidFill>
            <a:prstDash val="solid"/>
            <a:headEnd type="none"/>
            <a:tailEnd type="none"/>
          </a:ln>
        </p:spPr>
      </p:sp>
      <p:sp>
        <p:nvSpPr>
          <p:cNvPr id="11" name="Text 9"/>
          <p:cNvSpPr/>
          <p:nvPr/>
        </p:nvSpPr>
        <p:spPr>
          <a:xfrm>
            <a:off x="896112" y="4613148"/>
            <a:ext cx="310896" cy="146304"/>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150</a:t>
            </a:r>
            <a:endParaRPr lang="en-US" sz="700" dirty="0"/>
          </a:p>
        </p:txBody>
      </p:sp>
      <p:sp>
        <p:nvSpPr>
          <p:cNvPr id="12" name="Shape 10"/>
          <p:cNvSpPr/>
          <p:nvPr/>
        </p:nvSpPr>
        <p:spPr>
          <a:xfrm>
            <a:off x="1298448" y="4069080"/>
            <a:ext cx="4389120" cy="0"/>
          </a:xfrm>
          <a:prstGeom prst="line">
            <a:avLst/>
          </a:prstGeom>
          <a:noFill/>
          <a:ln w="7620">
            <a:solidFill>
              <a:srgbClr val="E8ECE8"/>
            </a:solidFill>
            <a:prstDash val="solid"/>
            <a:headEnd type="none"/>
            <a:tailEnd type="none"/>
          </a:ln>
        </p:spPr>
      </p:sp>
      <p:sp>
        <p:nvSpPr>
          <p:cNvPr id="13" name="Text 11"/>
          <p:cNvSpPr/>
          <p:nvPr/>
        </p:nvSpPr>
        <p:spPr>
          <a:xfrm>
            <a:off x="896112" y="3995928"/>
            <a:ext cx="310896" cy="146304"/>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300</a:t>
            </a:r>
            <a:endParaRPr lang="en-US" sz="700" dirty="0"/>
          </a:p>
        </p:txBody>
      </p:sp>
      <p:sp>
        <p:nvSpPr>
          <p:cNvPr id="14" name="Shape 12"/>
          <p:cNvSpPr/>
          <p:nvPr/>
        </p:nvSpPr>
        <p:spPr>
          <a:xfrm>
            <a:off x="1298448" y="3451860"/>
            <a:ext cx="4389120" cy="0"/>
          </a:xfrm>
          <a:prstGeom prst="line">
            <a:avLst/>
          </a:prstGeom>
          <a:noFill/>
          <a:ln w="7620">
            <a:solidFill>
              <a:srgbClr val="E8ECE8"/>
            </a:solidFill>
            <a:prstDash val="solid"/>
            <a:headEnd type="none"/>
            <a:tailEnd type="none"/>
          </a:ln>
        </p:spPr>
      </p:sp>
      <p:sp>
        <p:nvSpPr>
          <p:cNvPr id="15" name="Text 13"/>
          <p:cNvSpPr/>
          <p:nvPr/>
        </p:nvSpPr>
        <p:spPr>
          <a:xfrm>
            <a:off x="896112" y="3378708"/>
            <a:ext cx="310896" cy="146304"/>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450</a:t>
            </a:r>
            <a:endParaRPr lang="en-US" sz="700" dirty="0"/>
          </a:p>
        </p:txBody>
      </p:sp>
      <p:sp>
        <p:nvSpPr>
          <p:cNvPr id="16" name="Shape 14"/>
          <p:cNvSpPr/>
          <p:nvPr/>
        </p:nvSpPr>
        <p:spPr>
          <a:xfrm>
            <a:off x="1298448" y="2834640"/>
            <a:ext cx="4389120" cy="0"/>
          </a:xfrm>
          <a:prstGeom prst="line">
            <a:avLst/>
          </a:prstGeom>
          <a:noFill/>
          <a:ln w="7620">
            <a:solidFill>
              <a:srgbClr val="E8ECE8"/>
            </a:solidFill>
            <a:prstDash val="solid"/>
            <a:headEnd type="none"/>
            <a:tailEnd type="none"/>
          </a:ln>
        </p:spPr>
      </p:sp>
      <p:sp>
        <p:nvSpPr>
          <p:cNvPr id="17" name="Text 15"/>
          <p:cNvSpPr/>
          <p:nvPr/>
        </p:nvSpPr>
        <p:spPr>
          <a:xfrm>
            <a:off x="896112" y="2761488"/>
            <a:ext cx="310896" cy="146304"/>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600</a:t>
            </a:r>
            <a:endParaRPr lang="en-US" sz="700" dirty="0"/>
          </a:p>
        </p:txBody>
      </p:sp>
      <p:sp>
        <p:nvSpPr>
          <p:cNvPr id="18" name="Shape 16"/>
          <p:cNvSpPr/>
          <p:nvPr/>
        </p:nvSpPr>
        <p:spPr>
          <a:xfrm>
            <a:off x="1874520" y="4344772"/>
            <a:ext cx="768096" cy="958748"/>
          </a:xfrm>
          <a:prstGeom prst="rect">
            <a:avLst>
              <a:gd name="adj" fmla="val 9524"/>
            </a:avLst>
          </a:prstGeom>
          <a:solidFill>
            <a:srgbClr val="398E82"/>
          </a:solidFill>
          <a:ln w="12700">
            <a:solidFill>
              <a:srgbClr val="398E82">
                <a:alpha val="0"/>
              </a:srgbClr>
            </a:solidFill>
            <a:prstDash val="solid"/>
          </a:ln>
        </p:spPr>
      </p:sp>
      <p:sp>
        <p:nvSpPr>
          <p:cNvPr id="19" name="Shape 17"/>
          <p:cNvSpPr/>
          <p:nvPr/>
        </p:nvSpPr>
        <p:spPr>
          <a:xfrm>
            <a:off x="1874520" y="4011473"/>
            <a:ext cx="768096" cy="333299"/>
          </a:xfrm>
          <a:prstGeom prst="rect">
            <a:avLst>
              <a:gd name="adj" fmla="val 21948"/>
            </a:avLst>
          </a:prstGeom>
          <a:solidFill>
            <a:srgbClr val="E77765"/>
          </a:solidFill>
          <a:ln w="12700">
            <a:solidFill>
              <a:srgbClr val="E77765">
                <a:alpha val="0"/>
              </a:srgbClr>
            </a:solidFill>
            <a:prstDash val="solid"/>
          </a:ln>
        </p:spPr>
      </p:sp>
      <p:sp>
        <p:nvSpPr>
          <p:cNvPr id="20" name="Text 18"/>
          <p:cNvSpPr/>
          <p:nvPr/>
        </p:nvSpPr>
        <p:spPr>
          <a:xfrm>
            <a:off x="1783080" y="3782873"/>
            <a:ext cx="950976" cy="164592"/>
          </a:xfrm>
          <a:prstGeom prst="rect">
            <a:avLst/>
          </a:prstGeom>
          <a:noFill/>
          <a:ln/>
        </p:spPr>
        <p:txBody>
          <a:bodyPr wrap="square" lIns="0" tIns="0" rIns="0" bIns="0" rtlCol="0" anchor="ctr">
            <a:normAutofit/>
          </a:bodyPr>
          <a:lstStyle/>
          <a:p>
            <a:pPr algn="ctr" indent="0" marL="0">
              <a:buNone/>
            </a:pPr>
            <a:r>
              <a:rPr lang="en-US" sz="900" b="1" dirty="0">
                <a:solidFill>
                  <a:srgbClr val="213B52"/>
                </a:solidFill>
                <a:latin typeface="Aptos" pitchFamily="34" charset="0"/>
                <a:ea typeface="Aptos" pitchFamily="34" charset="-122"/>
                <a:cs typeface="Aptos" pitchFamily="34" charset="-120"/>
              </a:rPr>
              <a:t>314</a:t>
            </a:r>
            <a:endParaRPr lang="en-US" sz="900" dirty="0"/>
          </a:p>
        </p:txBody>
      </p:sp>
      <p:sp>
        <p:nvSpPr>
          <p:cNvPr id="21" name="Text 19"/>
          <p:cNvSpPr/>
          <p:nvPr/>
        </p:nvSpPr>
        <p:spPr>
          <a:xfrm>
            <a:off x="1783080" y="5413248"/>
            <a:ext cx="950976" cy="164592"/>
          </a:xfrm>
          <a:prstGeom prst="rect">
            <a:avLst/>
          </a:prstGeom>
          <a:noFill/>
          <a:ln/>
        </p:spPr>
        <p:txBody>
          <a:bodyPr wrap="square" lIns="0" tIns="0" rIns="0" bIns="0" rtlCol="0" anchor="ctr">
            <a:normAutofit/>
          </a:bodyPr>
          <a:lstStyle/>
          <a:p>
            <a:pPr algn="ctr" indent="0" marL="0">
              <a:buNone/>
            </a:pPr>
            <a:r>
              <a:rPr lang="en-US" sz="900" dirty="0">
                <a:solidFill>
                  <a:srgbClr val="71838D"/>
                </a:solidFill>
                <a:latin typeface="Aptos" pitchFamily="34" charset="0"/>
                <a:ea typeface="Aptos" pitchFamily="34" charset="-122"/>
                <a:cs typeface="Aptos" pitchFamily="34" charset="-120"/>
              </a:rPr>
              <a:t>Women</a:t>
            </a:r>
            <a:endParaRPr lang="en-US" sz="900" dirty="0"/>
          </a:p>
        </p:txBody>
      </p:sp>
      <p:sp>
        <p:nvSpPr>
          <p:cNvPr id="22" name="Shape 20"/>
          <p:cNvSpPr/>
          <p:nvPr/>
        </p:nvSpPr>
        <p:spPr>
          <a:xfrm>
            <a:off x="3794760" y="4855007"/>
            <a:ext cx="768096" cy="448513"/>
          </a:xfrm>
          <a:prstGeom prst="rect">
            <a:avLst>
              <a:gd name="adj" fmla="val 16310"/>
            </a:avLst>
          </a:prstGeom>
          <a:solidFill>
            <a:srgbClr val="398E82"/>
          </a:solidFill>
          <a:ln w="12700">
            <a:solidFill>
              <a:srgbClr val="398E82">
                <a:alpha val="0"/>
              </a:srgbClr>
            </a:solidFill>
            <a:prstDash val="solid"/>
          </a:ln>
        </p:spPr>
      </p:sp>
      <p:sp>
        <p:nvSpPr>
          <p:cNvPr id="23" name="Shape 21"/>
          <p:cNvSpPr/>
          <p:nvPr/>
        </p:nvSpPr>
        <p:spPr>
          <a:xfrm>
            <a:off x="3794760" y="2929280"/>
            <a:ext cx="768096" cy="1925726"/>
          </a:xfrm>
          <a:prstGeom prst="rect">
            <a:avLst>
              <a:gd name="adj" fmla="val 9524"/>
            </a:avLst>
          </a:prstGeom>
          <a:solidFill>
            <a:srgbClr val="E77765"/>
          </a:solidFill>
          <a:ln w="12700">
            <a:solidFill>
              <a:srgbClr val="E77765">
                <a:alpha val="0"/>
              </a:srgbClr>
            </a:solidFill>
            <a:prstDash val="solid"/>
          </a:ln>
        </p:spPr>
      </p:sp>
      <p:sp>
        <p:nvSpPr>
          <p:cNvPr id="24" name="Text 22"/>
          <p:cNvSpPr/>
          <p:nvPr/>
        </p:nvSpPr>
        <p:spPr>
          <a:xfrm>
            <a:off x="3703320" y="2700680"/>
            <a:ext cx="950976" cy="164592"/>
          </a:xfrm>
          <a:prstGeom prst="rect">
            <a:avLst/>
          </a:prstGeom>
          <a:noFill/>
          <a:ln/>
        </p:spPr>
        <p:txBody>
          <a:bodyPr wrap="square" lIns="0" tIns="0" rIns="0" bIns="0" rtlCol="0" anchor="ctr">
            <a:normAutofit/>
          </a:bodyPr>
          <a:lstStyle/>
          <a:p>
            <a:pPr algn="ctr" indent="0" marL="0">
              <a:buNone/>
            </a:pPr>
            <a:r>
              <a:rPr lang="en-US" sz="900" b="1" dirty="0">
                <a:solidFill>
                  <a:srgbClr val="213B52"/>
                </a:solidFill>
                <a:latin typeface="Aptos" pitchFamily="34" charset="0"/>
                <a:ea typeface="Aptos" pitchFamily="34" charset="-122"/>
                <a:cs typeface="Aptos" pitchFamily="34" charset="-120"/>
              </a:rPr>
              <a:t>577</a:t>
            </a:r>
            <a:endParaRPr lang="en-US" sz="900" dirty="0"/>
          </a:p>
        </p:txBody>
      </p:sp>
      <p:sp>
        <p:nvSpPr>
          <p:cNvPr id="25" name="Text 23"/>
          <p:cNvSpPr/>
          <p:nvPr/>
        </p:nvSpPr>
        <p:spPr>
          <a:xfrm>
            <a:off x="3703320" y="5413248"/>
            <a:ext cx="950976" cy="164592"/>
          </a:xfrm>
          <a:prstGeom prst="rect">
            <a:avLst/>
          </a:prstGeom>
          <a:noFill/>
          <a:ln/>
        </p:spPr>
        <p:txBody>
          <a:bodyPr wrap="square" lIns="0" tIns="0" rIns="0" bIns="0" rtlCol="0" anchor="ctr">
            <a:normAutofit/>
          </a:bodyPr>
          <a:lstStyle/>
          <a:p>
            <a:pPr algn="ctr" indent="0" marL="0">
              <a:buNone/>
            </a:pPr>
            <a:r>
              <a:rPr lang="en-US" sz="900" dirty="0">
                <a:solidFill>
                  <a:srgbClr val="71838D"/>
                </a:solidFill>
                <a:latin typeface="Aptos" pitchFamily="34" charset="0"/>
                <a:ea typeface="Aptos" pitchFamily="34" charset="-122"/>
                <a:cs typeface="Aptos" pitchFamily="34" charset="-120"/>
              </a:rPr>
              <a:t>Men</a:t>
            </a:r>
            <a:endParaRPr lang="en-US" sz="900" dirty="0"/>
          </a:p>
        </p:txBody>
      </p:sp>
      <p:sp>
        <p:nvSpPr>
          <p:cNvPr id="26" name="Shape 24"/>
          <p:cNvSpPr/>
          <p:nvPr/>
        </p:nvSpPr>
        <p:spPr>
          <a:xfrm>
            <a:off x="950976" y="5577840"/>
            <a:ext cx="91440" cy="91440"/>
          </a:xfrm>
          <a:prstGeom prst="ellipse">
            <a:avLst/>
          </a:prstGeom>
          <a:solidFill>
            <a:srgbClr val="398E82"/>
          </a:solidFill>
          <a:ln w="8890">
            <a:solidFill>
              <a:srgbClr val="398E82"/>
            </a:solidFill>
            <a:prstDash val="solid"/>
          </a:ln>
        </p:spPr>
      </p:sp>
      <p:sp>
        <p:nvSpPr>
          <p:cNvPr id="27" name="Text 25"/>
          <p:cNvSpPr/>
          <p:nvPr/>
        </p:nvSpPr>
        <p:spPr>
          <a:xfrm>
            <a:off x="1097280" y="5559552"/>
            <a:ext cx="731520" cy="13716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Survived</a:t>
            </a:r>
            <a:endParaRPr lang="en-US" sz="800" dirty="0"/>
          </a:p>
        </p:txBody>
      </p:sp>
      <p:sp>
        <p:nvSpPr>
          <p:cNvPr id="28" name="Shape 26"/>
          <p:cNvSpPr/>
          <p:nvPr/>
        </p:nvSpPr>
        <p:spPr>
          <a:xfrm>
            <a:off x="2057400" y="5577840"/>
            <a:ext cx="91440" cy="91440"/>
          </a:xfrm>
          <a:prstGeom prst="ellipse">
            <a:avLst/>
          </a:prstGeom>
          <a:solidFill>
            <a:srgbClr val="E77765"/>
          </a:solidFill>
          <a:ln w="8890">
            <a:solidFill>
              <a:srgbClr val="E77765"/>
            </a:solidFill>
            <a:prstDash val="solid"/>
          </a:ln>
        </p:spPr>
      </p:sp>
      <p:sp>
        <p:nvSpPr>
          <p:cNvPr id="29" name="Text 27"/>
          <p:cNvSpPr/>
          <p:nvPr/>
        </p:nvSpPr>
        <p:spPr>
          <a:xfrm>
            <a:off x="2194560" y="5559552"/>
            <a:ext cx="1371600" cy="13716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Did not survive</a:t>
            </a:r>
            <a:endParaRPr lang="en-US" sz="800" dirty="0"/>
          </a:p>
        </p:txBody>
      </p:sp>
      <p:sp>
        <p:nvSpPr>
          <p:cNvPr id="30" name="Shape 28"/>
          <p:cNvSpPr/>
          <p:nvPr/>
        </p:nvSpPr>
        <p:spPr>
          <a:xfrm>
            <a:off x="6446520" y="1901952"/>
            <a:ext cx="2148840" cy="1051560"/>
          </a:xfrm>
          <a:prstGeom prst="roundRect">
            <a:avLst>
              <a:gd name="adj" fmla="val 6957"/>
            </a:avLst>
          </a:prstGeom>
          <a:solidFill>
            <a:srgbClr val="FFFFFF"/>
          </a:solidFill>
          <a:ln w="10160">
            <a:solidFill>
              <a:srgbClr val="D8E0DC"/>
            </a:solidFill>
            <a:prstDash val="solid"/>
          </a:ln>
        </p:spPr>
      </p:sp>
      <p:sp>
        <p:nvSpPr>
          <p:cNvPr id="31" name="Text 29"/>
          <p:cNvSpPr/>
          <p:nvPr/>
        </p:nvSpPr>
        <p:spPr>
          <a:xfrm>
            <a:off x="6611112" y="2039112"/>
            <a:ext cx="1819656" cy="384048"/>
          </a:xfrm>
          <a:prstGeom prst="rect">
            <a:avLst/>
          </a:prstGeom>
          <a:noFill/>
          <a:ln/>
        </p:spPr>
        <p:txBody>
          <a:bodyPr wrap="square" lIns="0" tIns="0" rIns="0" bIns="0" rtlCol="0" anchor="ctr">
            <a:normAutofit/>
          </a:bodyPr>
          <a:lstStyle/>
          <a:p>
            <a:pPr algn="l" indent="0" marL="0">
              <a:buNone/>
            </a:pPr>
            <a:r>
              <a:rPr lang="en-US" sz="2500" b="1" dirty="0">
                <a:solidFill>
                  <a:srgbClr val="398E82"/>
                </a:solidFill>
                <a:latin typeface="Georgia" pitchFamily="34" charset="0"/>
                <a:ea typeface="Georgia" pitchFamily="34" charset="-122"/>
                <a:cs typeface="Georgia" pitchFamily="34" charset="-120"/>
              </a:rPr>
              <a:t>74.2%</a:t>
            </a:r>
            <a:endParaRPr lang="en-US" sz="2500" dirty="0"/>
          </a:p>
        </p:txBody>
      </p:sp>
      <p:sp>
        <p:nvSpPr>
          <p:cNvPr id="32" name="Text 30"/>
          <p:cNvSpPr/>
          <p:nvPr/>
        </p:nvSpPr>
        <p:spPr>
          <a:xfrm>
            <a:off x="6611112" y="2468880"/>
            <a:ext cx="1819656"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WOMEN SURVIVED</a:t>
            </a:r>
            <a:endParaRPr lang="en-US" sz="800" dirty="0"/>
          </a:p>
        </p:txBody>
      </p:sp>
      <p:sp>
        <p:nvSpPr>
          <p:cNvPr id="33" name="Text 31"/>
          <p:cNvSpPr/>
          <p:nvPr/>
        </p:nvSpPr>
        <p:spPr>
          <a:xfrm>
            <a:off x="6611112" y="2670048"/>
            <a:ext cx="1819656"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233 of 314</a:t>
            </a:r>
            <a:endParaRPr lang="en-US" sz="800" dirty="0"/>
          </a:p>
        </p:txBody>
      </p:sp>
      <p:sp>
        <p:nvSpPr>
          <p:cNvPr id="34" name="Shape 32"/>
          <p:cNvSpPr/>
          <p:nvPr/>
        </p:nvSpPr>
        <p:spPr>
          <a:xfrm>
            <a:off x="8796528" y="1901952"/>
            <a:ext cx="2148840" cy="1051560"/>
          </a:xfrm>
          <a:prstGeom prst="roundRect">
            <a:avLst>
              <a:gd name="adj" fmla="val 6957"/>
            </a:avLst>
          </a:prstGeom>
          <a:solidFill>
            <a:srgbClr val="FFFFFF"/>
          </a:solidFill>
          <a:ln w="10160">
            <a:solidFill>
              <a:srgbClr val="D8E0DC"/>
            </a:solidFill>
            <a:prstDash val="solid"/>
          </a:ln>
        </p:spPr>
      </p:sp>
      <p:sp>
        <p:nvSpPr>
          <p:cNvPr id="35" name="Text 33"/>
          <p:cNvSpPr/>
          <p:nvPr/>
        </p:nvSpPr>
        <p:spPr>
          <a:xfrm>
            <a:off x="8961120" y="2039112"/>
            <a:ext cx="1819656" cy="384048"/>
          </a:xfrm>
          <a:prstGeom prst="rect">
            <a:avLst/>
          </a:prstGeom>
          <a:noFill/>
          <a:ln/>
        </p:spPr>
        <p:txBody>
          <a:bodyPr wrap="square" lIns="0" tIns="0" rIns="0" bIns="0" rtlCol="0" anchor="ctr">
            <a:normAutofit/>
          </a:bodyPr>
          <a:lstStyle/>
          <a:p>
            <a:pPr algn="l" indent="0" marL="0">
              <a:buNone/>
            </a:pPr>
            <a:r>
              <a:rPr lang="en-US" sz="2500" b="1" dirty="0">
                <a:solidFill>
                  <a:srgbClr val="E77765"/>
                </a:solidFill>
                <a:latin typeface="Georgia" pitchFamily="34" charset="0"/>
                <a:ea typeface="Georgia" pitchFamily="34" charset="-122"/>
                <a:cs typeface="Georgia" pitchFamily="34" charset="-120"/>
              </a:rPr>
              <a:t>18.9%</a:t>
            </a:r>
            <a:endParaRPr lang="en-US" sz="2500" dirty="0"/>
          </a:p>
        </p:txBody>
      </p:sp>
      <p:sp>
        <p:nvSpPr>
          <p:cNvPr id="36" name="Text 34"/>
          <p:cNvSpPr/>
          <p:nvPr/>
        </p:nvSpPr>
        <p:spPr>
          <a:xfrm>
            <a:off x="8961120" y="2468880"/>
            <a:ext cx="1819656"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MEN SURVIVED</a:t>
            </a:r>
            <a:endParaRPr lang="en-US" sz="800" dirty="0"/>
          </a:p>
        </p:txBody>
      </p:sp>
      <p:sp>
        <p:nvSpPr>
          <p:cNvPr id="37" name="Text 35"/>
          <p:cNvSpPr/>
          <p:nvPr/>
        </p:nvSpPr>
        <p:spPr>
          <a:xfrm>
            <a:off x="8961120" y="2670048"/>
            <a:ext cx="1819656"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109 of 577</a:t>
            </a:r>
            <a:endParaRPr lang="en-US" sz="800" dirty="0"/>
          </a:p>
        </p:txBody>
      </p:sp>
      <p:sp>
        <p:nvSpPr>
          <p:cNvPr id="38" name="Shape 36"/>
          <p:cNvSpPr/>
          <p:nvPr/>
        </p:nvSpPr>
        <p:spPr>
          <a:xfrm>
            <a:off x="6446520" y="3246120"/>
            <a:ext cx="4498848" cy="2240280"/>
          </a:xfrm>
          <a:prstGeom prst="roundRect">
            <a:avLst>
              <a:gd name="adj" fmla="val 3265"/>
            </a:avLst>
          </a:prstGeom>
          <a:solidFill>
            <a:srgbClr val="142F49"/>
          </a:solidFill>
          <a:ln w="12700">
            <a:solidFill>
              <a:srgbClr val="142F49">
                <a:alpha val="0"/>
              </a:srgbClr>
            </a:solidFill>
            <a:prstDash val="solid"/>
          </a:ln>
        </p:spPr>
      </p:sp>
      <p:sp>
        <p:nvSpPr>
          <p:cNvPr id="39" name="Text 37"/>
          <p:cNvSpPr/>
          <p:nvPr/>
        </p:nvSpPr>
        <p:spPr>
          <a:xfrm>
            <a:off x="6748272" y="3566160"/>
            <a:ext cx="3291840" cy="201168"/>
          </a:xfrm>
          <a:prstGeom prst="rect">
            <a:avLst/>
          </a:prstGeom>
          <a:noFill/>
          <a:ln/>
        </p:spPr>
        <p:txBody>
          <a:bodyPr wrap="square" lIns="0" tIns="0" rIns="0" bIns="0" rtlCol="0" anchor="ctr">
            <a:normAutofit/>
          </a:bodyPr>
          <a:lstStyle/>
          <a:p>
            <a:pPr algn="l" indent="0" marL="0">
              <a:buNone/>
            </a:pPr>
            <a:r>
              <a:rPr lang="en-US" sz="800" b="1" spc="110" kern="0" dirty="0">
                <a:solidFill>
                  <a:srgbClr val="D1A56A"/>
                </a:solidFill>
                <a:latin typeface="Aptos" pitchFamily="34" charset="0"/>
                <a:ea typeface="Aptos" pitchFamily="34" charset="-122"/>
                <a:cs typeface="Aptos" pitchFamily="34" charset="-120"/>
              </a:rPr>
              <a:t>READ THE CHART</a:t>
            </a:r>
            <a:endParaRPr lang="en-US" sz="800" dirty="0"/>
          </a:p>
        </p:txBody>
      </p:sp>
      <p:sp>
        <p:nvSpPr>
          <p:cNvPr id="40" name="Text 38"/>
          <p:cNvSpPr/>
          <p:nvPr/>
        </p:nvSpPr>
        <p:spPr>
          <a:xfrm>
            <a:off x="6748272" y="3977640"/>
            <a:ext cx="3703320" cy="594360"/>
          </a:xfrm>
          <a:prstGeom prst="rect">
            <a:avLst/>
          </a:prstGeom>
          <a:noFill/>
          <a:ln/>
        </p:spPr>
        <p:txBody>
          <a:bodyPr wrap="square" lIns="0" tIns="0" rIns="0" bIns="0" rtlCol="0" anchor="ctr">
            <a:normAutofit/>
          </a:bodyPr>
          <a:lstStyle/>
          <a:p>
            <a:pPr algn="l" indent="0" marL="0">
              <a:buNone/>
            </a:pPr>
            <a:r>
              <a:rPr lang="en-US" sz="1800" b="1" dirty="0">
                <a:solidFill>
                  <a:srgbClr val="FAF8F1"/>
                </a:solidFill>
                <a:latin typeface="Georgia" pitchFamily="34" charset="0"/>
                <a:ea typeface="Georgia" pitchFamily="34" charset="-122"/>
                <a:cs typeface="Georgia" pitchFamily="34" charset="-120"/>
              </a:rPr>
              <a:t>The dataset records a large survival-rate difference between women and men.</a:t>
            </a:r>
            <a:endParaRPr lang="en-US" sz="1800" dirty="0"/>
          </a:p>
        </p:txBody>
      </p:sp>
      <p:sp>
        <p:nvSpPr>
          <p:cNvPr id="41" name="Text 39"/>
          <p:cNvSpPr/>
          <p:nvPr/>
        </p:nvSpPr>
        <p:spPr>
          <a:xfrm>
            <a:off x="6748272" y="4846320"/>
            <a:ext cx="3749040" cy="384048"/>
          </a:xfrm>
          <a:prstGeom prst="rect">
            <a:avLst/>
          </a:prstGeom>
          <a:noFill/>
          <a:ln/>
        </p:spPr>
        <p:txBody>
          <a:bodyPr wrap="square" lIns="0" tIns="0" rIns="0" bIns="0" rtlCol="0" anchor="ctr">
            <a:normAutofit/>
          </a:bodyPr>
          <a:lstStyle/>
          <a:p>
            <a:pPr algn="l" indent="0" marL="0">
              <a:buNone/>
            </a:pPr>
            <a:r>
              <a:rPr lang="en-US" sz="1000" dirty="0">
                <a:solidFill>
                  <a:srgbClr val="CBD9D7"/>
                </a:solidFill>
                <a:latin typeface="Aptos" pitchFamily="34" charset="0"/>
                <a:ea typeface="Aptos" pitchFamily="34" charset="-122"/>
                <a:cs typeface="Aptos" pitchFamily="34" charset="-120"/>
              </a:rPr>
              <a:t>Model inputs reflect historical records, not an explanation of individual outcomes.</a:t>
            </a:r>
            <a:endParaRPr lang="en-US" sz="1000" dirty="0"/>
          </a:p>
        </p:txBody>
      </p:sp>
      <p:sp>
        <p:nvSpPr>
          <p:cNvPr id="43" name="Text 40">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44" name="Text 41">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45" name="Text 42">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46" name="Text 43">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47" name="Text 44">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02 / EDA</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Ticket class shows a clear gradient</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Observed survival rates decline across first, second, and third class in this passenger sample.</a:t>
            </a:r>
            <a:endParaRPr lang="en-US" sz="1100" dirty="0"/>
          </a:p>
        </p:txBody>
      </p:sp>
      <p:sp>
        <p:nvSpPr>
          <p:cNvPr id="5" name="Shape 3"/>
          <p:cNvSpPr/>
          <p:nvPr/>
        </p:nvSpPr>
        <p:spPr>
          <a:xfrm>
            <a:off x="658368" y="1700784"/>
            <a:ext cx="6446520" cy="4251960"/>
          </a:xfrm>
          <a:prstGeom prst="roundRect">
            <a:avLst>
              <a:gd name="adj" fmla="val 1720"/>
            </a:avLst>
          </a:prstGeom>
          <a:solidFill>
            <a:srgbClr val="FFFFFF"/>
          </a:solidFill>
          <a:ln w="10160">
            <a:solidFill>
              <a:srgbClr val="D8E0DC"/>
            </a:solidFill>
            <a:prstDash val="solid"/>
          </a:ln>
        </p:spPr>
      </p:sp>
      <p:sp>
        <p:nvSpPr>
          <p:cNvPr id="6" name="Text 4"/>
          <p:cNvSpPr/>
          <p:nvPr/>
        </p:nvSpPr>
        <p:spPr>
          <a:xfrm>
            <a:off x="932688" y="1956816"/>
            <a:ext cx="4846320" cy="201168"/>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SURVIVAL RATE BY TICKET CLASS</a:t>
            </a:r>
            <a:endParaRPr lang="en-US" sz="1700" dirty="0"/>
          </a:p>
        </p:txBody>
      </p:sp>
      <p:sp>
        <p:nvSpPr>
          <p:cNvPr id="7" name="Shape 5"/>
          <p:cNvSpPr/>
          <p:nvPr/>
        </p:nvSpPr>
        <p:spPr>
          <a:xfrm>
            <a:off x="1325880" y="5093208"/>
            <a:ext cx="5349240" cy="0"/>
          </a:xfrm>
          <a:prstGeom prst="line">
            <a:avLst/>
          </a:prstGeom>
          <a:noFill/>
          <a:ln w="7620">
            <a:solidFill>
              <a:srgbClr val="E6EBE6"/>
            </a:solidFill>
            <a:prstDash val="solid"/>
            <a:headEnd type="none"/>
            <a:tailEnd type="none"/>
          </a:ln>
        </p:spPr>
      </p:sp>
      <p:sp>
        <p:nvSpPr>
          <p:cNvPr id="8" name="Text 6"/>
          <p:cNvSpPr/>
          <p:nvPr/>
        </p:nvSpPr>
        <p:spPr>
          <a:xfrm>
            <a:off x="914400" y="5029200"/>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0%</a:t>
            </a:r>
            <a:endParaRPr lang="en-US" sz="700" dirty="0"/>
          </a:p>
        </p:txBody>
      </p:sp>
      <p:sp>
        <p:nvSpPr>
          <p:cNvPr id="9" name="Shape 7"/>
          <p:cNvSpPr/>
          <p:nvPr/>
        </p:nvSpPr>
        <p:spPr>
          <a:xfrm>
            <a:off x="1325880" y="4503420"/>
            <a:ext cx="5349240" cy="0"/>
          </a:xfrm>
          <a:prstGeom prst="line">
            <a:avLst/>
          </a:prstGeom>
          <a:noFill/>
          <a:ln w="7620">
            <a:solidFill>
              <a:srgbClr val="E6EBE6"/>
            </a:solidFill>
            <a:prstDash val="solid"/>
            <a:headEnd type="none"/>
            <a:tailEnd type="none"/>
          </a:ln>
        </p:spPr>
      </p:sp>
      <p:sp>
        <p:nvSpPr>
          <p:cNvPr id="10" name="Text 8"/>
          <p:cNvSpPr/>
          <p:nvPr/>
        </p:nvSpPr>
        <p:spPr>
          <a:xfrm>
            <a:off x="914400" y="4439412"/>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25%</a:t>
            </a:r>
            <a:endParaRPr lang="en-US" sz="700" dirty="0"/>
          </a:p>
        </p:txBody>
      </p:sp>
      <p:sp>
        <p:nvSpPr>
          <p:cNvPr id="11" name="Shape 9"/>
          <p:cNvSpPr/>
          <p:nvPr/>
        </p:nvSpPr>
        <p:spPr>
          <a:xfrm>
            <a:off x="1325880" y="3913632"/>
            <a:ext cx="5349240" cy="0"/>
          </a:xfrm>
          <a:prstGeom prst="line">
            <a:avLst/>
          </a:prstGeom>
          <a:noFill/>
          <a:ln w="7620">
            <a:solidFill>
              <a:srgbClr val="E6EBE6"/>
            </a:solidFill>
            <a:prstDash val="solid"/>
            <a:headEnd type="none"/>
            <a:tailEnd type="none"/>
          </a:ln>
        </p:spPr>
      </p:sp>
      <p:sp>
        <p:nvSpPr>
          <p:cNvPr id="12" name="Text 10"/>
          <p:cNvSpPr/>
          <p:nvPr/>
        </p:nvSpPr>
        <p:spPr>
          <a:xfrm>
            <a:off x="914400" y="3849624"/>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50%</a:t>
            </a:r>
            <a:endParaRPr lang="en-US" sz="700" dirty="0"/>
          </a:p>
        </p:txBody>
      </p:sp>
      <p:sp>
        <p:nvSpPr>
          <p:cNvPr id="13" name="Shape 11"/>
          <p:cNvSpPr/>
          <p:nvPr/>
        </p:nvSpPr>
        <p:spPr>
          <a:xfrm>
            <a:off x="1325880" y="3323844"/>
            <a:ext cx="5349240" cy="0"/>
          </a:xfrm>
          <a:prstGeom prst="line">
            <a:avLst/>
          </a:prstGeom>
          <a:noFill/>
          <a:ln w="7620">
            <a:solidFill>
              <a:srgbClr val="E6EBE6"/>
            </a:solidFill>
            <a:prstDash val="solid"/>
            <a:headEnd type="none"/>
            <a:tailEnd type="none"/>
          </a:ln>
        </p:spPr>
      </p:sp>
      <p:sp>
        <p:nvSpPr>
          <p:cNvPr id="14" name="Text 12"/>
          <p:cNvSpPr/>
          <p:nvPr/>
        </p:nvSpPr>
        <p:spPr>
          <a:xfrm>
            <a:off x="914400" y="3259836"/>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75%</a:t>
            </a:r>
            <a:endParaRPr lang="en-US" sz="700" dirty="0"/>
          </a:p>
        </p:txBody>
      </p:sp>
      <p:sp>
        <p:nvSpPr>
          <p:cNvPr id="15" name="Shape 13"/>
          <p:cNvSpPr/>
          <p:nvPr/>
        </p:nvSpPr>
        <p:spPr>
          <a:xfrm>
            <a:off x="1325880" y="2734056"/>
            <a:ext cx="5349240" cy="0"/>
          </a:xfrm>
          <a:prstGeom prst="line">
            <a:avLst/>
          </a:prstGeom>
          <a:noFill/>
          <a:ln w="7620">
            <a:solidFill>
              <a:srgbClr val="E6EBE6"/>
            </a:solidFill>
            <a:prstDash val="solid"/>
            <a:headEnd type="none"/>
            <a:tailEnd type="none"/>
          </a:ln>
        </p:spPr>
      </p:sp>
      <p:sp>
        <p:nvSpPr>
          <p:cNvPr id="16" name="Text 14"/>
          <p:cNvSpPr/>
          <p:nvPr/>
        </p:nvSpPr>
        <p:spPr>
          <a:xfrm>
            <a:off x="914400" y="267004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100%</a:t>
            </a:r>
            <a:endParaRPr lang="en-US" sz="700" dirty="0"/>
          </a:p>
        </p:txBody>
      </p:sp>
      <p:sp>
        <p:nvSpPr>
          <p:cNvPr id="17" name="Shape 15"/>
          <p:cNvSpPr/>
          <p:nvPr/>
        </p:nvSpPr>
        <p:spPr>
          <a:xfrm>
            <a:off x="1809750" y="3606942"/>
            <a:ext cx="929030" cy="1486266"/>
          </a:xfrm>
          <a:prstGeom prst="roundRect">
            <a:avLst>
              <a:gd name="adj" fmla="val 7874"/>
            </a:avLst>
          </a:prstGeom>
          <a:solidFill>
            <a:srgbClr val="398E82"/>
          </a:solidFill>
          <a:ln w="12700">
            <a:solidFill>
              <a:srgbClr val="398E82">
                <a:alpha val="0"/>
              </a:srgbClr>
            </a:solidFill>
            <a:prstDash val="solid"/>
          </a:ln>
        </p:spPr>
      </p:sp>
      <p:sp>
        <p:nvSpPr>
          <p:cNvPr id="18" name="Text 16"/>
          <p:cNvSpPr/>
          <p:nvPr/>
        </p:nvSpPr>
        <p:spPr>
          <a:xfrm>
            <a:off x="1672590" y="3405774"/>
            <a:ext cx="1203350"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63%</a:t>
            </a:r>
            <a:endParaRPr lang="en-US" sz="800" dirty="0"/>
          </a:p>
        </p:txBody>
      </p:sp>
      <p:sp>
        <p:nvSpPr>
          <p:cNvPr id="19" name="Text 17"/>
          <p:cNvSpPr/>
          <p:nvPr/>
        </p:nvSpPr>
        <p:spPr>
          <a:xfrm>
            <a:off x="1590294" y="5175504"/>
            <a:ext cx="1367942"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1st class</a:t>
            </a:r>
            <a:endParaRPr lang="en-US" sz="800" dirty="0"/>
          </a:p>
        </p:txBody>
      </p:sp>
      <p:sp>
        <p:nvSpPr>
          <p:cNvPr id="20" name="Shape 18"/>
          <p:cNvSpPr/>
          <p:nvPr/>
        </p:nvSpPr>
        <p:spPr>
          <a:xfrm>
            <a:off x="3745230" y="3984407"/>
            <a:ext cx="929030" cy="1108801"/>
          </a:xfrm>
          <a:prstGeom prst="roundRect">
            <a:avLst>
              <a:gd name="adj" fmla="val 7874"/>
            </a:avLst>
          </a:prstGeom>
          <a:solidFill>
            <a:srgbClr val="D1A56A"/>
          </a:solidFill>
          <a:ln w="12700">
            <a:solidFill>
              <a:srgbClr val="D1A56A">
                <a:alpha val="0"/>
              </a:srgbClr>
            </a:solidFill>
            <a:prstDash val="solid"/>
          </a:ln>
        </p:spPr>
      </p:sp>
      <p:sp>
        <p:nvSpPr>
          <p:cNvPr id="21" name="Text 19"/>
          <p:cNvSpPr/>
          <p:nvPr/>
        </p:nvSpPr>
        <p:spPr>
          <a:xfrm>
            <a:off x="3608070" y="3783239"/>
            <a:ext cx="1203350"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47%</a:t>
            </a:r>
            <a:endParaRPr lang="en-US" sz="800" dirty="0"/>
          </a:p>
        </p:txBody>
      </p:sp>
      <p:sp>
        <p:nvSpPr>
          <p:cNvPr id="22" name="Text 20"/>
          <p:cNvSpPr/>
          <p:nvPr/>
        </p:nvSpPr>
        <p:spPr>
          <a:xfrm>
            <a:off x="3525774" y="5175504"/>
            <a:ext cx="1367942"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2nd class</a:t>
            </a:r>
            <a:endParaRPr lang="en-US" sz="800" dirty="0"/>
          </a:p>
        </p:txBody>
      </p:sp>
      <p:sp>
        <p:nvSpPr>
          <p:cNvPr id="23" name="Shape 21"/>
          <p:cNvSpPr/>
          <p:nvPr/>
        </p:nvSpPr>
        <p:spPr>
          <a:xfrm>
            <a:off x="5680710" y="4527012"/>
            <a:ext cx="929030" cy="566196"/>
          </a:xfrm>
          <a:prstGeom prst="roundRect">
            <a:avLst>
              <a:gd name="adj" fmla="val 12920"/>
            </a:avLst>
          </a:prstGeom>
          <a:solidFill>
            <a:srgbClr val="E77765"/>
          </a:solidFill>
          <a:ln w="12700">
            <a:solidFill>
              <a:srgbClr val="E77765">
                <a:alpha val="0"/>
              </a:srgbClr>
            </a:solidFill>
            <a:prstDash val="solid"/>
          </a:ln>
        </p:spPr>
      </p:sp>
      <p:sp>
        <p:nvSpPr>
          <p:cNvPr id="24" name="Text 22"/>
          <p:cNvSpPr/>
          <p:nvPr/>
        </p:nvSpPr>
        <p:spPr>
          <a:xfrm>
            <a:off x="5543550" y="4325844"/>
            <a:ext cx="1203350"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24%</a:t>
            </a:r>
            <a:endParaRPr lang="en-US" sz="800" dirty="0"/>
          </a:p>
        </p:txBody>
      </p:sp>
      <p:sp>
        <p:nvSpPr>
          <p:cNvPr id="25" name="Text 23"/>
          <p:cNvSpPr/>
          <p:nvPr/>
        </p:nvSpPr>
        <p:spPr>
          <a:xfrm>
            <a:off x="5461254" y="5175504"/>
            <a:ext cx="1367942"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3rd class</a:t>
            </a:r>
            <a:endParaRPr lang="en-US" sz="800" dirty="0"/>
          </a:p>
        </p:txBody>
      </p:sp>
      <p:sp>
        <p:nvSpPr>
          <p:cNvPr id="26" name="Shape 24"/>
          <p:cNvSpPr/>
          <p:nvPr/>
        </p:nvSpPr>
        <p:spPr>
          <a:xfrm>
            <a:off x="7452360" y="1783080"/>
            <a:ext cx="3730752" cy="1097280"/>
          </a:xfrm>
          <a:prstGeom prst="roundRect">
            <a:avLst>
              <a:gd name="adj" fmla="val 6667"/>
            </a:avLst>
          </a:prstGeom>
          <a:solidFill>
            <a:srgbClr val="E3F0E9"/>
          </a:solidFill>
          <a:ln w="12700">
            <a:solidFill>
              <a:srgbClr val="E3F0E9">
                <a:alpha val="0"/>
              </a:srgbClr>
            </a:solidFill>
            <a:prstDash val="solid"/>
          </a:ln>
        </p:spPr>
      </p:sp>
      <p:sp>
        <p:nvSpPr>
          <p:cNvPr id="27" name="Text 25"/>
          <p:cNvSpPr/>
          <p:nvPr/>
        </p:nvSpPr>
        <p:spPr>
          <a:xfrm>
            <a:off x="7708392" y="1993392"/>
            <a:ext cx="109728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398E82"/>
                </a:solidFill>
                <a:latin typeface="Aptos" pitchFamily="34" charset="0"/>
                <a:ea typeface="Aptos" pitchFamily="34" charset="-122"/>
                <a:cs typeface="Aptos" pitchFamily="34" charset="-120"/>
              </a:rPr>
              <a:t>1ST CLASS</a:t>
            </a:r>
            <a:endParaRPr lang="en-US" sz="800" dirty="0"/>
          </a:p>
        </p:txBody>
      </p:sp>
      <p:sp>
        <p:nvSpPr>
          <p:cNvPr id="28" name="Text 26"/>
          <p:cNvSpPr/>
          <p:nvPr/>
        </p:nvSpPr>
        <p:spPr>
          <a:xfrm>
            <a:off x="7708392" y="2267712"/>
            <a:ext cx="2103120" cy="292608"/>
          </a:xfrm>
          <a:prstGeom prst="rect">
            <a:avLst/>
          </a:prstGeom>
          <a:noFill/>
          <a:ln/>
        </p:spPr>
        <p:txBody>
          <a:bodyPr wrap="square" lIns="0" tIns="0" rIns="0" bIns="0" rtlCol="0" anchor="ctr">
            <a:normAutofit/>
          </a:bodyPr>
          <a:lstStyle/>
          <a:p>
            <a:pPr algn="l" indent="0" marL="0">
              <a:buNone/>
            </a:pPr>
            <a:r>
              <a:rPr lang="en-US" sz="2000" b="1" dirty="0">
                <a:solidFill>
                  <a:srgbClr val="213B52"/>
                </a:solidFill>
                <a:latin typeface="Georgia" pitchFamily="34" charset="0"/>
                <a:ea typeface="Georgia" pitchFamily="34" charset="-122"/>
                <a:cs typeface="Georgia" pitchFamily="34" charset="-120"/>
              </a:rPr>
              <a:t>136 / 216</a:t>
            </a:r>
            <a:endParaRPr lang="en-US" sz="2000" dirty="0"/>
          </a:p>
        </p:txBody>
      </p:sp>
      <p:sp>
        <p:nvSpPr>
          <p:cNvPr id="29" name="Shape 27"/>
          <p:cNvSpPr/>
          <p:nvPr/>
        </p:nvSpPr>
        <p:spPr>
          <a:xfrm>
            <a:off x="7452360" y="3090672"/>
            <a:ext cx="3730752" cy="1097280"/>
          </a:xfrm>
          <a:prstGeom prst="roundRect">
            <a:avLst>
              <a:gd name="adj" fmla="val 6667"/>
            </a:avLst>
          </a:prstGeom>
          <a:solidFill>
            <a:srgbClr val="F8EFE4"/>
          </a:solidFill>
          <a:ln w="12700">
            <a:solidFill>
              <a:srgbClr val="F8EFE4">
                <a:alpha val="0"/>
              </a:srgbClr>
            </a:solidFill>
            <a:prstDash val="solid"/>
          </a:ln>
        </p:spPr>
      </p:sp>
      <p:sp>
        <p:nvSpPr>
          <p:cNvPr id="30" name="Text 28"/>
          <p:cNvSpPr/>
          <p:nvPr/>
        </p:nvSpPr>
        <p:spPr>
          <a:xfrm>
            <a:off x="7708392" y="3300984"/>
            <a:ext cx="109728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D1A56A"/>
                </a:solidFill>
                <a:latin typeface="Aptos" pitchFamily="34" charset="0"/>
                <a:ea typeface="Aptos" pitchFamily="34" charset="-122"/>
                <a:cs typeface="Aptos" pitchFamily="34" charset="-120"/>
              </a:rPr>
              <a:t>2ND CLASS</a:t>
            </a:r>
            <a:endParaRPr lang="en-US" sz="800" dirty="0"/>
          </a:p>
        </p:txBody>
      </p:sp>
      <p:sp>
        <p:nvSpPr>
          <p:cNvPr id="31" name="Text 29"/>
          <p:cNvSpPr/>
          <p:nvPr/>
        </p:nvSpPr>
        <p:spPr>
          <a:xfrm>
            <a:off x="7708392" y="3575304"/>
            <a:ext cx="2103120" cy="292608"/>
          </a:xfrm>
          <a:prstGeom prst="rect">
            <a:avLst/>
          </a:prstGeom>
          <a:noFill/>
          <a:ln/>
        </p:spPr>
        <p:txBody>
          <a:bodyPr wrap="square" lIns="0" tIns="0" rIns="0" bIns="0" rtlCol="0" anchor="ctr">
            <a:normAutofit/>
          </a:bodyPr>
          <a:lstStyle/>
          <a:p>
            <a:pPr algn="l" indent="0" marL="0">
              <a:buNone/>
            </a:pPr>
            <a:r>
              <a:rPr lang="en-US" sz="2000" b="1" dirty="0">
                <a:solidFill>
                  <a:srgbClr val="213B52"/>
                </a:solidFill>
                <a:latin typeface="Georgia" pitchFamily="34" charset="0"/>
                <a:ea typeface="Georgia" pitchFamily="34" charset="-122"/>
                <a:cs typeface="Georgia" pitchFamily="34" charset="-120"/>
              </a:rPr>
              <a:t>87 / 184</a:t>
            </a:r>
            <a:endParaRPr lang="en-US" sz="2000" dirty="0"/>
          </a:p>
        </p:txBody>
      </p:sp>
      <p:sp>
        <p:nvSpPr>
          <p:cNvPr id="32" name="Shape 30"/>
          <p:cNvSpPr/>
          <p:nvPr/>
        </p:nvSpPr>
        <p:spPr>
          <a:xfrm>
            <a:off x="7452360" y="4398264"/>
            <a:ext cx="3730752" cy="1097280"/>
          </a:xfrm>
          <a:prstGeom prst="roundRect">
            <a:avLst>
              <a:gd name="adj" fmla="val 6667"/>
            </a:avLst>
          </a:prstGeom>
          <a:solidFill>
            <a:srgbClr val="F7E7E1"/>
          </a:solidFill>
          <a:ln w="12700">
            <a:solidFill>
              <a:srgbClr val="F7E7E1">
                <a:alpha val="0"/>
              </a:srgbClr>
            </a:solidFill>
            <a:prstDash val="solid"/>
          </a:ln>
        </p:spPr>
      </p:sp>
      <p:sp>
        <p:nvSpPr>
          <p:cNvPr id="33" name="Text 31"/>
          <p:cNvSpPr/>
          <p:nvPr/>
        </p:nvSpPr>
        <p:spPr>
          <a:xfrm>
            <a:off x="7708392" y="4608576"/>
            <a:ext cx="109728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E77765"/>
                </a:solidFill>
                <a:latin typeface="Aptos" pitchFamily="34" charset="0"/>
                <a:ea typeface="Aptos" pitchFamily="34" charset="-122"/>
                <a:cs typeface="Aptos" pitchFamily="34" charset="-120"/>
              </a:rPr>
              <a:t>3RD CLASS</a:t>
            </a:r>
            <a:endParaRPr lang="en-US" sz="800" dirty="0"/>
          </a:p>
        </p:txBody>
      </p:sp>
      <p:sp>
        <p:nvSpPr>
          <p:cNvPr id="34" name="Text 32"/>
          <p:cNvSpPr/>
          <p:nvPr/>
        </p:nvSpPr>
        <p:spPr>
          <a:xfrm>
            <a:off x="7708392" y="4882896"/>
            <a:ext cx="2103120" cy="292608"/>
          </a:xfrm>
          <a:prstGeom prst="rect">
            <a:avLst/>
          </a:prstGeom>
          <a:noFill/>
          <a:ln/>
        </p:spPr>
        <p:txBody>
          <a:bodyPr wrap="square" lIns="0" tIns="0" rIns="0" bIns="0" rtlCol="0" anchor="ctr">
            <a:normAutofit/>
          </a:bodyPr>
          <a:lstStyle/>
          <a:p>
            <a:pPr algn="l" indent="0" marL="0">
              <a:buNone/>
            </a:pPr>
            <a:r>
              <a:rPr lang="en-US" sz="2000" b="1" dirty="0">
                <a:solidFill>
                  <a:srgbClr val="213B52"/>
                </a:solidFill>
                <a:latin typeface="Georgia" pitchFamily="34" charset="0"/>
                <a:ea typeface="Georgia" pitchFamily="34" charset="-122"/>
                <a:cs typeface="Georgia" pitchFamily="34" charset="-120"/>
              </a:rPr>
              <a:t>119 / 491</a:t>
            </a:r>
            <a:endParaRPr lang="en-US" sz="2000" dirty="0"/>
          </a:p>
        </p:txBody>
      </p:sp>
      <p:sp>
        <p:nvSpPr>
          <p:cNvPr id="35" name="Text 33"/>
          <p:cNvSpPr/>
          <p:nvPr/>
        </p:nvSpPr>
        <p:spPr>
          <a:xfrm>
            <a:off x="7479792" y="5687568"/>
            <a:ext cx="3657600" cy="18288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Counts shown as survived / group total.</a:t>
            </a:r>
            <a:endParaRPr lang="en-US" sz="800" dirty="0"/>
          </a:p>
        </p:txBody>
      </p:sp>
      <p:sp>
        <p:nvSpPr>
          <p:cNvPr id="37" name="Text 34">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38" name="Text 35">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39" name="Text 36">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40" name="Text 37">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41" name="Text 38">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03 / EDA + FEATURE ENGINEERING</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Age and family size add useful context</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Child passengers show a higher observed rate than older age bands, while small groups summarize two family fields.</a:t>
            </a:r>
            <a:endParaRPr lang="en-US" sz="1100" dirty="0"/>
          </a:p>
        </p:txBody>
      </p:sp>
      <p:sp>
        <p:nvSpPr>
          <p:cNvPr id="5" name="Shape 3"/>
          <p:cNvSpPr/>
          <p:nvPr/>
        </p:nvSpPr>
        <p:spPr>
          <a:xfrm>
            <a:off x="658368" y="1700784"/>
            <a:ext cx="5532120" cy="4251960"/>
          </a:xfrm>
          <a:prstGeom prst="roundRect">
            <a:avLst>
              <a:gd name="adj" fmla="val 1720"/>
            </a:avLst>
          </a:prstGeom>
          <a:solidFill>
            <a:srgbClr val="FFFFFF"/>
          </a:solidFill>
          <a:ln w="10160">
            <a:solidFill>
              <a:srgbClr val="D8E0DC"/>
            </a:solidFill>
            <a:prstDash val="solid"/>
          </a:ln>
        </p:spPr>
      </p:sp>
      <p:sp>
        <p:nvSpPr>
          <p:cNvPr id="6" name="Text 4"/>
          <p:cNvSpPr/>
          <p:nvPr/>
        </p:nvSpPr>
        <p:spPr>
          <a:xfrm>
            <a:off x="914400" y="1947672"/>
            <a:ext cx="4297680" cy="228600"/>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SURVIVAL RATE BY AGE BAND</a:t>
            </a:r>
            <a:endParaRPr lang="en-US" sz="1700" dirty="0"/>
          </a:p>
        </p:txBody>
      </p:sp>
      <p:sp>
        <p:nvSpPr>
          <p:cNvPr id="7" name="Shape 5"/>
          <p:cNvSpPr/>
          <p:nvPr/>
        </p:nvSpPr>
        <p:spPr>
          <a:xfrm>
            <a:off x="1280160" y="5202936"/>
            <a:ext cx="4572000" cy="0"/>
          </a:xfrm>
          <a:prstGeom prst="line">
            <a:avLst/>
          </a:prstGeom>
          <a:noFill/>
          <a:ln w="7620">
            <a:solidFill>
              <a:srgbClr val="E6EBE6"/>
            </a:solidFill>
            <a:prstDash val="solid"/>
            <a:headEnd type="none"/>
            <a:tailEnd type="none"/>
          </a:ln>
        </p:spPr>
      </p:sp>
      <p:sp>
        <p:nvSpPr>
          <p:cNvPr id="8" name="Text 6"/>
          <p:cNvSpPr/>
          <p:nvPr/>
        </p:nvSpPr>
        <p:spPr>
          <a:xfrm>
            <a:off x="868680" y="5138928"/>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0%</a:t>
            </a:r>
            <a:endParaRPr lang="en-US" sz="700" dirty="0"/>
          </a:p>
        </p:txBody>
      </p:sp>
      <p:sp>
        <p:nvSpPr>
          <p:cNvPr id="9" name="Shape 7"/>
          <p:cNvSpPr/>
          <p:nvPr/>
        </p:nvSpPr>
        <p:spPr>
          <a:xfrm>
            <a:off x="1280160" y="4578858"/>
            <a:ext cx="4572000" cy="0"/>
          </a:xfrm>
          <a:prstGeom prst="line">
            <a:avLst/>
          </a:prstGeom>
          <a:noFill/>
          <a:ln w="7620">
            <a:solidFill>
              <a:srgbClr val="E6EBE6"/>
            </a:solidFill>
            <a:prstDash val="solid"/>
            <a:headEnd type="none"/>
            <a:tailEnd type="none"/>
          </a:ln>
        </p:spPr>
      </p:sp>
      <p:sp>
        <p:nvSpPr>
          <p:cNvPr id="10" name="Text 8"/>
          <p:cNvSpPr/>
          <p:nvPr/>
        </p:nvSpPr>
        <p:spPr>
          <a:xfrm>
            <a:off x="868680" y="4514850"/>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25%</a:t>
            </a:r>
            <a:endParaRPr lang="en-US" sz="700" dirty="0"/>
          </a:p>
        </p:txBody>
      </p:sp>
      <p:sp>
        <p:nvSpPr>
          <p:cNvPr id="11" name="Shape 9"/>
          <p:cNvSpPr/>
          <p:nvPr/>
        </p:nvSpPr>
        <p:spPr>
          <a:xfrm>
            <a:off x="1280160" y="3954780"/>
            <a:ext cx="4572000" cy="0"/>
          </a:xfrm>
          <a:prstGeom prst="line">
            <a:avLst/>
          </a:prstGeom>
          <a:noFill/>
          <a:ln w="7620">
            <a:solidFill>
              <a:srgbClr val="E6EBE6"/>
            </a:solidFill>
            <a:prstDash val="solid"/>
            <a:headEnd type="none"/>
            <a:tailEnd type="none"/>
          </a:ln>
        </p:spPr>
      </p:sp>
      <p:sp>
        <p:nvSpPr>
          <p:cNvPr id="12" name="Text 10"/>
          <p:cNvSpPr/>
          <p:nvPr/>
        </p:nvSpPr>
        <p:spPr>
          <a:xfrm>
            <a:off x="868680" y="3890772"/>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50%</a:t>
            </a:r>
            <a:endParaRPr lang="en-US" sz="700" dirty="0"/>
          </a:p>
        </p:txBody>
      </p:sp>
      <p:sp>
        <p:nvSpPr>
          <p:cNvPr id="13" name="Shape 11"/>
          <p:cNvSpPr/>
          <p:nvPr/>
        </p:nvSpPr>
        <p:spPr>
          <a:xfrm>
            <a:off x="1280160" y="3330702"/>
            <a:ext cx="4572000" cy="0"/>
          </a:xfrm>
          <a:prstGeom prst="line">
            <a:avLst/>
          </a:prstGeom>
          <a:noFill/>
          <a:ln w="7620">
            <a:solidFill>
              <a:srgbClr val="E6EBE6"/>
            </a:solidFill>
            <a:prstDash val="solid"/>
            <a:headEnd type="none"/>
            <a:tailEnd type="none"/>
          </a:ln>
        </p:spPr>
      </p:sp>
      <p:sp>
        <p:nvSpPr>
          <p:cNvPr id="14" name="Text 12"/>
          <p:cNvSpPr/>
          <p:nvPr/>
        </p:nvSpPr>
        <p:spPr>
          <a:xfrm>
            <a:off x="868680" y="3266694"/>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75%</a:t>
            </a:r>
            <a:endParaRPr lang="en-US" sz="700" dirty="0"/>
          </a:p>
        </p:txBody>
      </p:sp>
      <p:sp>
        <p:nvSpPr>
          <p:cNvPr id="15" name="Shape 13"/>
          <p:cNvSpPr/>
          <p:nvPr/>
        </p:nvSpPr>
        <p:spPr>
          <a:xfrm>
            <a:off x="1280160" y="2706624"/>
            <a:ext cx="4572000" cy="0"/>
          </a:xfrm>
          <a:prstGeom prst="line">
            <a:avLst/>
          </a:prstGeom>
          <a:noFill/>
          <a:ln w="7620">
            <a:solidFill>
              <a:srgbClr val="E6EBE6"/>
            </a:solidFill>
            <a:prstDash val="solid"/>
            <a:headEnd type="none"/>
            <a:tailEnd type="none"/>
          </a:ln>
        </p:spPr>
      </p:sp>
      <p:sp>
        <p:nvSpPr>
          <p:cNvPr id="16" name="Text 14"/>
          <p:cNvSpPr/>
          <p:nvPr/>
        </p:nvSpPr>
        <p:spPr>
          <a:xfrm>
            <a:off x="868680" y="2642616"/>
            <a:ext cx="347472" cy="128016"/>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100%</a:t>
            </a:r>
            <a:endParaRPr lang="en-US" sz="700" dirty="0"/>
          </a:p>
        </p:txBody>
      </p:sp>
      <p:sp>
        <p:nvSpPr>
          <p:cNvPr id="17" name="Shape 15"/>
          <p:cNvSpPr/>
          <p:nvPr/>
        </p:nvSpPr>
        <p:spPr>
          <a:xfrm>
            <a:off x="1489710" y="3755075"/>
            <a:ext cx="402336" cy="1447861"/>
          </a:xfrm>
          <a:prstGeom prst="roundRect">
            <a:avLst>
              <a:gd name="adj" fmla="val 18182"/>
            </a:avLst>
          </a:prstGeom>
          <a:solidFill>
            <a:srgbClr val="398E82"/>
          </a:solidFill>
          <a:ln w="12700">
            <a:solidFill>
              <a:srgbClr val="398E82">
                <a:alpha val="0"/>
              </a:srgbClr>
            </a:solidFill>
            <a:prstDash val="solid"/>
          </a:ln>
        </p:spPr>
      </p:sp>
      <p:sp>
        <p:nvSpPr>
          <p:cNvPr id="18" name="Text 16"/>
          <p:cNvSpPr/>
          <p:nvPr/>
        </p:nvSpPr>
        <p:spPr>
          <a:xfrm>
            <a:off x="1352550" y="3553907"/>
            <a:ext cx="67665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58%</a:t>
            </a:r>
            <a:endParaRPr lang="en-US" sz="800" dirty="0"/>
          </a:p>
        </p:txBody>
      </p:sp>
      <p:sp>
        <p:nvSpPr>
          <p:cNvPr id="19" name="Text 17"/>
          <p:cNvSpPr/>
          <p:nvPr/>
        </p:nvSpPr>
        <p:spPr>
          <a:xfrm>
            <a:off x="1270254" y="5285232"/>
            <a:ext cx="84124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0–12</a:t>
            </a:r>
            <a:endParaRPr lang="en-US" sz="800" dirty="0"/>
          </a:p>
        </p:txBody>
      </p:sp>
      <p:sp>
        <p:nvSpPr>
          <p:cNvPr id="20" name="Shape 18"/>
          <p:cNvSpPr/>
          <p:nvPr/>
        </p:nvSpPr>
        <p:spPr>
          <a:xfrm>
            <a:off x="2327910" y="4129522"/>
            <a:ext cx="402336" cy="1073414"/>
          </a:xfrm>
          <a:prstGeom prst="roundRect">
            <a:avLst>
              <a:gd name="adj" fmla="val 18182"/>
            </a:avLst>
          </a:prstGeom>
          <a:solidFill>
            <a:srgbClr val="398E82"/>
          </a:solidFill>
          <a:ln w="12700">
            <a:solidFill>
              <a:srgbClr val="398E82">
                <a:alpha val="0"/>
              </a:srgbClr>
            </a:solidFill>
            <a:prstDash val="solid"/>
          </a:ln>
        </p:spPr>
      </p:sp>
      <p:sp>
        <p:nvSpPr>
          <p:cNvPr id="21" name="Text 19"/>
          <p:cNvSpPr/>
          <p:nvPr/>
        </p:nvSpPr>
        <p:spPr>
          <a:xfrm>
            <a:off x="2190750" y="3928354"/>
            <a:ext cx="67665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43%</a:t>
            </a:r>
            <a:endParaRPr lang="en-US" sz="800" dirty="0"/>
          </a:p>
        </p:txBody>
      </p:sp>
      <p:sp>
        <p:nvSpPr>
          <p:cNvPr id="22" name="Text 20"/>
          <p:cNvSpPr/>
          <p:nvPr/>
        </p:nvSpPr>
        <p:spPr>
          <a:xfrm>
            <a:off x="2108454" y="5285232"/>
            <a:ext cx="84124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13–18</a:t>
            </a:r>
            <a:endParaRPr lang="en-US" sz="800" dirty="0"/>
          </a:p>
        </p:txBody>
      </p:sp>
      <p:sp>
        <p:nvSpPr>
          <p:cNvPr id="23" name="Shape 21"/>
          <p:cNvSpPr/>
          <p:nvPr/>
        </p:nvSpPr>
        <p:spPr>
          <a:xfrm>
            <a:off x="3166110" y="4304264"/>
            <a:ext cx="402336" cy="898672"/>
          </a:xfrm>
          <a:prstGeom prst="roundRect">
            <a:avLst>
              <a:gd name="adj" fmla="val 18182"/>
            </a:avLst>
          </a:prstGeom>
          <a:solidFill>
            <a:srgbClr val="398E82"/>
          </a:solidFill>
          <a:ln w="12700">
            <a:solidFill>
              <a:srgbClr val="398E82">
                <a:alpha val="0"/>
              </a:srgbClr>
            </a:solidFill>
            <a:prstDash val="solid"/>
          </a:ln>
        </p:spPr>
      </p:sp>
      <p:sp>
        <p:nvSpPr>
          <p:cNvPr id="24" name="Text 22"/>
          <p:cNvSpPr/>
          <p:nvPr/>
        </p:nvSpPr>
        <p:spPr>
          <a:xfrm>
            <a:off x="3028950" y="4103096"/>
            <a:ext cx="67665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36%</a:t>
            </a:r>
            <a:endParaRPr lang="en-US" sz="800" dirty="0"/>
          </a:p>
        </p:txBody>
      </p:sp>
      <p:sp>
        <p:nvSpPr>
          <p:cNvPr id="25" name="Text 23"/>
          <p:cNvSpPr/>
          <p:nvPr/>
        </p:nvSpPr>
        <p:spPr>
          <a:xfrm>
            <a:off x="2946654" y="5285232"/>
            <a:ext cx="84124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19–30</a:t>
            </a:r>
            <a:endParaRPr lang="en-US" sz="800" dirty="0"/>
          </a:p>
        </p:txBody>
      </p:sp>
      <p:sp>
        <p:nvSpPr>
          <p:cNvPr id="26" name="Shape 24"/>
          <p:cNvSpPr/>
          <p:nvPr/>
        </p:nvSpPr>
        <p:spPr>
          <a:xfrm>
            <a:off x="4004310" y="4129522"/>
            <a:ext cx="402336" cy="1073414"/>
          </a:xfrm>
          <a:prstGeom prst="roundRect">
            <a:avLst>
              <a:gd name="adj" fmla="val 18182"/>
            </a:avLst>
          </a:prstGeom>
          <a:solidFill>
            <a:srgbClr val="398E82"/>
          </a:solidFill>
          <a:ln w="12700">
            <a:solidFill>
              <a:srgbClr val="398E82">
                <a:alpha val="0"/>
              </a:srgbClr>
            </a:solidFill>
            <a:prstDash val="solid"/>
          </a:ln>
        </p:spPr>
      </p:sp>
      <p:sp>
        <p:nvSpPr>
          <p:cNvPr id="27" name="Text 25"/>
          <p:cNvSpPr/>
          <p:nvPr/>
        </p:nvSpPr>
        <p:spPr>
          <a:xfrm>
            <a:off x="3867150" y="3928354"/>
            <a:ext cx="67665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43%</a:t>
            </a:r>
            <a:endParaRPr lang="en-US" sz="800" dirty="0"/>
          </a:p>
        </p:txBody>
      </p:sp>
      <p:sp>
        <p:nvSpPr>
          <p:cNvPr id="28" name="Text 26"/>
          <p:cNvSpPr/>
          <p:nvPr/>
        </p:nvSpPr>
        <p:spPr>
          <a:xfrm>
            <a:off x="3784854" y="5285232"/>
            <a:ext cx="84124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31–45</a:t>
            </a:r>
            <a:endParaRPr lang="en-US" sz="800" dirty="0"/>
          </a:p>
        </p:txBody>
      </p:sp>
      <p:sp>
        <p:nvSpPr>
          <p:cNvPr id="29" name="Shape 27"/>
          <p:cNvSpPr/>
          <p:nvPr/>
        </p:nvSpPr>
        <p:spPr>
          <a:xfrm>
            <a:off x="4842510" y="4179448"/>
            <a:ext cx="402336" cy="1023488"/>
          </a:xfrm>
          <a:prstGeom prst="roundRect">
            <a:avLst>
              <a:gd name="adj" fmla="val 18182"/>
            </a:avLst>
          </a:prstGeom>
          <a:solidFill>
            <a:srgbClr val="398E82"/>
          </a:solidFill>
          <a:ln w="12700">
            <a:solidFill>
              <a:srgbClr val="398E82">
                <a:alpha val="0"/>
              </a:srgbClr>
            </a:solidFill>
            <a:prstDash val="solid"/>
          </a:ln>
        </p:spPr>
      </p:sp>
      <p:sp>
        <p:nvSpPr>
          <p:cNvPr id="30" name="Text 28"/>
          <p:cNvSpPr/>
          <p:nvPr/>
        </p:nvSpPr>
        <p:spPr>
          <a:xfrm>
            <a:off x="4705350" y="3978280"/>
            <a:ext cx="67665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41%</a:t>
            </a:r>
            <a:endParaRPr lang="en-US" sz="800" dirty="0"/>
          </a:p>
        </p:txBody>
      </p:sp>
      <p:sp>
        <p:nvSpPr>
          <p:cNvPr id="31" name="Text 29"/>
          <p:cNvSpPr/>
          <p:nvPr/>
        </p:nvSpPr>
        <p:spPr>
          <a:xfrm>
            <a:off x="4623054" y="5285232"/>
            <a:ext cx="84124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46–60</a:t>
            </a:r>
            <a:endParaRPr lang="en-US" sz="800" dirty="0"/>
          </a:p>
        </p:txBody>
      </p:sp>
      <p:sp>
        <p:nvSpPr>
          <p:cNvPr id="32" name="Shape 30"/>
          <p:cNvSpPr/>
          <p:nvPr/>
        </p:nvSpPr>
        <p:spPr>
          <a:xfrm>
            <a:off x="5680710" y="4628784"/>
            <a:ext cx="402336" cy="574152"/>
          </a:xfrm>
          <a:prstGeom prst="roundRect">
            <a:avLst>
              <a:gd name="adj" fmla="val 18182"/>
            </a:avLst>
          </a:prstGeom>
          <a:solidFill>
            <a:srgbClr val="398E82"/>
          </a:solidFill>
          <a:ln w="12700">
            <a:solidFill>
              <a:srgbClr val="398E82">
                <a:alpha val="0"/>
              </a:srgbClr>
            </a:solidFill>
            <a:prstDash val="solid"/>
          </a:ln>
        </p:spPr>
      </p:sp>
      <p:sp>
        <p:nvSpPr>
          <p:cNvPr id="33" name="Text 31"/>
          <p:cNvSpPr/>
          <p:nvPr/>
        </p:nvSpPr>
        <p:spPr>
          <a:xfrm>
            <a:off x="5543550" y="4427616"/>
            <a:ext cx="676656" cy="164592"/>
          </a:xfrm>
          <a:prstGeom prst="rect">
            <a:avLst/>
          </a:prstGeom>
          <a:noFill/>
          <a:ln/>
        </p:spPr>
        <p:txBody>
          <a:bodyPr wrap="square" lIns="0" tIns="0" rIns="0" bIns="0" rtlCol="0" anchor="ctr">
            <a:normAutofit/>
          </a:bodyPr>
          <a:lstStyle/>
          <a:p>
            <a:pPr algn="ctr" indent="0" marL="0">
              <a:buNone/>
            </a:pPr>
            <a:r>
              <a:rPr lang="en-US" sz="800" b="1" dirty="0">
                <a:solidFill>
                  <a:srgbClr val="213B52"/>
                </a:solidFill>
                <a:latin typeface="Aptos" pitchFamily="34" charset="0"/>
                <a:ea typeface="Aptos" pitchFamily="34" charset="-122"/>
                <a:cs typeface="Aptos" pitchFamily="34" charset="-120"/>
              </a:rPr>
              <a:t>23%</a:t>
            </a:r>
            <a:endParaRPr lang="en-US" sz="800" dirty="0"/>
          </a:p>
        </p:txBody>
      </p:sp>
      <p:sp>
        <p:nvSpPr>
          <p:cNvPr id="34" name="Text 32"/>
          <p:cNvSpPr/>
          <p:nvPr/>
        </p:nvSpPr>
        <p:spPr>
          <a:xfrm>
            <a:off x="5461254" y="5285232"/>
            <a:ext cx="841248" cy="201168"/>
          </a:xfrm>
          <a:prstGeom prst="rect">
            <a:avLst/>
          </a:prstGeom>
          <a:noFill/>
          <a:ln/>
        </p:spPr>
        <p:txBody>
          <a:bodyPr wrap="square" lIns="0" tIns="0" rIns="0" bIns="0" rtlCol="0" anchor="ctr">
            <a:normAutofit/>
          </a:bodyPr>
          <a:lstStyle/>
          <a:p>
            <a:pPr algn="ctr" indent="0" marL="0">
              <a:buNone/>
            </a:pPr>
            <a:r>
              <a:rPr lang="en-US" sz="800" dirty="0">
                <a:solidFill>
                  <a:srgbClr val="71838D"/>
                </a:solidFill>
                <a:latin typeface="Aptos" pitchFamily="34" charset="0"/>
                <a:ea typeface="Aptos" pitchFamily="34" charset="-122"/>
                <a:cs typeface="Aptos" pitchFamily="34" charset="-120"/>
              </a:rPr>
              <a:t>60+</a:t>
            </a:r>
            <a:endParaRPr lang="en-US" sz="800" dirty="0"/>
          </a:p>
        </p:txBody>
      </p:sp>
      <p:sp>
        <p:nvSpPr>
          <p:cNvPr id="35" name="Text 33"/>
          <p:cNvSpPr/>
          <p:nvPr/>
        </p:nvSpPr>
        <p:spPr>
          <a:xfrm>
            <a:off x="914400" y="5596128"/>
            <a:ext cx="4846320" cy="228600"/>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Age is missing for 177 passengers; imputation is handled in the training pipeline.</a:t>
            </a:r>
            <a:endParaRPr lang="en-US" sz="800" dirty="0"/>
          </a:p>
        </p:txBody>
      </p:sp>
      <p:sp>
        <p:nvSpPr>
          <p:cNvPr id="36" name="Shape 34"/>
          <p:cNvSpPr/>
          <p:nvPr/>
        </p:nvSpPr>
        <p:spPr>
          <a:xfrm>
            <a:off x="6492240" y="1700784"/>
            <a:ext cx="4663440" cy="1874520"/>
          </a:xfrm>
          <a:prstGeom prst="roundRect">
            <a:avLst>
              <a:gd name="adj" fmla="val 3902"/>
            </a:avLst>
          </a:prstGeom>
          <a:solidFill>
            <a:srgbClr val="142F49"/>
          </a:solidFill>
          <a:ln w="12700">
            <a:solidFill>
              <a:srgbClr val="142F49">
                <a:alpha val="0"/>
              </a:srgbClr>
            </a:solidFill>
            <a:prstDash val="solid"/>
          </a:ln>
        </p:spPr>
      </p:sp>
      <p:sp>
        <p:nvSpPr>
          <p:cNvPr id="37" name="Text 35"/>
          <p:cNvSpPr/>
          <p:nvPr/>
        </p:nvSpPr>
        <p:spPr>
          <a:xfrm>
            <a:off x="6793992" y="1984248"/>
            <a:ext cx="2377440"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D1A56A"/>
                </a:solidFill>
                <a:latin typeface="Aptos" pitchFamily="34" charset="0"/>
                <a:ea typeface="Aptos" pitchFamily="34" charset="-122"/>
                <a:cs typeface="Aptos" pitchFamily="34" charset="-120"/>
              </a:rPr>
              <a:t>ENGINEERED FIELD</a:t>
            </a:r>
            <a:endParaRPr lang="en-US" sz="800" dirty="0"/>
          </a:p>
        </p:txBody>
      </p:sp>
      <p:sp>
        <p:nvSpPr>
          <p:cNvPr id="38" name="Text 36"/>
          <p:cNvSpPr/>
          <p:nvPr/>
        </p:nvSpPr>
        <p:spPr>
          <a:xfrm>
            <a:off x="6793992" y="2340864"/>
            <a:ext cx="3383280" cy="438912"/>
          </a:xfrm>
          <a:prstGeom prst="rect">
            <a:avLst/>
          </a:prstGeom>
          <a:noFill/>
          <a:ln/>
        </p:spPr>
        <p:txBody>
          <a:bodyPr wrap="square" lIns="0" tIns="0" rIns="0" bIns="0" rtlCol="0" anchor="ctr">
            <a:normAutofit/>
          </a:bodyPr>
          <a:lstStyle/>
          <a:p>
            <a:pPr algn="l" indent="0" marL="0">
              <a:buNone/>
            </a:pPr>
            <a:r>
              <a:rPr lang="en-US" sz="2800" b="1" dirty="0">
                <a:solidFill>
                  <a:srgbClr val="FAF8F1"/>
                </a:solidFill>
                <a:latin typeface="Georgia" pitchFamily="34" charset="0"/>
                <a:ea typeface="Georgia" pitchFamily="34" charset="-122"/>
                <a:cs typeface="Georgia" pitchFamily="34" charset="-120"/>
              </a:rPr>
              <a:t>family_size</a:t>
            </a:r>
            <a:endParaRPr lang="en-US" sz="2800" dirty="0"/>
          </a:p>
        </p:txBody>
      </p:sp>
      <p:sp>
        <p:nvSpPr>
          <p:cNvPr id="39" name="Text 37"/>
          <p:cNvSpPr/>
          <p:nvPr/>
        </p:nvSpPr>
        <p:spPr>
          <a:xfrm>
            <a:off x="6793992" y="2926080"/>
            <a:ext cx="3474720" cy="228600"/>
          </a:xfrm>
          <a:prstGeom prst="rect">
            <a:avLst/>
          </a:prstGeom>
          <a:noFill/>
          <a:ln/>
        </p:spPr>
        <p:txBody>
          <a:bodyPr wrap="square" lIns="0" tIns="0" rIns="0" bIns="0" rtlCol="0" anchor="ctr">
            <a:normAutofit/>
          </a:bodyPr>
          <a:lstStyle/>
          <a:p>
            <a:pPr algn="l" indent="0" marL="0">
              <a:buNone/>
            </a:pPr>
            <a:r>
              <a:rPr lang="en-US" sz="1500" dirty="0">
                <a:solidFill>
                  <a:srgbClr val="D7E5DF"/>
                </a:solidFill>
                <a:latin typeface="Georgia" pitchFamily="34" charset="0"/>
                <a:ea typeface="Georgia" pitchFamily="34" charset="-122"/>
                <a:cs typeface="Georgia" pitchFamily="34" charset="-120"/>
              </a:rPr>
              <a:t>sibsp + parch + 1</a:t>
            </a:r>
            <a:endParaRPr lang="en-US" sz="1500" dirty="0"/>
          </a:p>
        </p:txBody>
      </p:sp>
      <p:sp>
        <p:nvSpPr>
          <p:cNvPr id="40" name="Shape 38"/>
          <p:cNvSpPr/>
          <p:nvPr/>
        </p:nvSpPr>
        <p:spPr>
          <a:xfrm>
            <a:off x="6492240" y="3776472"/>
            <a:ext cx="4663440" cy="1874520"/>
          </a:xfrm>
          <a:prstGeom prst="roundRect">
            <a:avLst>
              <a:gd name="adj" fmla="val 3902"/>
            </a:avLst>
          </a:prstGeom>
          <a:solidFill>
            <a:srgbClr val="E3F0E9"/>
          </a:solidFill>
          <a:ln w="12700">
            <a:solidFill>
              <a:srgbClr val="E3F0E9">
                <a:alpha val="0"/>
              </a:srgbClr>
            </a:solidFill>
            <a:prstDash val="solid"/>
          </a:ln>
        </p:spPr>
      </p:sp>
      <p:sp>
        <p:nvSpPr>
          <p:cNvPr id="41" name="Text 39"/>
          <p:cNvSpPr/>
          <p:nvPr/>
        </p:nvSpPr>
        <p:spPr>
          <a:xfrm>
            <a:off x="6793992" y="4041648"/>
            <a:ext cx="256032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398E82"/>
                </a:solidFill>
                <a:latin typeface="Aptos" pitchFamily="34" charset="0"/>
                <a:ea typeface="Aptos" pitchFamily="34" charset="-122"/>
                <a:cs typeface="Aptos" pitchFamily="34" charset="-120"/>
              </a:rPr>
              <a:t>WHY ENGINEER IT?</a:t>
            </a:r>
            <a:endParaRPr lang="en-US" sz="800" dirty="0"/>
          </a:p>
        </p:txBody>
      </p:sp>
      <p:sp>
        <p:nvSpPr>
          <p:cNvPr id="42" name="Text 40"/>
          <p:cNvSpPr/>
          <p:nvPr/>
        </p:nvSpPr>
        <p:spPr>
          <a:xfrm>
            <a:off x="6793992" y="4407408"/>
            <a:ext cx="3749040" cy="521208"/>
          </a:xfrm>
          <a:prstGeom prst="rect">
            <a:avLst/>
          </a:prstGeom>
          <a:noFill/>
          <a:ln/>
        </p:spPr>
        <p:txBody>
          <a:bodyPr wrap="square" lIns="0" tIns="0" rIns="0" bIns="0" rtlCol="0" anchor="ctr">
            <a:normAutofit/>
          </a:bodyPr>
          <a:lstStyle/>
          <a:p>
            <a:pPr algn="l" indent="0" marL="0">
              <a:buNone/>
            </a:pPr>
            <a:r>
              <a:rPr lang="en-US" sz="1600" b="1" dirty="0">
                <a:solidFill>
                  <a:srgbClr val="213B52"/>
                </a:solidFill>
                <a:latin typeface="Georgia" pitchFamily="34" charset="0"/>
                <a:ea typeface="Georgia" pitchFamily="34" charset="-122"/>
                <a:cs typeface="Georgia" pitchFamily="34" charset="-120"/>
              </a:rPr>
              <a:t>One interpretable feature captures the size of a passenger’s travelling family group.</a:t>
            </a:r>
            <a:endParaRPr lang="en-US" sz="1600" dirty="0"/>
          </a:p>
        </p:txBody>
      </p:sp>
      <p:sp>
        <p:nvSpPr>
          <p:cNvPr id="43" name="Text 41"/>
          <p:cNvSpPr/>
          <p:nvPr/>
        </p:nvSpPr>
        <p:spPr>
          <a:xfrm>
            <a:off x="6793992" y="5166360"/>
            <a:ext cx="338328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The web form uses this same definition.</a:t>
            </a:r>
            <a:endParaRPr lang="en-US" sz="900" dirty="0"/>
          </a:p>
        </p:txBody>
      </p:sp>
      <p:sp>
        <p:nvSpPr>
          <p:cNvPr id="45" name="Text 42">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46" name="Text 43">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47" name="Text 44">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48" name="Text 45">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49" name="Text 46">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04 / DATA PREPARATION</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Keep the target out of the inputs</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Preprocessing is bundled into the saved pipeline so training and prediction follow the same transformations.</a:t>
            </a:r>
            <a:endParaRPr lang="en-US" sz="1100" dirty="0"/>
          </a:p>
        </p:txBody>
      </p:sp>
      <p:sp>
        <p:nvSpPr>
          <p:cNvPr id="5" name="Shape 3"/>
          <p:cNvSpPr/>
          <p:nvPr/>
        </p:nvSpPr>
        <p:spPr>
          <a:xfrm>
            <a:off x="731520" y="1737360"/>
            <a:ext cx="5120640" cy="2148840"/>
          </a:xfrm>
          <a:prstGeom prst="roundRect">
            <a:avLst>
              <a:gd name="adj" fmla="val 3404"/>
            </a:avLst>
          </a:prstGeom>
          <a:solidFill>
            <a:srgbClr val="FFFFFF"/>
          </a:solidFill>
          <a:ln w="10160">
            <a:solidFill>
              <a:srgbClr val="D8E0DC"/>
            </a:solidFill>
            <a:prstDash val="solid"/>
          </a:ln>
        </p:spPr>
      </p:sp>
      <p:sp>
        <p:nvSpPr>
          <p:cNvPr id="6" name="Shape 4"/>
          <p:cNvSpPr/>
          <p:nvPr/>
        </p:nvSpPr>
        <p:spPr>
          <a:xfrm>
            <a:off x="932688" y="1956816"/>
            <a:ext cx="1097280" cy="256032"/>
          </a:xfrm>
          <a:prstGeom prst="roundRect">
            <a:avLst>
              <a:gd name="adj" fmla="val 28571"/>
            </a:avLst>
          </a:prstGeom>
          <a:solidFill>
            <a:srgbClr val="E3F0E9"/>
          </a:solidFill>
          <a:ln w="12700">
            <a:solidFill>
              <a:srgbClr val="E3F0E9">
                <a:alpha val="0"/>
              </a:srgbClr>
            </a:solidFill>
            <a:prstDash val="solid"/>
          </a:ln>
        </p:spPr>
      </p:sp>
      <p:sp>
        <p:nvSpPr>
          <p:cNvPr id="7" name="Text 5"/>
          <p:cNvSpPr/>
          <p:nvPr/>
        </p:nvSpPr>
        <p:spPr>
          <a:xfrm>
            <a:off x="1005840" y="1970532"/>
            <a:ext cx="950976" cy="219456"/>
          </a:xfrm>
          <a:prstGeom prst="rect">
            <a:avLst/>
          </a:prstGeom>
          <a:noFill/>
          <a:ln/>
        </p:spPr>
        <p:txBody>
          <a:bodyPr wrap="square" lIns="0" tIns="0" rIns="0" bIns="0" rtlCol="0" anchor="ctr">
            <a:normAutofit/>
          </a:bodyPr>
          <a:lstStyle/>
          <a:p>
            <a:pPr algn="l" indent="0" marL="0">
              <a:buNone/>
            </a:pPr>
            <a:r>
              <a:rPr lang="en-US" sz="800" b="1" spc="30" kern="0" dirty="0">
                <a:solidFill>
                  <a:srgbClr val="398E82"/>
                </a:solidFill>
                <a:latin typeface="Aptos" pitchFamily="34" charset="0"/>
                <a:ea typeface="Aptos" pitchFamily="34" charset="-122"/>
                <a:cs typeface="Aptos" pitchFamily="34" charset="-120"/>
              </a:rPr>
              <a:t>NUMERIC</a:t>
            </a:r>
            <a:endParaRPr lang="en-US" sz="800" dirty="0"/>
          </a:p>
        </p:txBody>
      </p:sp>
      <p:sp>
        <p:nvSpPr>
          <p:cNvPr id="8" name="Text 6"/>
          <p:cNvSpPr/>
          <p:nvPr/>
        </p:nvSpPr>
        <p:spPr>
          <a:xfrm>
            <a:off x="932688" y="2395728"/>
            <a:ext cx="4572000" cy="246888"/>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age • family_size • fare</a:t>
            </a:r>
            <a:endParaRPr lang="en-US" sz="1500" dirty="0"/>
          </a:p>
        </p:txBody>
      </p:sp>
      <p:sp>
        <p:nvSpPr>
          <p:cNvPr id="9" name="Shape 7"/>
          <p:cNvSpPr/>
          <p:nvPr/>
        </p:nvSpPr>
        <p:spPr>
          <a:xfrm>
            <a:off x="932688" y="2834640"/>
            <a:ext cx="4663440" cy="0"/>
          </a:xfrm>
          <a:prstGeom prst="line">
            <a:avLst/>
          </a:prstGeom>
          <a:noFill/>
          <a:ln w="10160">
            <a:solidFill>
              <a:srgbClr val="D8E0DC"/>
            </a:solidFill>
            <a:prstDash val="solid"/>
            <a:headEnd type="none"/>
            <a:tailEnd type="none"/>
          </a:ln>
        </p:spPr>
      </p:sp>
      <p:sp>
        <p:nvSpPr>
          <p:cNvPr id="10" name="Text 8"/>
          <p:cNvSpPr/>
          <p:nvPr/>
        </p:nvSpPr>
        <p:spPr>
          <a:xfrm>
            <a:off x="932688" y="2999232"/>
            <a:ext cx="1463040" cy="164592"/>
          </a:xfrm>
          <a:prstGeom prst="rect">
            <a:avLst/>
          </a:prstGeom>
          <a:noFill/>
          <a:ln/>
        </p:spPr>
        <p:txBody>
          <a:bodyPr wrap="square" lIns="0" tIns="0" rIns="0" bIns="0" rtlCol="0" anchor="ctr">
            <a:normAutofit/>
          </a:bodyPr>
          <a:lstStyle/>
          <a:p>
            <a:pPr algn="l" indent="0" marL="0">
              <a:buNone/>
            </a:pPr>
            <a:r>
              <a:rPr lang="en-US" sz="800" b="1" dirty="0">
                <a:solidFill>
                  <a:srgbClr val="71838D"/>
                </a:solidFill>
                <a:latin typeface="Aptos" pitchFamily="34" charset="0"/>
                <a:ea typeface="Aptos" pitchFamily="34" charset="-122"/>
                <a:cs typeface="Aptos" pitchFamily="34" charset="-120"/>
              </a:rPr>
              <a:t>Missing values</a:t>
            </a:r>
            <a:endParaRPr lang="en-US" sz="800" dirty="0"/>
          </a:p>
        </p:txBody>
      </p:sp>
      <p:sp>
        <p:nvSpPr>
          <p:cNvPr id="11" name="Text 9"/>
          <p:cNvSpPr/>
          <p:nvPr/>
        </p:nvSpPr>
        <p:spPr>
          <a:xfrm>
            <a:off x="2560320" y="2999232"/>
            <a:ext cx="2926080" cy="16459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Median imputation</a:t>
            </a:r>
            <a:endParaRPr lang="en-US" sz="900" dirty="0"/>
          </a:p>
        </p:txBody>
      </p:sp>
      <p:sp>
        <p:nvSpPr>
          <p:cNvPr id="12" name="Text 10"/>
          <p:cNvSpPr/>
          <p:nvPr/>
        </p:nvSpPr>
        <p:spPr>
          <a:xfrm>
            <a:off x="932688" y="3383280"/>
            <a:ext cx="1463040" cy="164592"/>
          </a:xfrm>
          <a:prstGeom prst="rect">
            <a:avLst/>
          </a:prstGeom>
          <a:noFill/>
          <a:ln/>
        </p:spPr>
        <p:txBody>
          <a:bodyPr wrap="square" lIns="0" tIns="0" rIns="0" bIns="0" rtlCol="0" anchor="ctr">
            <a:normAutofit/>
          </a:bodyPr>
          <a:lstStyle/>
          <a:p>
            <a:pPr algn="l" indent="0" marL="0">
              <a:buNone/>
            </a:pPr>
            <a:r>
              <a:rPr lang="en-US" sz="800" b="1" dirty="0">
                <a:solidFill>
                  <a:srgbClr val="71838D"/>
                </a:solidFill>
                <a:latin typeface="Aptos" pitchFamily="34" charset="0"/>
                <a:ea typeface="Aptos" pitchFamily="34" charset="-122"/>
                <a:cs typeface="Aptos" pitchFamily="34" charset="-120"/>
              </a:rPr>
              <a:t>Transform</a:t>
            </a:r>
            <a:endParaRPr lang="en-US" sz="800" dirty="0"/>
          </a:p>
        </p:txBody>
      </p:sp>
      <p:sp>
        <p:nvSpPr>
          <p:cNvPr id="13" name="Text 11"/>
          <p:cNvSpPr/>
          <p:nvPr/>
        </p:nvSpPr>
        <p:spPr>
          <a:xfrm>
            <a:off x="2560320" y="3383280"/>
            <a:ext cx="2926080" cy="16459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Standard scaling</a:t>
            </a:r>
            <a:endParaRPr lang="en-US" sz="900" dirty="0"/>
          </a:p>
        </p:txBody>
      </p:sp>
      <p:sp>
        <p:nvSpPr>
          <p:cNvPr id="14" name="Shape 12"/>
          <p:cNvSpPr/>
          <p:nvPr/>
        </p:nvSpPr>
        <p:spPr>
          <a:xfrm>
            <a:off x="6309360" y="1737360"/>
            <a:ext cx="5120640" cy="2148840"/>
          </a:xfrm>
          <a:prstGeom prst="roundRect">
            <a:avLst>
              <a:gd name="adj" fmla="val 3404"/>
            </a:avLst>
          </a:prstGeom>
          <a:solidFill>
            <a:srgbClr val="FFFFFF"/>
          </a:solidFill>
          <a:ln w="10160">
            <a:solidFill>
              <a:srgbClr val="D8E0DC"/>
            </a:solidFill>
            <a:prstDash val="solid"/>
          </a:ln>
        </p:spPr>
      </p:sp>
      <p:sp>
        <p:nvSpPr>
          <p:cNvPr id="15" name="Shape 13"/>
          <p:cNvSpPr/>
          <p:nvPr/>
        </p:nvSpPr>
        <p:spPr>
          <a:xfrm>
            <a:off x="6510528" y="1956816"/>
            <a:ext cx="1097280" cy="256032"/>
          </a:xfrm>
          <a:prstGeom prst="roundRect">
            <a:avLst>
              <a:gd name="adj" fmla="val 28571"/>
            </a:avLst>
          </a:prstGeom>
          <a:solidFill>
            <a:srgbClr val="F7E7E1"/>
          </a:solidFill>
          <a:ln w="12700">
            <a:solidFill>
              <a:srgbClr val="F7E7E1">
                <a:alpha val="0"/>
              </a:srgbClr>
            </a:solidFill>
            <a:prstDash val="solid"/>
          </a:ln>
        </p:spPr>
      </p:sp>
      <p:sp>
        <p:nvSpPr>
          <p:cNvPr id="16" name="Text 14"/>
          <p:cNvSpPr/>
          <p:nvPr/>
        </p:nvSpPr>
        <p:spPr>
          <a:xfrm>
            <a:off x="6583680" y="1970532"/>
            <a:ext cx="950976" cy="219456"/>
          </a:xfrm>
          <a:prstGeom prst="rect">
            <a:avLst/>
          </a:prstGeom>
          <a:noFill/>
          <a:ln/>
        </p:spPr>
        <p:txBody>
          <a:bodyPr wrap="square" lIns="0" tIns="0" rIns="0" bIns="0" rtlCol="0" anchor="ctr">
            <a:normAutofit/>
          </a:bodyPr>
          <a:lstStyle/>
          <a:p>
            <a:pPr algn="l" indent="0" marL="0">
              <a:buNone/>
            </a:pPr>
            <a:r>
              <a:rPr lang="en-US" sz="800" b="1" spc="30" kern="0" dirty="0">
                <a:solidFill>
                  <a:srgbClr val="E77765"/>
                </a:solidFill>
                <a:latin typeface="Aptos" pitchFamily="34" charset="0"/>
                <a:ea typeface="Aptos" pitchFamily="34" charset="-122"/>
                <a:cs typeface="Aptos" pitchFamily="34" charset="-120"/>
              </a:rPr>
              <a:t>CATEGORICAL</a:t>
            </a:r>
            <a:endParaRPr lang="en-US" sz="800" dirty="0"/>
          </a:p>
        </p:txBody>
      </p:sp>
      <p:sp>
        <p:nvSpPr>
          <p:cNvPr id="17" name="Text 15"/>
          <p:cNvSpPr/>
          <p:nvPr/>
        </p:nvSpPr>
        <p:spPr>
          <a:xfrm>
            <a:off x="6510528" y="2395728"/>
            <a:ext cx="4572000" cy="246888"/>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pclass • sex • embarked</a:t>
            </a:r>
            <a:endParaRPr lang="en-US" sz="1500" dirty="0"/>
          </a:p>
        </p:txBody>
      </p:sp>
      <p:sp>
        <p:nvSpPr>
          <p:cNvPr id="18" name="Shape 16"/>
          <p:cNvSpPr/>
          <p:nvPr/>
        </p:nvSpPr>
        <p:spPr>
          <a:xfrm>
            <a:off x="6510528" y="2834640"/>
            <a:ext cx="4663440" cy="0"/>
          </a:xfrm>
          <a:prstGeom prst="line">
            <a:avLst/>
          </a:prstGeom>
          <a:noFill/>
          <a:ln w="10160">
            <a:solidFill>
              <a:srgbClr val="D8E0DC"/>
            </a:solidFill>
            <a:prstDash val="solid"/>
            <a:headEnd type="none"/>
            <a:tailEnd type="none"/>
          </a:ln>
        </p:spPr>
      </p:sp>
      <p:sp>
        <p:nvSpPr>
          <p:cNvPr id="19" name="Text 17"/>
          <p:cNvSpPr/>
          <p:nvPr/>
        </p:nvSpPr>
        <p:spPr>
          <a:xfrm>
            <a:off x="6510528" y="2999232"/>
            <a:ext cx="1463040" cy="164592"/>
          </a:xfrm>
          <a:prstGeom prst="rect">
            <a:avLst/>
          </a:prstGeom>
          <a:noFill/>
          <a:ln/>
        </p:spPr>
        <p:txBody>
          <a:bodyPr wrap="square" lIns="0" tIns="0" rIns="0" bIns="0" rtlCol="0" anchor="ctr">
            <a:normAutofit/>
          </a:bodyPr>
          <a:lstStyle/>
          <a:p>
            <a:pPr algn="l" indent="0" marL="0">
              <a:buNone/>
            </a:pPr>
            <a:r>
              <a:rPr lang="en-US" sz="800" b="1" dirty="0">
                <a:solidFill>
                  <a:srgbClr val="71838D"/>
                </a:solidFill>
                <a:latin typeface="Aptos" pitchFamily="34" charset="0"/>
                <a:ea typeface="Aptos" pitchFamily="34" charset="-122"/>
                <a:cs typeface="Aptos" pitchFamily="34" charset="-120"/>
              </a:rPr>
              <a:t>Missing values</a:t>
            </a:r>
            <a:endParaRPr lang="en-US" sz="800" dirty="0"/>
          </a:p>
        </p:txBody>
      </p:sp>
      <p:sp>
        <p:nvSpPr>
          <p:cNvPr id="20" name="Text 18"/>
          <p:cNvSpPr/>
          <p:nvPr/>
        </p:nvSpPr>
        <p:spPr>
          <a:xfrm>
            <a:off x="8138160" y="2999232"/>
            <a:ext cx="2926080" cy="16459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Most-frequent fill</a:t>
            </a:r>
            <a:endParaRPr lang="en-US" sz="900" dirty="0"/>
          </a:p>
        </p:txBody>
      </p:sp>
      <p:sp>
        <p:nvSpPr>
          <p:cNvPr id="21" name="Text 19"/>
          <p:cNvSpPr/>
          <p:nvPr/>
        </p:nvSpPr>
        <p:spPr>
          <a:xfrm>
            <a:off x="6510528" y="3383280"/>
            <a:ext cx="1463040" cy="164592"/>
          </a:xfrm>
          <a:prstGeom prst="rect">
            <a:avLst/>
          </a:prstGeom>
          <a:noFill/>
          <a:ln/>
        </p:spPr>
        <p:txBody>
          <a:bodyPr wrap="square" lIns="0" tIns="0" rIns="0" bIns="0" rtlCol="0" anchor="ctr">
            <a:normAutofit/>
          </a:bodyPr>
          <a:lstStyle/>
          <a:p>
            <a:pPr algn="l" indent="0" marL="0">
              <a:buNone/>
            </a:pPr>
            <a:r>
              <a:rPr lang="en-US" sz="800" b="1" dirty="0">
                <a:solidFill>
                  <a:srgbClr val="71838D"/>
                </a:solidFill>
                <a:latin typeface="Aptos" pitchFamily="34" charset="0"/>
                <a:ea typeface="Aptos" pitchFamily="34" charset="-122"/>
                <a:cs typeface="Aptos" pitchFamily="34" charset="-120"/>
              </a:rPr>
              <a:t>Transform</a:t>
            </a:r>
            <a:endParaRPr lang="en-US" sz="800" dirty="0"/>
          </a:p>
        </p:txBody>
      </p:sp>
      <p:sp>
        <p:nvSpPr>
          <p:cNvPr id="22" name="Text 20"/>
          <p:cNvSpPr/>
          <p:nvPr/>
        </p:nvSpPr>
        <p:spPr>
          <a:xfrm>
            <a:off x="8138160" y="3383280"/>
            <a:ext cx="2926080" cy="16459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One-hot encoding</a:t>
            </a:r>
            <a:endParaRPr lang="en-US" sz="900" dirty="0"/>
          </a:p>
        </p:txBody>
      </p:sp>
      <p:sp>
        <p:nvSpPr>
          <p:cNvPr id="23" name="Shape 21"/>
          <p:cNvSpPr/>
          <p:nvPr/>
        </p:nvSpPr>
        <p:spPr>
          <a:xfrm>
            <a:off x="731520" y="4251960"/>
            <a:ext cx="10744200" cy="1325880"/>
          </a:xfrm>
          <a:prstGeom prst="roundRect">
            <a:avLst>
              <a:gd name="adj" fmla="val 5517"/>
            </a:avLst>
          </a:prstGeom>
          <a:solidFill>
            <a:srgbClr val="142F49"/>
          </a:solidFill>
          <a:ln w="12700">
            <a:solidFill>
              <a:srgbClr val="142F49">
                <a:alpha val="0"/>
              </a:srgbClr>
            </a:solidFill>
            <a:prstDash val="solid"/>
          </a:ln>
        </p:spPr>
      </p:sp>
      <p:sp>
        <p:nvSpPr>
          <p:cNvPr id="24" name="Text 22"/>
          <p:cNvSpPr/>
          <p:nvPr/>
        </p:nvSpPr>
        <p:spPr>
          <a:xfrm>
            <a:off x="1024128" y="4507992"/>
            <a:ext cx="1737360" cy="182880"/>
          </a:xfrm>
          <a:prstGeom prst="rect">
            <a:avLst/>
          </a:prstGeom>
          <a:noFill/>
          <a:ln/>
        </p:spPr>
        <p:txBody>
          <a:bodyPr wrap="square" lIns="0" tIns="0" rIns="0" bIns="0" rtlCol="0" anchor="ctr">
            <a:normAutofit/>
          </a:bodyPr>
          <a:lstStyle/>
          <a:p>
            <a:pPr algn="l" indent="0" marL="0">
              <a:buNone/>
            </a:pPr>
            <a:r>
              <a:rPr lang="en-US" sz="800" b="1" spc="120" kern="0" dirty="0">
                <a:solidFill>
                  <a:srgbClr val="D1A56A"/>
                </a:solidFill>
                <a:latin typeface="Aptos" pitchFamily="34" charset="0"/>
                <a:ea typeface="Aptos" pitchFamily="34" charset="-122"/>
                <a:cs typeface="Aptos" pitchFamily="34" charset="-120"/>
              </a:rPr>
              <a:t>LEAKAGE CHECK</a:t>
            </a:r>
            <a:endParaRPr lang="en-US" sz="800" dirty="0"/>
          </a:p>
        </p:txBody>
      </p:sp>
      <p:sp>
        <p:nvSpPr>
          <p:cNvPr id="25" name="Text 23"/>
          <p:cNvSpPr/>
          <p:nvPr/>
        </p:nvSpPr>
        <p:spPr>
          <a:xfrm>
            <a:off x="2834640" y="4471416"/>
            <a:ext cx="8138160" cy="246888"/>
          </a:xfrm>
          <a:prstGeom prst="rect">
            <a:avLst/>
          </a:prstGeom>
          <a:noFill/>
          <a:ln/>
        </p:spPr>
        <p:txBody>
          <a:bodyPr wrap="square" lIns="0" tIns="0" rIns="0" bIns="0" rtlCol="0" anchor="ctr">
            <a:normAutofit/>
          </a:bodyPr>
          <a:lstStyle/>
          <a:p>
            <a:pPr algn="l" indent="0" marL="0">
              <a:buNone/>
            </a:pPr>
            <a:r>
              <a:rPr lang="en-US" sz="1500" b="1" dirty="0">
                <a:solidFill>
                  <a:srgbClr val="FAF8F1"/>
                </a:solidFill>
                <a:latin typeface="Georgia" pitchFamily="34" charset="0"/>
                <a:ea typeface="Georgia" pitchFamily="34" charset="-122"/>
                <a:cs typeface="Georgia" pitchFamily="34" charset="-120"/>
              </a:rPr>
              <a:t>`alive` is a text duplicate of `survived` — never feed it to the model.</a:t>
            </a:r>
            <a:endParaRPr lang="en-US" sz="1500" dirty="0"/>
          </a:p>
        </p:txBody>
      </p:sp>
      <p:sp>
        <p:nvSpPr>
          <p:cNvPr id="26" name="Text 24"/>
          <p:cNvSpPr/>
          <p:nvPr/>
        </p:nvSpPr>
        <p:spPr>
          <a:xfrm>
            <a:off x="1024128" y="4956048"/>
            <a:ext cx="9875520" cy="320040"/>
          </a:xfrm>
          <a:prstGeom prst="rect">
            <a:avLst/>
          </a:prstGeom>
          <a:noFill/>
          <a:ln/>
        </p:spPr>
        <p:txBody>
          <a:bodyPr wrap="square" lIns="0" tIns="0" rIns="0" bIns="0" rtlCol="0" anchor="ctr">
            <a:normAutofit/>
          </a:bodyPr>
          <a:lstStyle/>
          <a:p>
            <a:pPr algn="l" indent="0" marL="0">
              <a:buNone/>
            </a:pPr>
            <a:r>
              <a:rPr lang="en-US" sz="1000" dirty="0">
                <a:solidFill>
                  <a:srgbClr val="D1DEDA"/>
                </a:solidFill>
                <a:latin typeface="Aptos" pitchFamily="34" charset="0"/>
                <a:ea typeface="Aptos" pitchFamily="34" charset="-122"/>
                <a:cs typeface="Aptos" pitchFamily="34" charset="-120"/>
              </a:rPr>
              <a:t>Also exclude the row index and redundant representations (for example `class` alongside `pclass`). Split before fitting preprocessing.</a:t>
            </a:r>
            <a:endParaRPr lang="en-US" sz="1000" dirty="0"/>
          </a:p>
        </p:txBody>
      </p:sp>
      <p:sp>
        <p:nvSpPr>
          <p:cNvPr id="28" name="Text 25">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29" name="Text 26">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30" name="Text 27">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31" name="Text 28">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32" name="Text 29">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05 / WORKFLOW</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From passenger rows to an estimate</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A stratified holdout evaluates the pipeline before a final demo model is refit on all available rows.</a:t>
            </a:r>
            <a:endParaRPr lang="en-US" sz="1100" dirty="0"/>
          </a:p>
        </p:txBody>
      </p:sp>
      <p:sp>
        <p:nvSpPr>
          <p:cNvPr id="5" name="Shape 3"/>
          <p:cNvSpPr/>
          <p:nvPr/>
        </p:nvSpPr>
        <p:spPr>
          <a:xfrm>
            <a:off x="658368" y="2084832"/>
            <a:ext cx="1298448" cy="1143000"/>
          </a:xfrm>
          <a:prstGeom prst="roundRect">
            <a:avLst>
              <a:gd name="adj" fmla="val 6400"/>
            </a:avLst>
          </a:prstGeom>
          <a:solidFill>
            <a:srgbClr val="FFFFFF"/>
          </a:solidFill>
          <a:ln w="10160">
            <a:solidFill>
              <a:srgbClr val="D8E0DC"/>
            </a:solidFill>
            <a:prstDash val="solid"/>
          </a:ln>
        </p:spPr>
      </p:sp>
      <p:sp>
        <p:nvSpPr>
          <p:cNvPr id="6" name="Shape 4"/>
          <p:cNvSpPr/>
          <p:nvPr/>
        </p:nvSpPr>
        <p:spPr>
          <a:xfrm>
            <a:off x="768096" y="2203704"/>
            <a:ext cx="246888" cy="246888"/>
          </a:xfrm>
          <a:prstGeom prst="ellipse">
            <a:avLst/>
          </a:prstGeom>
          <a:solidFill>
            <a:srgbClr val="E3F0E9"/>
          </a:solidFill>
          <a:ln w="8890">
            <a:solidFill>
              <a:srgbClr val="E3F0E9"/>
            </a:solidFill>
            <a:prstDash val="solid"/>
          </a:ln>
        </p:spPr>
      </p:sp>
      <p:sp>
        <p:nvSpPr>
          <p:cNvPr id="7" name="Text 5"/>
          <p:cNvSpPr/>
          <p:nvPr/>
        </p:nvSpPr>
        <p:spPr>
          <a:xfrm>
            <a:off x="768096"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01</a:t>
            </a:r>
            <a:endParaRPr lang="en-US" sz="700" dirty="0"/>
          </a:p>
        </p:txBody>
      </p:sp>
      <p:sp>
        <p:nvSpPr>
          <p:cNvPr id="8" name="Text 6"/>
          <p:cNvSpPr/>
          <p:nvPr/>
        </p:nvSpPr>
        <p:spPr>
          <a:xfrm>
            <a:off x="777240"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CSV</a:t>
            </a:r>
            <a:endParaRPr lang="en-US" sz="1100" dirty="0"/>
          </a:p>
        </p:txBody>
      </p:sp>
      <p:sp>
        <p:nvSpPr>
          <p:cNvPr id="9" name="Text 7"/>
          <p:cNvSpPr/>
          <p:nvPr/>
        </p:nvSpPr>
        <p:spPr>
          <a:xfrm>
            <a:off x="777240"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891 rows</a:t>
            </a:r>
            <a:endParaRPr lang="en-US" sz="700" dirty="0"/>
          </a:p>
        </p:txBody>
      </p:sp>
      <p:sp>
        <p:nvSpPr>
          <p:cNvPr id="10" name="Shape 8"/>
          <p:cNvSpPr/>
          <p:nvPr/>
        </p:nvSpPr>
        <p:spPr>
          <a:xfrm>
            <a:off x="1975104" y="2651760"/>
            <a:ext cx="118872" cy="0"/>
          </a:xfrm>
          <a:prstGeom prst="line">
            <a:avLst/>
          </a:prstGeom>
          <a:noFill/>
          <a:ln w="19050">
            <a:solidFill>
              <a:srgbClr val="D1A56A"/>
            </a:solidFill>
            <a:prstDash val="solid"/>
            <a:headEnd type="none"/>
            <a:tailEnd type="none"/>
          </a:ln>
        </p:spPr>
      </p:sp>
      <p:sp>
        <p:nvSpPr>
          <p:cNvPr id="11" name="Shape 9"/>
          <p:cNvSpPr/>
          <p:nvPr/>
        </p:nvSpPr>
        <p:spPr>
          <a:xfrm>
            <a:off x="2112264" y="2084832"/>
            <a:ext cx="1298448" cy="1143000"/>
          </a:xfrm>
          <a:prstGeom prst="roundRect">
            <a:avLst>
              <a:gd name="adj" fmla="val 6400"/>
            </a:avLst>
          </a:prstGeom>
          <a:solidFill>
            <a:srgbClr val="FFFFFF"/>
          </a:solidFill>
          <a:ln w="10160">
            <a:solidFill>
              <a:srgbClr val="D8E0DC"/>
            </a:solidFill>
            <a:prstDash val="solid"/>
          </a:ln>
        </p:spPr>
      </p:sp>
      <p:sp>
        <p:nvSpPr>
          <p:cNvPr id="12" name="Shape 10"/>
          <p:cNvSpPr/>
          <p:nvPr/>
        </p:nvSpPr>
        <p:spPr>
          <a:xfrm>
            <a:off x="2221992" y="2203704"/>
            <a:ext cx="246888" cy="246888"/>
          </a:xfrm>
          <a:prstGeom prst="ellipse">
            <a:avLst/>
          </a:prstGeom>
          <a:solidFill>
            <a:srgbClr val="E3F0E9"/>
          </a:solidFill>
          <a:ln w="8890">
            <a:solidFill>
              <a:srgbClr val="E3F0E9"/>
            </a:solidFill>
            <a:prstDash val="solid"/>
          </a:ln>
        </p:spPr>
      </p:sp>
      <p:sp>
        <p:nvSpPr>
          <p:cNvPr id="13" name="Text 11"/>
          <p:cNvSpPr/>
          <p:nvPr/>
        </p:nvSpPr>
        <p:spPr>
          <a:xfrm>
            <a:off x="2221992"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02</a:t>
            </a:r>
            <a:endParaRPr lang="en-US" sz="700" dirty="0"/>
          </a:p>
        </p:txBody>
      </p:sp>
      <p:sp>
        <p:nvSpPr>
          <p:cNvPr id="14" name="Text 12"/>
          <p:cNvSpPr/>
          <p:nvPr/>
        </p:nvSpPr>
        <p:spPr>
          <a:xfrm>
            <a:off x="2231136"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EDA</a:t>
            </a:r>
            <a:endParaRPr lang="en-US" sz="1100" dirty="0"/>
          </a:p>
        </p:txBody>
      </p:sp>
      <p:sp>
        <p:nvSpPr>
          <p:cNvPr id="15" name="Text 13"/>
          <p:cNvSpPr/>
          <p:nvPr/>
        </p:nvSpPr>
        <p:spPr>
          <a:xfrm>
            <a:off x="2231136"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Patterns + gaps</a:t>
            </a:r>
            <a:endParaRPr lang="en-US" sz="700" dirty="0"/>
          </a:p>
        </p:txBody>
      </p:sp>
      <p:sp>
        <p:nvSpPr>
          <p:cNvPr id="16" name="Shape 14"/>
          <p:cNvSpPr/>
          <p:nvPr/>
        </p:nvSpPr>
        <p:spPr>
          <a:xfrm>
            <a:off x="3429000" y="2651760"/>
            <a:ext cx="118872" cy="0"/>
          </a:xfrm>
          <a:prstGeom prst="line">
            <a:avLst/>
          </a:prstGeom>
          <a:noFill/>
          <a:ln w="19050">
            <a:solidFill>
              <a:srgbClr val="D1A56A"/>
            </a:solidFill>
            <a:prstDash val="solid"/>
            <a:headEnd type="none"/>
            <a:tailEnd type="none"/>
          </a:ln>
        </p:spPr>
      </p:sp>
      <p:sp>
        <p:nvSpPr>
          <p:cNvPr id="17" name="Shape 15"/>
          <p:cNvSpPr/>
          <p:nvPr/>
        </p:nvSpPr>
        <p:spPr>
          <a:xfrm>
            <a:off x="3566160" y="2084832"/>
            <a:ext cx="1298448" cy="1143000"/>
          </a:xfrm>
          <a:prstGeom prst="roundRect">
            <a:avLst>
              <a:gd name="adj" fmla="val 6400"/>
            </a:avLst>
          </a:prstGeom>
          <a:solidFill>
            <a:srgbClr val="FFFFFF"/>
          </a:solidFill>
          <a:ln w="10160">
            <a:solidFill>
              <a:srgbClr val="D8E0DC"/>
            </a:solidFill>
            <a:prstDash val="solid"/>
          </a:ln>
        </p:spPr>
      </p:sp>
      <p:sp>
        <p:nvSpPr>
          <p:cNvPr id="18" name="Shape 16"/>
          <p:cNvSpPr/>
          <p:nvPr/>
        </p:nvSpPr>
        <p:spPr>
          <a:xfrm>
            <a:off x="3675888" y="2203704"/>
            <a:ext cx="246888" cy="246888"/>
          </a:xfrm>
          <a:prstGeom prst="ellipse">
            <a:avLst/>
          </a:prstGeom>
          <a:solidFill>
            <a:srgbClr val="E3F0E9"/>
          </a:solidFill>
          <a:ln w="8890">
            <a:solidFill>
              <a:srgbClr val="E3F0E9"/>
            </a:solidFill>
            <a:prstDash val="solid"/>
          </a:ln>
        </p:spPr>
      </p:sp>
      <p:sp>
        <p:nvSpPr>
          <p:cNvPr id="19" name="Text 17"/>
          <p:cNvSpPr/>
          <p:nvPr/>
        </p:nvSpPr>
        <p:spPr>
          <a:xfrm>
            <a:off x="3675888"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03</a:t>
            </a:r>
            <a:endParaRPr lang="en-US" sz="700" dirty="0"/>
          </a:p>
        </p:txBody>
      </p:sp>
      <p:sp>
        <p:nvSpPr>
          <p:cNvPr id="20" name="Text 18"/>
          <p:cNvSpPr/>
          <p:nvPr/>
        </p:nvSpPr>
        <p:spPr>
          <a:xfrm>
            <a:off x="3685032"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Features</a:t>
            </a:r>
            <a:endParaRPr lang="en-US" sz="1100" dirty="0"/>
          </a:p>
        </p:txBody>
      </p:sp>
      <p:sp>
        <p:nvSpPr>
          <p:cNvPr id="21" name="Text 19"/>
          <p:cNvSpPr/>
          <p:nvPr/>
        </p:nvSpPr>
        <p:spPr>
          <a:xfrm>
            <a:off x="3685032"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family_size</a:t>
            </a:r>
            <a:endParaRPr lang="en-US" sz="700" dirty="0"/>
          </a:p>
        </p:txBody>
      </p:sp>
      <p:sp>
        <p:nvSpPr>
          <p:cNvPr id="22" name="Shape 20"/>
          <p:cNvSpPr/>
          <p:nvPr/>
        </p:nvSpPr>
        <p:spPr>
          <a:xfrm>
            <a:off x="4882896" y="2651760"/>
            <a:ext cx="118872" cy="0"/>
          </a:xfrm>
          <a:prstGeom prst="line">
            <a:avLst/>
          </a:prstGeom>
          <a:noFill/>
          <a:ln w="19050">
            <a:solidFill>
              <a:srgbClr val="D1A56A"/>
            </a:solidFill>
            <a:prstDash val="solid"/>
            <a:headEnd type="none"/>
            <a:tailEnd type="none"/>
          </a:ln>
        </p:spPr>
      </p:sp>
      <p:sp>
        <p:nvSpPr>
          <p:cNvPr id="23" name="Shape 21"/>
          <p:cNvSpPr/>
          <p:nvPr/>
        </p:nvSpPr>
        <p:spPr>
          <a:xfrm>
            <a:off x="5020056" y="2084832"/>
            <a:ext cx="1298448" cy="1143000"/>
          </a:xfrm>
          <a:prstGeom prst="roundRect">
            <a:avLst>
              <a:gd name="adj" fmla="val 6400"/>
            </a:avLst>
          </a:prstGeom>
          <a:solidFill>
            <a:srgbClr val="FFFFFF"/>
          </a:solidFill>
          <a:ln w="10160">
            <a:solidFill>
              <a:srgbClr val="D8E0DC"/>
            </a:solidFill>
            <a:prstDash val="solid"/>
          </a:ln>
        </p:spPr>
      </p:sp>
      <p:sp>
        <p:nvSpPr>
          <p:cNvPr id="24" name="Shape 22"/>
          <p:cNvSpPr/>
          <p:nvPr/>
        </p:nvSpPr>
        <p:spPr>
          <a:xfrm>
            <a:off x="5129784" y="2203704"/>
            <a:ext cx="246888" cy="246888"/>
          </a:xfrm>
          <a:prstGeom prst="ellipse">
            <a:avLst/>
          </a:prstGeom>
          <a:solidFill>
            <a:srgbClr val="E3F0E9"/>
          </a:solidFill>
          <a:ln w="8890">
            <a:solidFill>
              <a:srgbClr val="E3F0E9"/>
            </a:solidFill>
            <a:prstDash val="solid"/>
          </a:ln>
        </p:spPr>
      </p:sp>
      <p:sp>
        <p:nvSpPr>
          <p:cNvPr id="25" name="Text 23"/>
          <p:cNvSpPr/>
          <p:nvPr/>
        </p:nvSpPr>
        <p:spPr>
          <a:xfrm>
            <a:off x="5129784"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04</a:t>
            </a:r>
            <a:endParaRPr lang="en-US" sz="700" dirty="0"/>
          </a:p>
        </p:txBody>
      </p:sp>
      <p:sp>
        <p:nvSpPr>
          <p:cNvPr id="26" name="Text 24"/>
          <p:cNvSpPr/>
          <p:nvPr/>
        </p:nvSpPr>
        <p:spPr>
          <a:xfrm>
            <a:off x="5138928"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Pipeline</a:t>
            </a:r>
            <a:endParaRPr lang="en-US" sz="1100" dirty="0"/>
          </a:p>
        </p:txBody>
      </p:sp>
      <p:sp>
        <p:nvSpPr>
          <p:cNvPr id="27" name="Text 25"/>
          <p:cNvSpPr/>
          <p:nvPr/>
        </p:nvSpPr>
        <p:spPr>
          <a:xfrm>
            <a:off x="5138928"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Impute / encode</a:t>
            </a:r>
            <a:endParaRPr lang="en-US" sz="700" dirty="0"/>
          </a:p>
        </p:txBody>
      </p:sp>
      <p:sp>
        <p:nvSpPr>
          <p:cNvPr id="28" name="Shape 26"/>
          <p:cNvSpPr/>
          <p:nvPr/>
        </p:nvSpPr>
        <p:spPr>
          <a:xfrm>
            <a:off x="6336792" y="2651760"/>
            <a:ext cx="118872" cy="0"/>
          </a:xfrm>
          <a:prstGeom prst="line">
            <a:avLst/>
          </a:prstGeom>
          <a:noFill/>
          <a:ln w="19050">
            <a:solidFill>
              <a:srgbClr val="D1A56A"/>
            </a:solidFill>
            <a:prstDash val="solid"/>
            <a:headEnd type="none"/>
            <a:tailEnd type="none"/>
          </a:ln>
        </p:spPr>
      </p:sp>
      <p:sp>
        <p:nvSpPr>
          <p:cNvPr id="29" name="Shape 27"/>
          <p:cNvSpPr/>
          <p:nvPr/>
        </p:nvSpPr>
        <p:spPr>
          <a:xfrm>
            <a:off x="6473952" y="2084832"/>
            <a:ext cx="1298448" cy="1143000"/>
          </a:xfrm>
          <a:prstGeom prst="roundRect">
            <a:avLst>
              <a:gd name="adj" fmla="val 6400"/>
            </a:avLst>
          </a:prstGeom>
          <a:solidFill>
            <a:srgbClr val="FFFFFF"/>
          </a:solidFill>
          <a:ln w="10160">
            <a:solidFill>
              <a:srgbClr val="D8E0DC"/>
            </a:solidFill>
            <a:prstDash val="solid"/>
          </a:ln>
        </p:spPr>
      </p:sp>
      <p:sp>
        <p:nvSpPr>
          <p:cNvPr id="30" name="Shape 28"/>
          <p:cNvSpPr/>
          <p:nvPr/>
        </p:nvSpPr>
        <p:spPr>
          <a:xfrm>
            <a:off x="6583680" y="2203704"/>
            <a:ext cx="246888" cy="246888"/>
          </a:xfrm>
          <a:prstGeom prst="ellipse">
            <a:avLst/>
          </a:prstGeom>
          <a:solidFill>
            <a:srgbClr val="E3F0E9"/>
          </a:solidFill>
          <a:ln w="8890">
            <a:solidFill>
              <a:srgbClr val="E3F0E9"/>
            </a:solidFill>
            <a:prstDash val="solid"/>
          </a:ln>
        </p:spPr>
      </p:sp>
      <p:sp>
        <p:nvSpPr>
          <p:cNvPr id="31" name="Text 29"/>
          <p:cNvSpPr/>
          <p:nvPr/>
        </p:nvSpPr>
        <p:spPr>
          <a:xfrm>
            <a:off x="6583680"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05</a:t>
            </a:r>
            <a:endParaRPr lang="en-US" sz="700" dirty="0"/>
          </a:p>
        </p:txBody>
      </p:sp>
      <p:sp>
        <p:nvSpPr>
          <p:cNvPr id="32" name="Text 30"/>
          <p:cNvSpPr/>
          <p:nvPr/>
        </p:nvSpPr>
        <p:spPr>
          <a:xfrm>
            <a:off x="6592824"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Compare</a:t>
            </a:r>
            <a:endParaRPr lang="en-US" sz="1100" dirty="0"/>
          </a:p>
        </p:txBody>
      </p:sp>
      <p:sp>
        <p:nvSpPr>
          <p:cNvPr id="33" name="Text 31"/>
          <p:cNvSpPr/>
          <p:nvPr/>
        </p:nvSpPr>
        <p:spPr>
          <a:xfrm>
            <a:off x="6592824"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CV on train</a:t>
            </a:r>
            <a:endParaRPr lang="en-US" sz="700" dirty="0"/>
          </a:p>
        </p:txBody>
      </p:sp>
      <p:sp>
        <p:nvSpPr>
          <p:cNvPr id="34" name="Shape 32"/>
          <p:cNvSpPr/>
          <p:nvPr/>
        </p:nvSpPr>
        <p:spPr>
          <a:xfrm>
            <a:off x="7790688" y="2651760"/>
            <a:ext cx="118872" cy="0"/>
          </a:xfrm>
          <a:prstGeom prst="line">
            <a:avLst/>
          </a:prstGeom>
          <a:noFill/>
          <a:ln w="19050">
            <a:solidFill>
              <a:srgbClr val="D1A56A"/>
            </a:solidFill>
            <a:prstDash val="solid"/>
            <a:headEnd type="none"/>
            <a:tailEnd type="none"/>
          </a:ln>
        </p:spPr>
      </p:sp>
      <p:sp>
        <p:nvSpPr>
          <p:cNvPr id="35" name="Shape 33"/>
          <p:cNvSpPr/>
          <p:nvPr/>
        </p:nvSpPr>
        <p:spPr>
          <a:xfrm>
            <a:off x="7927848" y="2084832"/>
            <a:ext cx="1298448" cy="1143000"/>
          </a:xfrm>
          <a:prstGeom prst="roundRect">
            <a:avLst>
              <a:gd name="adj" fmla="val 6400"/>
            </a:avLst>
          </a:prstGeom>
          <a:solidFill>
            <a:srgbClr val="FFFFFF"/>
          </a:solidFill>
          <a:ln w="10160">
            <a:solidFill>
              <a:srgbClr val="D8E0DC"/>
            </a:solidFill>
            <a:prstDash val="solid"/>
          </a:ln>
        </p:spPr>
      </p:sp>
      <p:sp>
        <p:nvSpPr>
          <p:cNvPr id="36" name="Shape 34"/>
          <p:cNvSpPr/>
          <p:nvPr/>
        </p:nvSpPr>
        <p:spPr>
          <a:xfrm>
            <a:off x="8037576" y="2203704"/>
            <a:ext cx="246888" cy="246888"/>
          </a:xfrm>
          <a:prstGeom prst="ellipse">
            <a:avLst/>
          </a:prstGeom>
          <a:solidFill>
            <a:srgbClr val="E3F0E9"/>
          </a:solidFill>
          <a:ln w="8890">
            <a:solidFill>
              <a:srgbClr val="E3F0E9"/>
            </a:solidFill>
            <a:prstDash val="solid"/>
          </a:ln>
        </p:spPr>
      </p:sp>
      <p:sp>
        <p:nvSpPr>
          <p:cNvPr id="37" name="Text 35"/>
          <p:cNvSpPr/>
          <p:nvPr/>
        </p:nvSpPr>
        <p:spPr>
          <a:xfrm>
            <a:off x="8037576"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06</a:t>
            </a:r>
            <a:endParaRPr lang="en-US" sz="700" dirty="0"/>
          </a:p>
        </p:txBody>
      </p:sp>
      <p:sp>
        <p:nvSpPr>
          <p:cNvPr id="38" name="Text 36"/>
          <p:cNvSpPr/>
          <p:nvPr/>
        </p:nvSpPr>
        <p:spPr>
          <a:xfrm>
            <a:off x="8046720"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Validate</a:t>
            </a:r>
            <a:endParaRPr lang="en-US" sz="1100" dirty="0"/>
          </a:p>
        </p:txBody>
      </p:sp>
      <p:sp>
        <p:nvSpPr>
          <p:cNvPr id="39" name="Text 37"/>
          <p:cNvSpPr/>
          <p:nvPr/>
        </p:nvSpPr>
        <p:spPr>
          <a:xfrm>
            <a:off x="8046720"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Held-out split</a:t>
            </a:r>
            <a:endParaRPr lang="en-US" sz="700" dirty="0"/>
          </a:p>
        </p:txBody>
      </p:sp>
      <p:sp>
        <p:nvSpPr>
          <p:cNvPr id="40" name="Shape 38"/>
          <p:cNvSpPr/>
          <p:nvPr/>
        </p:nvSpPr>
        <p:spPr>
          <a:xfrm>
            <a:off x="9244584" y="2651760"/>
            <a:ext cx="118872" cy="0"/>
          </a:xfrm>
          <a:prstGeom prst="line">
            <a:avLst/>
          </a:prstGeom>
          <a:noFill/>
          <a:ln w="19050">
            <a:solidFill>
              <a:srgbClr val="D1A56A"/>
            </a:solidFill>
            <a:prstDash val="solid"/>
            <a:headEnd type="none"/>
            <a:tailEnd type="none"/>
          </a:ln>
        </p:spPr>
      </p:sp>
      <p:sp>
        <p:nvSpPr>
          <p:cNvPr id="41" name="Shape 39"/>
          <p:cNvSpPr/>
          <p:nvPr/>
        </p:nvSpPr>
        <p:spPr>
          <a:xfrm>
            <a:off x="9381744" y="2084832"/>
            <a:ext cx="1298448" cy="1143000"/>
          </a:xfrm>
          <a:prstGeom prst="roundRect">
            <a:avLst>
              <a:gd name="adj" fmla="val 6400"/>
            </a:avLst>
          </a:prstGeom>
          <a:solidFill>
            <a:srgbClr val="FFFFFF"/>
          </a:solidFill>
          <a:ln w="10160">
            <a:solidFill>
              <a:srgbClr val="D8E0DC"/>
            </a:solidFill>
            <a:prstDash val="solid"/>
          </a:ln>
        </p:spPr>
      </p:sp>
      <p:sp>
        <p:nvSpPr>
          <p:cNvPr id="42" name="Shape 40"/>
          <p:cNvSpPr/>
          <p:nvPr/>
        </p:nvSpPr>
        <p:spPr>
          <a:xfrm>
            <a:off x="9491472" y="2203704"/>
            <a:ext cx="246888" cy="246888"/>
          </a:xfrm>
          <a:prstGeom prst="ellipse">
            <a:avLst/>
          </a:prstGeom>
          <a:solidFill>
            <a:srgbClr val="E3F0E9"/>
          </a:solidFill>
          <a:ln w="8890">
            <a:solidFill>
              <a:srgbClr val="E3F0E9"/>
            </a:solidFill>
            <a:prstDash val="solid"/>
          </a:ln>
        </p:spPr>
      </p:sp>
      <p:sp>
        <p:nvSpPr>
          <p:cNvPr id="43" name="Text 41"/>
          <p:cNvSpPr/>
          <p:nvPr/>
        </p:nvSpPr>
        <p:spPr>
          <a:xfrm>
            <a:off x="9491472"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398E82"/>
                </a:solidFill>
                <a:latin typeface="Aptos" pitchFamily="34" charset="0"/>
                <a:ea typeface="Aptos" pitchFamily="34" charset="-122"/>
                <a:cs typeface="Aptos" pitchFamily="34" charset="-120"/>
              </a:rPr>
              <a:t>07</a:t>
            </a:r>
            <a:endParaRPr lang="en-US" sz="700" dirty="0"/>
          </a:p>
        </p:txBody>
      </p:sp>
      <p:sp>
        <p:nvSpPr>
          <p:cNvPr id="44" name="Text 42"/>
          <p:cNvSpPr/>
          <p:nvPr/>
        </p:nvSpPr>
        <p:spPr>
          <a:xfrm>
            <a:off x="9500616"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213B52"/>
                </a:solidFill>
                <a:latin typeface="Georgia" pitchFamily="34" charset="0"/>
                <a:ea typeface="Georgia" pitchFamily="34" charset="-122"/>
                <a:cs typeface="Georgia" pitchFamily="34" charset="-120"/>
              </a:rPr>
              <a:t>Save</a:t>
            </a:r>
            <a:endParaRPr lang="en-US" sz="1100" dirty="0"/>
          </a:p>
        </p:txBody>
      </p:sp>
      <p:sp>
        <p:nvSpPr>
          <p:cNvPr id="45" name="Text 43"/>
          <p:cNvSpPr/>
          <p:nvPr/>
        </p:nvSpPr>
        <p:spPr>
          <a:xfrm>
            <a:off x="9500616"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71838D"/>
                </a:solidFill>
                <a:latin typeface="Aptos" pitchFamily="34" charset="0"/>
                <a:ea typeface="Aptos" pitchFamily="34" charset="-122"/>
                <a:cs typeface="Aptos" pitchFamily="34" charset="-120"/>
              </a:rPr>
              <a:t>joblib</a:t>
            </a:r>
            <a:endParaRPr lang="en-US" sz="700" dirty="0"/>
          </a:p>
        </p:txBody>
      </p:sp>
      <p:sp>
        <p:nvSpPr>
          <p:cNvPr id="46" name="Shape 44"/>
          <p:cNvSpPr/>
          <p:nvPr/>
        </p:nvSpPr>
        <p:spPr>
          <a:xfrm>
            <a:off x="10698480" y="2651760"/>
            <a:ext cx="118872" cy="0"/>
          </a:xfrm>
          <a:prstGeom prst="line">
            <a:avLst/>
          </a:prstGeom>
          <a:noFill/>
          <a:ln w="19050">
            <a:solidFill>
              <a:srgbClr val="D1A56A"/>
            </a:solidFill>
            <a:prstDash val="solid"/>
            <a:headEnd type="none"/>
            <a:tailEnd type="none"/>
          </a:ln>
        </p:spPr>
      </p:sp>
      <p:sp>
        <p:nvSpPr>
          <p:cNvPr id="47" name="Shape 45"/>
          <p:cNvSpPr/>
          <p:nvPr/>
        </p:nvSpPr>
        <p:spPr>
          <a:xfrm>
            <a:off x="10835640" y="2084832"/>
            <a:ext cx="1298448" cy="1143000"/>
          </a:xfrm>
          <a:prstGeom prst="roundRect">
            <a:avLst>
              <a:gd name="adj" fmla="val 6400"/>
            </a:avLst>
          </a:prstGeom>
          <a:solidFill>
            <a:srgbClr val="142F49"/>
          </a:solidFill>
          <a:ln w="10160">
            <a:solidFill>
              <a:srgbClr val="142F49"/>
            </a:solidFill>
            <a:prstDash val="solid"/>
          </a:ln>
        </p:spPr>
      </p:sp>
      <p:sp>
        <p:nvSpPr>
          <p:cNvPr id="48" name="Shape 46"/>
          <p:cNvSpPr/>
          <p:nvPr/>
        </p:nvSpPr>
        <p:spPr>
          <a:xfrm>
            <a:off x="10945368" y="2203704"/>
            <a:ext cx="246888" cy="246888"/>
          </a:xfrm>
          <a:prstGeom prst="ellipse">
            <a:avLst/>
          </a:prstGeom>
          <a:solidFill>
            <a:srgbClr val="E77765"/>
          </a:solidFill>
          <a:ln w="8890">
            <a:solidFill>
              <a:srgbClr val="E77765"/>
            </a:solidFill>
            <a:prstDash val="solid"/>
          </a:ln>
        </p:spPr>
      </p:sp>
      <p:sp>
        <p:nvSpPr>
          <p:cNvPr id="49" name="Text 47"/>
          <p:cNvSpPr/>
          <p:nvPr/>
        </p:nvSpPr>
        <p:spPr>
          <a:xfrm>
            <a:off x="10945368" y="2240280"/>
            <a:ext cx="246888" cy="146304"/>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08</a:t>
            </a:r>
            <a:endParaRPr lang="en-US" sz="700" dirty="0"/>
          </a:p>
        </p:txBody>
      </p:sp>
      <p:sp>
        <p:nvSpPr>
          <p:cNvPr id="50" name="Text 48"/>
          <p:cNvSpPr/>
          <p:nvPr/>
        </p:nvSpPr>
        <p:spPr>
          <a:xfrm>
            <a:off x="10954512" y="2560320"/>
            <a:ext cx="1060704" cy="228600"/>
          </a:xfrm>
          <a:prstGeom prst="rect">
            <a:avLst/>
          </a:prstGeom>
          <a:noFill/>
          <a:ln/>
        </p:spPr>
        <p:txBody>
          <a:bodyPr wrap="square" lIns="0" tIns="0" rIns="0" bIns="0" rtlCol="0" anchor="ctr">
            <a:normAutofit/>
          </a:bodyPr>
          <a:lstStyle/>
          <a:p>
            <a:pPr algn="l" indent="0" marL="0">
              <a:buNone/>
            </a:pPr>
            <a:r>
              <a:rPr lang="en-US" sz="1100" b="1" dirty="0">
                <a:solidFill>
                  <a:srgbClr val="FAF8F1"/>
                </a:solidFill>
                <a:latin typeface="Georgia" pitchFamily="34" charset="0"/>
                <a:ea typeface="Georgia" pitchFamily="34" charset="-122"/>
                <a:cs typeface="Georgia" pitchFamily="34" charset="-120"/>
              </a:rPr>
              <a:t>Serve</a:t>
            </a:r>
            <a:endParaRPr lang="en-US" sz="1100" dirty="0"/>
          </a:p>
        </p:txBody>
      </p:sp>
      <p:sp>
        <p:nvSpPr>
          <p:cNvPr id="51" name="Text 49"/>
          <p:cNvSpPr/>
          <p:nvPr/>
        </p:nvSpPr>
        <p:spPr>
          <a:xfrm>
            <a:off x="10954512" y="2871216"/>
            <a:ext cx="1060704" cy="182880"/>
          </a:xfrm>
          <a:prstGeom prst="rect">
            <a:avLst/>
          </a:prstGeom>
          <a:noFill/>
          <a:ln/>
        </p:spPr>
        <p:txBody>
          <a:bodyPr wrap="square" lIns="0" tIns="0" rIns="0" bIns="0" rtlCol="0" anchor="ctr">
            <a:normAutofit/>
          </a:bodyPr>
          <a:lstStyle/>
          <a:p>
            <a:pPr algn="l" indent="0" marL="0">
              <a:buNone/>
            </a:pPr>
            <a:r>
              <a:rPr lang="en-US" sz="700" dirty="0">
                <a:solidFill>
                  <a:srgbClr val="D1DEDA"/>
                </a:solidFill>
                <a:latin typeface="Aptos" pitchFamily="34" charset="0"/>
                <a:ea typeface="Aptos" pitchFamily="34" charset="-122"/>
                <a:cs typeface="Aptos" pitchFamily="34" charset="-120"/>
              </a:rPr>
              <a:t>FastAPI + UI</a:t>
            </a:r>
            <a:endParaRPr lang="en-US" sz="700" dirty="0"/>
          </a:p>
        </p:txBody>
      </p:sp>
      <p:sp>
        <p:nvSpPr>
          <p:cNvPr id="52" name="Shape 50"/>
          <p:cNvSpPr/>
          <p:nvPr/>
        </p:nvSpPr>
        <p:spPr>
          <a:xfrm>
            <a:off x="694944" y="3931920"/>
            <a:ext cx="5138928" cy="1417320"/>
          </a:xfrm>
          <a:prstGeom prst="roundRect">
            <a:avLst>
              <a:gd name="adj" fmla="val 5161"/>
            </a:avLst>
          </a:prstGeom>
          <a:solidFill>
            <a:srgbClr val="E3F0E9"/>
          </a:solidFill>
          <a:ln w="12700">
            <a:solidFill>
              <a:srgbClr val="E3F0E9">
                <a:alpha val="0"/>
              </a:srgbClr>
            </a:solidFill>
            <a:prstDash val="solid"/>
          </a:ln>
        </p:spPr>
      </p:sp>
      <p:sp>
        <p:nvSpPr>
          <p:cNvPr id="53" name="Text 51"/>
          <p:cNvSpPr/>
          <p:nvPr/>
        </p:nvSpPr>
        <p:spPr>
          <a:xfrm>
            <a:off x="950976" y="4187952"/>
            <a:ext cx="128016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398E82"/>
                </a:solidFill>
                <a:latin typeface="Aptos" pitchFamily="34" charset="0"/>
                <a:ea typeface="Aptos" pitchFamily="34" charset="-122"/>
                <a:cs typeface="Aptos" pitchFamily="34" charset="-120"/>
              </a:rPr>
              <a:t>TRAINING DATA</a:t>
            </a:r>
            <a:endParaRPr lang="en-US" sz="800" dirty="0"/>
          </a:p>
        </p:txBody>
      </p:sp>
      <p:sp>
        <p:nvSpPr>
          <p:cNvPr id="54" name="Text 52"/>
          <p:cNvSpPr/>
          <p:nvPr/>
        </p:nvSpPr>
        <p:spPr>
          <a:xfrm>
            <a:off x="950976" y="4535424"/>
            <a:ext cx="4434840" cy="475488"/>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Cross-validation chooses settings; preprocessing is fitted inside each fold.</a:t>
            </a:r>
            <a:endParaRPr lang="en-US" sz="1500" dirty="0"/>
          </a:p>
        </p:txBody>
      </p:sp>
      <p:sp>
        <p:nvSpPr>
          <p:cNvPr id="55" name="Shape 53"/>
          <p:cNvSpPr/>
          <p:nvPr/>
        </p:nvSpPr>
        <p:spPr>
          <a:xfrm>
            <a:off x="6172200" y="3931920"/>
            <a:ext cx="5074920" cy="1417320"/>
          </a:xfrm>
          <a:prstGeom prst="roundRect">
            <a:avLst>
              <a:gd name="adj" fmla="val 5161"/>
            </a:avLst>
          </a:prstGeom>
          <a:solidFill>
            <a:srgbClr val="F8EEE3"/>
          </a:solidFill>
          <a:ln w="12700">
            <a:solidFill>
              <a:srgbClr val="F8EEE3">
                <a:alpha val="0"/>
              </a:srgbClr>
            </a:solidFill>
            <a:prstDash val="solid"/>
          </a:ln>
        </p:spPr>
      </p:sp>
      <p:sp>
        <p:nvSpPr>
          <p:cNvPr id="56" name="Text 54"/>
          <p:cNvSpPr/>
          <p:nvPr/>
        </p:nvSpPr>
        <p:spPr>
          <a:xfrm>
            <a:off x="6437376" y="4187952"/>
            <a:ext cx="146304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E77765"/>
                </a:solidFill>
                <a:latin typeface="Aptos" pitchFamily="34" charset="0"/>
                <a:ea typeface="Aptos" pitchFamily="34" charset="-122"/>
                <a:cs typeface="Aptos" pitchFamily="34" charset="-120"/>
              </a:rPr>
              <a:t>VALIDATION DATA</a:t>
            </a:r>
            <a:endParaRPr lang="en-US" sz="800" dirty="0"/>
          </a:p>
        </p:txBody>
      </p:sp>
      <p:sp>
        <p:nvSpPr>
          <p:cNvPr id="57" name="Text 55"/>
          <p:cNvSpPr/>
          <p:nvPr/>
        </p:nvSpPr>
        <p:spPr>
          <a:xfrm>
            <a:off x="6437376" y="4535424"/>
            <a:ext cx="4407408" cy="475488"/>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One held-out set checks generalization and reports final comparison metrics.</a:t>
            </a:r>
            <a:endParaRPr lang="en-US" sz="1500" dirty="0"/>
          </a:p>
        </p:txBody>
      </p:sp>
      <p:sp>
        <p:nvSpPr>
          <p:cNvPr id="59" name="Text 56">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60" name="Text 57">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61" name="Text 58">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62" name="Text 59">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63" name="Text 60">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06 / MODEL BUILDING</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Compare simple models before choosing</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 notebook uses a dummy baseline and evaluates candidate classifiers on the same train/validation design.</a:t>
            </a:r>
            <a:endParaRPr lang="en-US" sz="1100" dirty="0"/>
          </a:p>
        </p:txBody>
      </p:sp>
      <p:sp>
        <p:nvSpPr>
          <p:cNvPr id="5" name="Shape 3"/>
          <p:cNvSpPr/>
          <p:nvPr/>
        </p:nvSpPr>
        <p:spPr>
          <a:xfrm>
            <a:off x="713232" y="1828800"/>
            <a:ext cx="2542032" cy="1828800"/>
          </a:xfrm>
          <a:prstGeom prst="roundRect">
            <a:avLst>
              <a:gd name="adj" fmla="val 4000"/>
            </a:avLst>
          </a:prstGeom>
          <a:solidFill>
            <a:srgbClr val="FFFFFF"/>
          </a:solidFill>
          <a:ln w="10160">
            <a:solidFill>
              <a:srgbClr val="D8E0DC"/>
            </a:solidFill>
            <a:prstDash val="solid"/>
          </a:ln>
        </p:spPr>
      </p:sp>
      <p:sp>
        <p:nvSpPr>
          <p:cNvPr id="6" name="Shape 4"/>
          <p:cNvSpPr/>
          <p:nvPr/>
        </p:nvSpPr>
        <p:spPr>
          <a:xfrm>
            <a:off x="896112" y="2029968"/>
            <a:ext cx="329184" cy="329184"/>
          </a:xfrm>
          <a:prstGeom prst="ellipse">
            <a:avLst/>
          </a:prstGeom>
          <a:solidFill>
            <a:srgbClr val="E3F0E9"/>
          </a:solidFill>
          <a:ln w="8890">
            <a:solidFill>
              <a:srgbClr val="E3F0E9"/>
            </a:solidFill>
            <a:prstDash val="solid"/>
          </a:ln>
        </p:spPr>
      </p:sp>
      <p:sp>
        <p:nvSpPr>
          <p:cNvPr id="7" name="Text 5"/>
          <p:cNvSpPr/>
          <p:nvPr/>
        </p:nvSpPr>
        <p:spPr>
          <a:xfrm>
            <a:off x="896112" y="2093976"/>
            <a:ext cx="329184" cy="164592"/>
          </a:xfrm>
          <a:prstGeom prst="rect">
            <a:avLst/>
          </a:prstGeom>
          <a:noFill/>
          <a:ln/>
        </p:spPr>
        <p:txBody>
          <a:bodyPr wrap="square" lIns="0" tIns="0" rIns="0" bIns="0" rtlCol="0" anchor="ctr">
            <a:normAutofit/>
          </a:bodyPr>
          <a:lstStyle/>
          <a:p>
            <a:pPr algn="ctr" indent="0" marL="0">
              <a:buNone/>
            </a:pPr>
            <a:r>
              <a:rPr lang="en-US" sz="800" b="1" dirty="0">
                <a:solidFill>
                  <a:srgbClr val="398E82"/>
                </a:solidFill>
                <a:latin typeface="Aptos" pitchFamily="34" charset="0"/>
                <a:ea typeface="Aptos" pitchFamily="34" charset="-122"/>
                <a:cs typeface="Aptos" pitchFamily="34" charset="-120"/>
              </a:rPr>
              <a:t>01</a:t>
            </a:r>
            <a:endParaRPr lang="en-US" sz="800" dirty="0"/>
          </a:p>
        </p:txBody>
      </p:sp>
      <p:sp>
        <p:nvSpPr>
          <p:cNvPr id="8" name="Text 6"/>
          <p:cNvSpPr/>
          <p:nvPr/>
        </p:nvSpPr>
        <p:spPr>
          <a:xfrm>
            <a:off x="896112" y="2596896"/>
            <a:ext cx="2148840" cy="347472"/>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Dummy baseline</a:t>
            </a:r>
            <a:endParaRPr lang="en-US" sz="1500" dirty="0"/>
          </a:p>
        </p:txBody>
      </p:sp>
      <p:sp>
        <p:nvSpPr>
          <p:cNvPr id="9" name="Text 7"/>
          <p:cNvSpPr/>
          <p:nvPr/>
        </p:nvSpPr>
        <p:spPr>
          <a:xfrm>
            <a:off x="896112" y="3054096"/>
            <a:ext cx="214884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Most common class</a:t>
            </a:r>
            <a:endParaRPr lang="en-US" sz="900" dirty="0"/>
          </a:p>
        </p:txBody>
      </p:sp>
      <p:sp>
        <p:nvSpPr>
          <p:cNvPr id="10" name="Text 8"/>
          <p:cNvSpPr/>
          <p:nvPr/>
        </p:nvSpPr>
        <p:spPr>
          <a:xfrm>
            <a:off x="896112" y="3346704"/>
            <a:ext cx="2148840" cy="164592"/>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Reference point</a:t>
            </a:r>
            <a:endParaRPr lang="en-US" sz="800" dirty="0"/>
          </a:p>
        </p:txBody>
      </p:sp>
      <p:sp>
        <p:nvSpPr>
          <p:cNvPr id="11" name="Shape 9"/>
          <p:cNvSpPr/>
          <p:nvPr/>
        </p:nvSpPr>
        <p:spPr>
          <a:xfrm>
            <a:off x="3547872" y="1828800"/>
            <a:ext cx="2542032" cy="1828800"/>
          </a:xfrm>
          <a:prstGeom prst="roundRect">
            <a:avLst>
              <a:gd name="adj" fmla="val 4000"/>
            </a:avLst>
          </a:prstGeom>
          <a:solidFill>
            <a:srgbClr val="FFFFFF"/>
          </a:solidFill>
          <a:ln w="10160">
            <a:solidFill>
              <a:srgbClr val="D8E0DC"/>
            </a:solidFill>
            <a:prstDash val="solid"/>
          </a:ln>
        </p:spPr>
      </p:sp>
      <p:sp>
        <p:nvSpPr>
          <p:cNvPr id="12" name="Shape 10"/>
          <p:cNvSpPr/>
          <p:nvPr/>
        </p:nvSpPr>
        <p:spPr>
          <a:xfrm>
            <a:off x="3730752" y="2029968"/>
            <a:ext cx="329184" cy="329184"/>
          </a:xfrm>
          <a:prstGeom prst="ellipse">
            <a:avLst/>
          </a:prstGeom>
          <a:solidFill>
            <a:srgbClr val="E3F0E9"/>
          </a:solidFill>
          <a:ln w="8890">
            <a:solidFill>
              <a:srgbClr val="E3F0E9"/>
            </a:solidFill>
            <a:prstDash val="solid"/>
          </a:ln>
        </p:spPr>
      </p:sp>
      <p:sp>
        <p:nvSpPr>
          <p:cNvPr id="13" name="Text 11"/>
          <p:cNvSpPr/>
          <p:nvPr/>
        </p:nvSpPr>
        <p:spPr>
          <a:xfrm>
            <a:off x="3730752" y="2093976"/>
            <a:ext cx="329184" cy="164592"/>
          </a:xfrm>
          <a:prstGeom prst="rect">
            <a:avLst/>
          </a:prstGeom>
          <a:noFill/>
          <a:ln/>
        </p:spPr>
        <p:txBody>
          <a:bodyPr wrap="square" lIns="0" tIns="0" rIns="0" bIns="0" rtlCol="0" anchor="ctr">
            <a:normAutofit/>
          </a:bodyPr>
          <a:lstStyle/>
          <a:p>
            <a:pPr algn="ctr" indent="0" marL="0">
              <a:buNone/>
            </a:pPr>
            <a:r>
              <a:rPr lang="en-US" sz="800" b="1" dirty="0">
                <a:solidFill>
                  <a:srgbClr val="398E82"/>
                </a:solidFill>
                <a:latin typeface="Aptos" pitchFamily="34" charset="0"/>
                <a:ea typeface="Aptos" pitchFamily="34" charset="-122"/>
                <a:cs typeface="Aptos" pitchFamily="34" charset="-120"/>
              </a:rPr>
              <a:t>02</a:t>
            </a:r>
            <a:endParaRPr lang="en-US" sz="800" dirty="0"/>
          </a:p>
        </p:txBody>
      </p:sp>
      <p:sp>
        <p:nvSpPr>
          <p:cNvPr id="14" name="Text 12"/>
          <p:cNvSpPr/>
          <p:nvPr/>
        </p:nvSpPr>
        <p:spPr>
          <a:xfrm>
            <a:off x="3730752" y="2596896"/>
            <a:ext cx="2148840" cy="347472"/>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Logistic Regression</a:t>
            </a:r>
            <a:endParaRPr lang="en-US" sz="1500" dirty="0"/>
          </a:p>
        </p:txBody>
      </p:sp>
      <p:sp>
        <p:nvSpPr>
          <p:cNvPr id="15" name="Text 13"/>
          <p:cNvSpPr/>
          <p:nvPr/>
        </p:nvSpPr>
        <p:spPr>
          <a:xfrm>
            <a:off x="3730752" y="3054096"/>
            <a:ext cx="214884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Linear decision boundary</a:t>
            </a:r>
            <a:endParaRPr lang="en-US" sz="900" dirty="0"/>
          </a:p>
        </p:txBody>
      </p:sp>
      <p:sp>
        <p:nvSpPr>
          <p:cNvPr id="16" name="Text 14"/>
          <p:cNvSpPr/>
          <p:nvPr/>
        </p:nvSpPr>
        <p:spPr>
          <a:xfrm>
            <a:off x="3730752" y="3346704"/>
            <a:ext cx="2148840" cy="164592"/>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Interpretable baseline</a:t>
            </a:r>
            <a:endParaRPr lang="en-US" sz="800" dirty="0"/>
          </a:p>
        </p:txBody>
      </p:sp>
      <p:sp>
        <p:nvSpPr>
          <p:cNvPr id="17" name="Shape 15"/>
          <p:cNvSpPr/>
          <p:nvPr/>
        </p:nvSpPr>
        <p:spPr>
          <a:xfrm>
            <a:off x="6382512" y="1828800"/>
            <a:ext cx="2542032" cy="1828800"/>
          </a:xfrm>
          <a:prstGeom prst="roundRect">
            <a:avLst>
              <a:gd name="adj" fmla="val 4000"/>
            </a:avLst>
          </a:prstGeom>
          <a:solidFill>
            <a:srgbClr val="FFFFFF"/>
          </a:solidFill>
          <a:ln w="10160">
            <a:solidFill>
              <a:srgbClr val="D8E0DC"/>
            </a:solidFill>
            <a:prstDash val="solid"/>
          </a:ln>
        </p:spPr>
      </p:sp>
      <p:sp>
        <p:nvSpPr>
          <p:cNvPr id="18" name="Shape 16"/>
          <p:cNvSpPr/>
          <p:nvPr/>
        </p:nvSpPr>
        <p:spPr>
          <a:xfrm>
            <a:off x="6565392" y="2029968"/>
            <a:ext cx="329184" cy="329184"/>
          </a:xfrm>
          <a:prstGeom prst="ellipse">
            <a:avLst/>
          </a:prstGeom>
          <a:solidFill>
            <a:srgbClr val="E3F0E9"/>
          </a:solidFill>
          <a:ln w="8890">
            <a:solidFill>
              <a:srgbClr val="E3F0E9"/>
            </a:solidFill>
            <a:prstDash val="solid"/>
          </a:ln>
        </p:spPr>
      </p:sp>
      <p:sp>
        <p:nvSpPr>
          <p:cNvPr id="19" name="Text 17"/>
          <p:cNvSpPr/>
          <p:nvPr/>
        </p:nvSpPr>
        <p:spPr>
          <a:xfrm>
            <a:off x="6565392" y="2093976"/>
            <a:ext cx="329184" cy="164592"/>
          </a:xfrm>
          <a:prstGeom prst="rect">
            <a:avLst/>
          </a:prstGeom>
          <a:noFill/>
          <a:ln/>
        </p:spPr>
        <p:txBody>
          <a:bodyPr wrap="square" lIns="0" tIns="0" rIns="0" bIns="0" rtlCol="0" anchor="ctr">
            <a:normAutofit/>
          </a:bodyPr>
          <a:lstStyle/>
          <a:p>
            <a:pPr algn="ctr" indent="0" marL="0">
              <a:buNone/>
            </a:pPr>
            <a:r>
              <a:rPr lang="en-US" sz="800" b="1" dirty="0">
                <a:solidFill>
                  <a:srgbClr val="398E82"/>
                </a:solidFill>
                <a:latin typeface="Aptos" pitchFamily="34" charset="0"/>
                <a:ea typeface="Aptos" pitchFamily="34" charset="-122"/>
                <a:cs typeface="Aptos" pitchFamily="34" charset="-120"/>
              </a:rPr>
              <a:t>03</a:t>
            </a:r>
            <a:endParaRPr lang="en-US" sz="800" dirty="0"/>
          </a:p>
        </p:txBody>
      </p:sp>
      <p:sp>
        <p:nvSpPr>
          <p:cNvPr id="20" name="Text 18"/>
          <p:cNvSpPr/>
          <p:nvPr/>
        </p:nvSpPr>
        <p:spPr>
          <a:xfrm>
            <a:off x="6565392" y="2596896"/>
            <a:ext cx="2148840" cy="347472"/>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Decision Tree</a:t>
            </a:r>
            <a:endParaRPr lang="en-US" sz="1500" dirty="0"/>
          </a:p>
        </p:txBody>
      </p:sp>
      <p:sp>
        <p:nvSpPr>
          <p:cNvPr id="21" name="Text 19"/>
          <p:cNvSpPr/>
          <p:nvPr/>
        </p:nvSpPr>
        <p:spPr>
          <a:xfrm>
            <a:off x="6565392" y="3054096"/>
            <a:ext cx="2148840" cy="1828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Rule-based splits</a:t>
            </a:r>
            <a:endParaRPr lang="en-US" sz="900" dirty="0"/>
          </a:p>
        </p:txBody>
      </p:sp>
      <p:sp>
        <p:nvSpPr>
          <p:cNvPr id="22" name="Text 20"/>
          <p:cNvSpPr/>
          <p:nvPr/>
        </p:nvSpPr>
        <p:spPr>
          <a:xfrm>
            <a:off x="6565392" y="3346704"/>
            <a:ext cx="2148840" cy="164592"/>
          </a:xfrm>
          <a:prstGeom prst="rect">
            <a:avLst/>
          </a:prstGeom>
          <a:noFill/>
          <a:ln/>
        </p:spPr>
        <p:txBody>
          <a:bodyPr wrap="square" lIns="0" tIns="0" rIns="0" bIns="0" rtlCol="0" anchor="ctr">
            <a:normAutofit/>
          </a:bodyPr>
          <a:lstStyle/>
          <a:p>
            <a:pPr algn="l" indent="0" marL="0">
              <a:buNone/>
            </a:pPr>
            <a:r>
              <a:rPr lang="en-US" sz="800" b="1" dirty="0">
                <a:solidFill>
                  <a:srgbClr val="398E82"/>
                </a:solidFill>
                <a:latin typeface="Aptos" pitchFamily="34" charset="0"/>
                <a:ea typeface="Aptos" pitchFamily="34" charset="-122"/>
                <a:cs typeface="Aptos" pitchFamily="34" charset="-120"/>
              </a:rPr>
              <a:t>Nonlinear patterns</a:t>
            </a:r>
            <a:endParaRPr lang="en-US" sz="800" dirty="0"/>
          </a:p>
        </p:txBody>
      </p:sp>
      <p:sp>
        <p:nvSpPr>
          <p:cNvPr id="23" name="Shape 21"/>
          <p:cNvSpPr/>
          <p:nvPr/>
        </p:nvSpPr>
        <p:spPr>
          <a:xfrm>
            <a:off x="9217152" y="1828800"/>
            <a:ext cx="2542032" cy="1828800"/>
          </a:xfrm>
          <a:prstGeom prst="roundRect">
            <a:avLst>
              <a:gd name="adj" fmla="val 4000"/>
            </a:avLst>
          </a:prstGeom>
          <a:solidFill>
            <a:srgbClr val="142F49"/>
          </a:solidFill>
          <a:ln w="10160">
            <a:solidFill>
              <a:srgbClr val="142F49"/>
            </a:solidFill>
            <a:prstDash val="solid"/>
          </a:ln>
        </p:spPr>
      </p:sp>
      <p:sp>
        <p:nvSpPr>
          <p:cNvPr id="24" name="Shape 22"/>
          <p:cNvSpPr/>
          <p:nvPr/>
        </p:nvSpPr>
        <p:spPr>
          <a:xfrm>
            <a:off x="9400032" y="2029968"/>
            <a:ext cx="329184" cy="329184"/>
          </a:xfrm>
          <a:prstGeom prst="ellipse">
            <a:avLst/>
          </a:prstGeom>
          <a:solidFill>
            <a:srgbClr val="E77765"/>
          </a:solidFill>
          <a:ln w="8890">
            <a:solidFill>
              <a:srgbClr val="E77765"/>
            </a:solidFill>
            <a:prstDash val="solid"/>
          </a:ln>
        </p:spPr>
      </p:sp>
      <p:sp>
        <p:nvSpPr>
          <p:cNvPr id="25" name="Text 23"/>
          <p:cNvSpPr/>
          <p:nvPr/>
        </p:nvSpPr>
        <p:spPr>
          <a:xfrm>
            <a:off x="9400032" y="2093976"/>
            <a:ext cx="329184" cy="164592"/>
          </a:xfrm>
          <a:prstGeom prst="rect">
            <a:avLst/>
          </a:prstGeom>
          <a:noFill/>
          <a:ln/>
        </p:spPr>
        <p:txBody>
          <a:bodyPr wrap="square" lIns="0" tIns="0" rIns="0" bIns="0" rtlCol="0" anchor="ctr">
            <a:normAutofit/>
          </a:bodyPr>
          <a:lstStyle/>
          <a:p>
            <a:pPr algn="ctr" indent="0" marL="0">
              <a:buNone/>
            </a:pPr>
            <a:r>
              <a:rPr lang="en-US" sz="800" b="1" dirty="0">
                <a:solidFill>
                  <a:srgbClr val="FFFFFF"/>
                </a:solidFill>
                <a:latin typeface="Aptos" pitchFamily="34" charset="0"/>
                <a:ea typeface="Aptos" pitchFamily="34" charset="-122"/>
                <a:cs typeface="Aptos" pitchFamily="34" charset="-120"/>
              </a:rPr>
              <a:t>04</a:t>
            </a:r>
            <a:endParaRPr lang="en-US" sz="800" dirty="0"/>
          </a:p>
        </p:txBody>
      </p:sp>
      <p:sp>
        <p:nvSpPr>
          <p:cNvPr id="26" name="Text 24"/>
          <p:cNvSpPr/>
          <p:nvPr/>
        </p:nvSpPr>
        <p:spPr>
          <a:xfrm>
            <a:off x="9400032" y="2596896"/>
            <a:ext cx="2148840" cy="347472"/>
          </a:xfrm>
          <a:prstGeom prst="rect">
            <a:avLst/>
          </a:prstGeom>
          <a:noFill/>
          <a:ln/>
        </p:spPr>
        <p:txBody>
          <a:bodyPr wrap="square" lIns="0" tIns="0" rIns="0" bIns="0" rtlCol="0" anchor="ctr">
            <a:normAutofit/>
          </a:bodyPr>
          <a:lstStyle/>
          <a:p>
            <a:pPr algn="l" indent="0" marL="0">
              <a:buNone/>
            </a:pPr>
            <a:r>
              <a:rPr lang="en-US" sz="1500" b="1" dirty="0">
                <a:solidFill>
                  <a:srgbClr val="FAF8F1"/>
                </a:solidFill>
                <a:latin typeface="Georgia" pitchFamily="34" charset="0"/>
                <a:ea typeface="Georgia" pitchFamily="34" charset="-122"/>
                <a:cs typeface="Georgia" pitchFamily="34" charset="-120"/>
              </a:rPr>
              <a:t>Random Forest</a:t>
            </a:r>
            <a:endParaRPr lang="en-US" sz="1500" dirty="0"/>
          </a:p>
        </p:txBody>
      </p:sp>
      <p:sp>
        <p:nvSpPr>
          <p:cNvPr id="27" name="Text 25"/>
          <p:cNvSpPr/>
          <p:nvPr/>
        </p:nvSpPr>
        <p:spPr>
          <a:xfrm>
            <a:off x="9400032" y="3054096"/>
            <a:ext cx="2148840" cy="182880"/>
          </a:xfrm>
          <a:prstGeom prst="rect">
            <a:avLst/>
          </a:prstGeom>
          <a:noFill/>
          <a:ln/>
        </p:spPr>
        <p:txBody>
          <a:bodyPr wrap="square" lIns="0" tIns="0" rIns="0" bIns="0" rtlCol="0" anchor="ctr">
            <a:normAutofit/>
          </a:bodyPr>
          <a:lstStyle/>
          <a:p>
            <a:pPr algn="l" indent="0" marL="0">
              <a:buNone/>
            </a:pPr>
            <a:r>
              <a:rPr lang="en-US" sz="900" dirty="0">
                <a:solidFill>
                  <a:srgbClr val="D1DEDA"/>
                </a:solidFill>
                <a:latin typeface="Aptos" pitchFamily="34" charset="0"/>
                <a:ea typeface="Aptos" pitchFamily="34" charset="-122"/>
                <a:cs typeface="Aptos" pitchFamily="34" charset="-120"/>
              </a:rPr>
              <a:t>Ensemble of trees</a:t>
            </a:r>
            <a:endParaRPr lang="en-US" sz="900" dirty="0"/>
          </a:p>
        </p:txBody>
      </p:sp>
      <p:sp>
        <p:nvSpPr>
          <p:cNvPr id="28" name="Text 26"/>
          <p:cNvSpPr/>
          <p:nvPr/>
        </p:nvSpPr>
        <p:spPr>
          <a:xfrm>
            <a:off x="9400032" y="3346704"/>
            <a:ext cx="2148840" cy="164592"/>
          </a:xfrm>
          <a:prstGeom prst="rect">
            <a:avLst/>
          </a:prstGeom>
          <a:noFill/>
          <a:ln/>
        </p:spPr>
        <p:txBody>
          <a:bodyPr wrap="square" lIns="0" tIns="0" rIns="0" bIns="0" rtlCol="0" anchor="ctr">
            <a:normAutofit/>
          </a:bodyPr>
          <a:lstStyle/>
          <a:p>
            <a:pPr algn="l" indent="0" marL="0">
              <a:buNone/>
            </a:pPr>
            <a:r>
              <a:rPr lang="en-US" sz="800" b="1" dirty="0">
                <a:solidFill>
                  <a:srgbClr val="D1A56A"/>
                </a:solidFill>
                <a:latin typeface="Aptos" pitchFamily="34" charset="0"/>
                <a:ea typeface="Aptos" pitchFamily="34" charset="-122"/>
                <a:cs typeface="Aptos" pitchFamily="34" charset="-120"/>
              </a:rPr>
              <a:t>Selected by train CV</a:t>
            </a:r>
            <a:endParaRPr lang="en-US" sz="800" dirty="0"/>
          </a:p>
        </p:txBody>
      </p:sp>
      <p:sp>
        <p:nvSpPr>
          <p:cNvPr id="29" name="Text 27"/>
          <p:cNvSpPr/>
          <p:nvPr/>
        </p:nvSpPr>
        <p:spPr>
          <a:xfrm>
            <a:off x="749808" y="4224528"/>
            <a:ext cx="155448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398E82"/>
                </a:solidFill>
                <a:latin typeface="Aptos" pitchFamily="34" charset="0"/>
                <a:ea typeface="Aptos" pitchFamily="34" charset="-122"/>
                <a:cs typeface="Aptos" pitchFamily="34" charset="-120"/>
              </a:rPr>
              <a:t>SELECTION RULE</a:t>
            </a:r>
            <a:endParaRPr lang="en-US" sz="800" dirty="0"/>
          </a:p>
        </p:txBody>
      </p:sp>
      <p:sp>
        <p:nvSpPr>
          <p:cNvPr id="30" name="Text 28"/>
          <p:cNvSpPr/>
          <p:nvPr/>
        </p:nvSpPr>
        <p:spPr>
          <a:xfrm>
            <a:off x="749808" y="4553712"/>
            <a:ext cx="8046720" cy="292608"/>
          </a:xfrm>
          <a:prstGeom prst="rect">
            <a:avLst/>
          </a:prstGeom>
          <a:noFill/>
          <a:ln/>
        </p:spPr>
        <p:txBody>
          <a:bodyPr wrap="square" lIns="0" tIns="0" rIns="0" bIns="0" rtlCol="0" anchor="ctr">
            <a:normAutofit/>
          </a:bodyPr>
          <a:lstStyle/>
          <a:p>
            <a:pPr algn="l" indent="0" marL="0">
              <a:buNone/>
            </a:pPr>
            <a:r>
              <a:rPr lang="en-US" sz="1800" b="1" dirty="0">
                <a:solidFill>
                  <a:srgbClr val="142F49"/>
                </a:solidFill>
                <a:latin typeface="Georgia" pitchFamily="34" charset="0"/>
                <a:ea typeface="Georgia" pitchFamily="34" charset="-122"/>
                <a:cs typeface="Georgia" pitchFamily="34" charset="-120"/>
              </a:rPr>
              <a:t>Choose the best training cross-validation ROC-AUC, then report the untouched validation result.</a:t>
            </a:r>
            <a:endParaRPr lang="en-US" sz="1800" dirty="0"/>
          </a:p>
        </p:txBody>
      </p:sp>
      <p:sp>
        <p:nvSpPr>
          <p:cNvPr id="31" name="Shape 29"/>
          <p:cNvSpPr/>
          <p:nvPr/>
        </p:nvSpPr>
        <p:spPr>
          <a:xfrm>
            <a:off x="731520" y="5166360"/>
            <a:ext cx="10698480" cy="603504"/>
          </a:xfrm>
          <a:prstGeom prst="roundRect">
            <a:avLst>
              <a:gd name="adj" fmla="val 12121"/>
            </a:avLst>
          </a:prstGeom>
          <a:solidFill>
            <a:srgbClr val="F7E7E1"/>
          </a:solidFill>
          <a:ln w="12700">
            <a:solidFill>
              <a:srgbClr val="F7E7E1">
                <a:alpha val="0"/>
              </a:srgbClr>
            </a:solidFill>
            <a:prstDash val="solid"/>
          </a:ln>
        </p:spPr>
      </p:sp>
      <p:sp>
        <p:nvSpPr>
          <p:cNvPr id="32" name="Text 30"/>
          <p:cNvSpPr/>
          <p:nvPr/>
        </p:nvSpPr>
        <p:spPr>
          <a:xfrm>
            <a:off x="987552" y="5349240"/>
            <a:ext cx="10058400" cy="210312"/>
          </a:xfrm>
          <a:prstGeom prst="rect">
            <a:avLst/>
          </a:prstGeom>
          <a:noFill/>
          <a:ln/>
        </p:spPr>
        <p:txBody>
          <a:bodyPr wrap="square" lIns="0" tIns="0" rIns="0" bIns="0" rtlCol="0" anchor="ctr">
            <a:normAutofit/>
          </a:bodyPr>
          <a:lstStyle/>
          <a:p>
            <a:pPr algn="l" indent="0" marL="0">
              <a:buNone/>
            </a:pPr>
            <a:r>
              <a:rPr lang="en-US" sz="1000" dirty="0">
                <a:solidFill>
                  <a:srgbClr val="8D5146"/>
                </a:solidFill>
                <a:latin typeface="Aptos" pitchFamily="34" charset="0"/>
                <a:ea typeface="Aptos" pitchFamily="34" charset="-122"/>
                <a:cs typeface="Aptos" pitchFamily="34" charset="-120"/>
              </a:rPr>
              <a:t>The validation ranking differs slightly: Logistic Regression is 0.006 ROC-AUC above Random Forest. The pre-set rule keeps Random Forest.</a:t>
            </a:r>
            <a:endParaRPr lang="en-US" sz="1000" dirty="0"/>
          </a:p>
        </p:txBody>
      </p:sp>
      <p:sp>
        <p:nvSpPr>
          <p:cNvPr id="34" name="Text 31">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35" name="Text 32">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36" name="Text 33">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37" name="Text 34">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38" name="Text 35">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07 / EVALUATION</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Validation: a useful baseline, with room to improve</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 selected Random Forest beats the majority-class baseline on accuracy and ROC-AUC; recall remains lower than precision.</a:t>
            </a:r>
            <a:endParaRPr lang="en-US" sz="1100" dirty="0"/>
          </a:p>
        </p:txBody>
      </p:sp>
      <p:sp>
        <p:nvSpPr>
          <p:cNvPr id="5" name="Shape 3"/>
          <p:cNvSpPr/>
          <p:nvPr/>
        </p:nvSpPr>
        <p:spPr>
          <a:xfrm>
            <a:off x="685800" y="1700784"/>
            <a:ext cx="2039112" cy="1051560"/>
          </a:xfrm>
          <a:prstGeom prst="roundRect">
            <a:avLst>
              <a:gd name="adj" fmla="val 6957"/>
            </a:avLst>
          </a:prstGeom>
          <a:solidFill>
            <a:srgbClr val="FFFFFF"/>
          </a:solidFill>
          <a:ln w="10160">
            <a:solidFill>
              <a:srgbClr val="D8E0DC"/>
            </a:solidFill>
            <a:prstDash val="solid"/>
          </a:ln>
        </p:spPr>
      </p:sp>
      <p:sp>
        <p:nvSpPr>
          <p:cNvPr id="6" name="Text 4"/>
          <p:cNvSpPr/>
          <p:nvPr/>
        </p:nvSpPr>
        <p:spPr>
          <a:xfrm>
            <a:off x="850392" y="1837944"/>
            <a:ext cx="1709928" cy="384048"/>
          </a:xfrm>
          <a:prstGeom prst="rect">
            <a:avLst/>
          </a:prstGeom>
          <a:noFill/>
          <a:ln/>
        </p:spPr>
        <p:txBody>
          <a:bodyPr wrap="square" lIns="0" tIns="0" rIns="0" bIns="0" rtlCol="0" anchor="ctr">
            <a:normAutofit/>
          </a:bodyPr>
          <a:lstStyle/>
          <a:p>
            <a:pPr algn="l" indent="0" marL="0">
              <a:buNone/>
            </a:pPr>
            <a:r>
              <a:rPr lang="en-US" sz="2500" b="1" dirty="0">
                <a:solidFill>
                  <a:srgbClr val="398E82"/>
                </a:solidFill>
                <a:latin typeface="Georgia" pitchFamily="34" charset="0"/>
                <a:ea typeface="Georgia" pitchFamily="34" charset="-122"/>
                <a:cs typeface="Georgia" pitchFamily="34" charset="-120"/>
              </a:rPr>
              <a:t>79.9%</a:t>
            </a:r>
            <a:endParaRPr lang="en-US" sz="2500" dirty="0"/>
          </a:p>
        </p:txBody>
      </p:sp>
      <p:sp>
        <p:nvSpPr>
          <p:cNvPr id="7" name="Text 5"/>
          <p:cNvSpPr/>
          <p:nvPr/>
        </p:nvSpPr>
        <p:spPr>
          <a:xfrm>
            <a:off x="850392" y="2267712"/>
            <a:ext cx="1709928"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ACCURACY</a:t>
            </a:r>
            <a:endParaRPr lang="en-US" sz="800" dirty="0"/>
          </a:p>
        </p:txBody>
      </p:sp>
      <p:sp>
        <p:nvSpPr>
          <p:cNvPr id="8" name="Text 6"/>
          <p:cNvSpPr/>
          <p:nvPr/>
        </p:nvSpPr>
        <p:spPr>
          <a:xfrm>
            <a:off x="850392" y="2468880"/>
            <a:ext cx="1709928"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Correct labels / all</a:t>
            </a:r>
            <a:endParaRPr lang="en-US" sz="800" dirty="0"/>
          </a:p>
        </p:txBody>
      </p:sp>
      <p:sp>
        <p:nvSpPr>
          <p:cNvPr id="9" name="Shape 7"/>
          <p:cNvSpPr/>
          <p:nvPr/>
        </p:nvSpPr>
        <p:spPr>
          <a:xfrm>
            <a:off x="2953512" y="1700784"/>
            <a:ext cx="2039112" cy="1051560"/>
          </a:xfrm>
          <a:prstGeom prst="roundRect">
            <a:avLst>
              <a:gd name="adj" fmla="val 6957"/>
            </a:avLst>
          </a:prstGeom>
          <a:solidFill>
            <a:srgbClr val="FFFFFF"/>
          </a:solidFill>
          <a:ln w="10160">
            <a:solidFill>
              <a:srgbClr val="D8E0DC"/>
            </a:solidFill>
            <a:prstDash val="solid"/>
          </a:ln>
        </p:spPr>
      </p:sp>
      <p:sp>
        <p:nvSpPr>
          <p:cNvPr id="10" name="Text 8"/>
          <p:cNvSpPr/>
          <p:nvPr/>
        </p:nvSpPr>
        <p:spPr>
          <a:xfrm>
            <a:off x="3118104" y="1837944"/>
            <a:ext cx="1709928" cy="384048"/>
          </a:xfrm>
          <a:prstGeom prst="rect">
            <a:avLst/>
          </a:prstGeom>
          <a:noFill/>
          <a:ln/>
        </p:spPr>
        <p:txBody>
          <a:bodyPr wrap="square" lIns="0" tIns="0" rIns="0" bIns="0" rtlCol="0" anchor="ctr">
            <a:normAutofit/>
          </a:bodyPr>
          <a:lstStyle/>
          <a:p>
            <a:pPr algn="l" indent="0" marL="0">
              <a:buNone/>
            </a:pPr>
            <a:r>
              <a:rPr lang="en-US" sz="2500" b="1" dirty="0">
                <a:solidFill>
                  <a:srgbClr val="398E82"/>
                </a:solidFill>
                <a:latin typeface="Georgia" pitchFamily="34" charset="0"/>
                <a:ea typeface="Georgia" pitchFamily="34" charset="-122"/>
                <a:cs typeface="Georgia" pitchFamily="34" charset="-120"/>
              </a:rPr>
              <a:t>81.1%</a:t>
            </a:r>
            <a:endParaRPr lang="en-US" sz="2500" dirty="0"/>
          </a:p>
        </p:txBody>
      </p:sp>
      <p:sp>
        <p:nvSpPr>
          <p:cNvPr id="11" name="Text 9"/>
          <p:cNvSpPr/>
          <p:nvPr/>
        </p:nvSpPr>
        <p:spPr>
          <a:xfrm>
            <a:off x="3118104" y="2267712"/>
            <a:ext cx="1709928"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PRECISION</a:t>
            </a:r>
            <a:endParaRPr lang="en-US" sz="800" dirty="0"/>
          </a:p>
        </p:txBody>
      </p:sp>
      <p:sp>
        <p:nvSpPr>
          <p:cNvPr id="12" name="Text 10"/>
          <p:cNvSpPr/>
          <p:nvPr/>
        </p:nvSpPr>
        <p:spPr>
          <a:xfrm>
            <a:off x="3118104" y="2468880"/>
            <a:ext cx="1709928"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43 of 53 predicted survivors</a:t>
            </a:r>
            <a:endParaRPr lang="en-US" sz="800" dirty="0"/>
          </a:p>
        </p:txBody>
      </p:sp>
      <p:sp>
        <p:nvSpPr>
          <p:cNvPr id="13" name="Shape 11"/>
          <p:cNvSpPr/>
          <p:nvPr/>
        </p:nvSpPr>
        <p:spPr>
          <a:xfrm>
            <a:off x="5221224" y="1700784"/>
            <a:ext cx="2039112" cy="1051560"/>
          </a:xfrm>
          <a:prstGeom prst="roundRect">
            <a:avLst>
              <a:gd name="adj" fmla="val 6957"/>
            </a:avLst>
          </a:prstGeom>
          <a:solidFill>
            <a:srgbClr val="FFFFFF"/>
          </a:solidFill>
          <a:ln w="10160">
            <a:solidFill>
              <a:srgbClr val="D8E0DC"/>
            </a:solidFill>
            <a:prstDash val="solid"/>
          </a:ln>
        </p:spPr>
      </p:sp>
      <p:sp>
        <p:nvSpPr>
          <p:cNvPr id="14" name="Text 12"/>
          <p:cNvSpPr/>
          <p:nvPr/>
        </p:nvSpPr>
        <p:spPr>
          <a:xfrm>
            <a:off x="5385816" y="1837944"/>
            <a:ext cx="1709928" cy="384048"/>
          </a:xfrm>
          <a:prstGeom prst="rect">
            <a:avLst/>
          </a:prstGeom>
          <a:noFill/>
          <a:ln/>
        </p:spPr>
        <p:txBody>
          <a:bodyPr wrap="square" lIns="0" tIns="0" rIns="0" bIns="0" rtlCol="0" anchor="ctr">
            <a:normAutofit/>
          </a:bodyPr>
          <a:lstStyle/>
          <a:p>
            <a:pPr algn="l" indent="0" marL="0">
              <a:buNone/>
            </a:pPr>
            <a:r>
              <a:rPr lang="en-US" sz="2500" b="1" dirty="0">
                <a:solidFill>
                  <a:srgbClr val="398E82"/>
                </a:solidFill>
                <a:latin typeface="Georgia" pitchFamily="34" charset="0"/>
                <a:ea typeface="Georgia" pitchFamily="34" charset="-122"/>
                <a:cs typeface="Georgia" pitchFamily="34" charset="-120"/>
              </a:rPr>
              <a:t>62.3%</a:t>
            </a:r>
            <a:endParaRPr lang="en-US" sz="2500" dirty="0"/>
          </a:p>
        </p:txBody>
      </p:sp>
      <p:sp>
        <p:nvSpPr>
          <p:cNvPr id="15" name="Text 13"/>
          <p:cNvSpPr/>
          <p:nvPr/>
        </p:nvSpPr>
        <p:spPr>
          <a:xfrm>
            <a:off x="5385816" y="2267712"/>
            <a:ext cx="1709928"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RECALL</a:t>
            </a:r>
            <a:endParaRPr lang="en-US" sz="800" dirty="0"/>
          </a:p>
        </p:txBody>
      </p:sp>
      <p:sp>
        <p:nvSpPr>
          <p:cNvPr id="16" name="Text 14"/>
          <p:cNvSpPr/>
          <p:nvPr/>
        </p:nvSpPr>
        <p:spPr>
          <a:xfrm>
            <a:off x="5385816" y="2468880"/>
            <a:ext cx="1709928"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43 of 69 actual survivors</a:t>
            </a:r>
            <a:endParaRPr lang="en-US" sz="800" dirty="0"/>
          </a:p>
        </p:txBody>
      </p:sp>
      <p:sp>
        <p:nvSpPr>
          <p:cNvPr id="17" name="Shape 15"/>
          <p:cNvSpPr/>
          <p:nvPr/>
        </p:nvSpPr>
        <p:spPr>
          <a:xfrm>
            <a:off x="7488936" y="1700784"/>
            <a:ext cx="2039112" cy="1051560"/>
          </a:xfrm>
          <a:prstGeom prst="roundRect">
            <a:avLst>
              <a:gd name="adj" fmla="val 6957"/>
            </a:avLst>
          </a:prstGeom>
          <a:solidFill>
            <a:srgbClr val="FFFFFF"/>
          </a:solidFill>
          <a:ln w="10160">
            <a:solidFill>
              <a:srgbClr val="D8E0DC"/>
            </a:solidFill>
            <a:prstDash val="solid"/>
          </a:ln>
        </p:spPr>
      </p:sp>
      <p:sp>
        <p:nvSpPr>
          <p:cNvPr id="18" name="Text 16"/>
          <p:cNvSpPr/>
          <p:nvPr/>
        </p:nvSpPr>
        <p:spPr>
          <a:xfrm>
            <a:off x="7653528" y="1837944"/>
            <a:ext cx="1709928" cy="384048"/>
          </a:xfrm>
          <a:prstGeom prst="rect">
            <a:avLst/>
          </a:prstGeom>
          <a:noFill/>
          <a:ln/>
        </p:spPr>
        <p:txBody>
          <a:bodyPr wrap="square" lIns="0" tIns="0" rIns="0" bIns="0" rtlCol="0" anchor="ctr">
            <a:normAutofit/>
          </a:bodyPr>
          <a:lstStyle/>
          <a:p>
            <a:pPr algn="l" indent="0" marL="0">
              <a:buNone/>
            </a:pPr>
            <a:r>
              <a:rPr lang="en-US" sz="2500" b="1" dirty="0">
                <a:solidFill>
                  <a:srgbClr val="398E82"/>
                </a:solidFill>
                <a:latin typeface="Georgia" pitchFamily="34" charset="0"/>
                <a:ea typeface="Georgia" pitchFamily="34" charset="-122"/>
                <a:cs typeface="Georgia" pitchFamily="34" charset="-120"/>
              </a:rPr>
              <a:t>0.705</a:t>
            </a:r>
            <a:endParaRPr lang="en-US" sz="2500" dirty="0"/>
          </a:p>
        </p:txBody>
      </p:sp>
      <p:sp>
        <p:nvSpPr>
          <p:cNvPr id="19" name="Text 17"/>
          <p:cNvSpPr/>
          <p:nvPr/>
        </p:nvSpPr>
        <p:spPr>
          <a:xfrm>
            <a:off x="7653528" y="2267712"/>
            <a:ext cx="1709928"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F1 SCORE</a:t>
            </a:r>
            <a:endParaRPr lang="en-US" sz="800" dirty="0"/>
          </a:p>
        </p:txBody>
      </p:sp>
      <p:sp>
        <p:nvSpPr>
          <p:cNvPr id="20" name="Text 18"/>
          <p:cNvSpPr/>
          <p:nvPr/>
        </p:nvSpPr>
        <p:spPr>
          <a:xfrm>
            <a:off x="7653528" y="2468880"/>
            <a:ext cx="1709928"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Precision–recall balance</a:t>
            </a:r>
            <a:endParaRPr lang="en-US" sz="800" dirty="0"/>
          </a:p>
        </p:txBody>
      </p:sp>
      <p:sp>
        <p:nvSpPr>
          <p:cNvPr id="21" name="Shape 19"/>
          <p:cNvSpPr/>
          <p:nvPr/>
        </p:nvSpPr>
        <p:spPr>
          <a:xfrm>
            <a:off x="9756648" y="1700784"/>
            <a:ext cx="2039112" cy="1051560"/>
          </a:xfrm>
          <a:prstGeom prst="roundRect">
            <a:avLst>
              <a:gd name="adj" fmla="val 6957"/>
            </a:avLst>
          </a:prstGeom>
          <a:solidFill>
            <a:srgbClr val="FFFFFF"/>
          </a:solidFill>
          <a:ln w="10160">
            <a:solidFill>
              <a:srgbClr val="D8E0DC"/>
            </a:solidFill>
            <a:prstDash val="solid"/>
          </a:ln>
        </p:spPr>
      </p:sp>
      <p:sp>
        <p:nvSpPr>
          <p:cNvPr id="22" name="Text 20"/>
          <p:cNvSpPr/>
          <p:nvPr/>
        </p:nvSpPr>
        <p:spPr>
          <a:xfrm>
            <a:off x="9921240" y="1837944"/>
            <a:ext cx="1709928" cy="384048"/>
          </a:xfrm>
          <a:prstGeom prst="rect">
            <a:avLst/>
          </a:prstGeom>
          <a:noFill/>
          <a:ln/>
        </p:spPr>
        <p:txBody>
          <a:bodyPr wrap="square" lIns="0" tIns="0" rIns="0" bIns="0" rtlCol="0" anchor="ctr">
            <a:normAutofit/>
          </a:bodyPr>
          <a:lstStyle/>
          <a:p>
            <a:pPr algn="l" indent="0" marL="0">
              <a:buNone/>
            </a:pPr>
            <a:r>
              <a:rPr lang="en-US" sz="2500" b="1" dirty="0">
                <a:solidFill>
                  <a:srgbClr val="E77765"/>
                </a:solidFill>
                <a:latin typeface="Georgia" pitchFamily="34" charset="0"/>
                <a:ea typeface="Georgia" pitchFamily="34" charset="-122"/>
                <a:cs typeface="Georgia" pitchFamily="34" charset="-120"/>
              </a:rPr>
              <a:t>0.833</a:t>
            </a:r>
            <a:endParaRPr lang="en-US" sz="2500" dirty="0"/>
          </a:p>
        </p:txBody>
      </p:sp>
      <p:sp>
        <p:nvSpPr>
          <p:cNvPr id="23" name="Text 21"/>
          <p:cNvSpPr/>
          <p:nvPr/>
        </p:nvSpPr>
        <p:spPr>
          <a:xfrm>
            <a:off x="9921240" y="2267712"/>
            <a:ext cx="1709928" cy="164592"/>
          </a:xfrm>
          <a:prstGeom prst="rect">
            <a:avLst/>
          </a:prstGeom>
          <a:noFill/>
          <a:ln/>
        </p:spPr>
        <p:txBody>
          <a:bodyPr wrap="square" lIns="0" tIns="0" rIns="0" bIns="0" rtlCol="0" anchor="ctr">
            <a:normAutofit/>
          </a:bodyPr>
          <a:lstStyle/>
          <a:p>
            <a:pPr algn="l" indent="0" marL="0">
              <a:buNone/>
            </a:pPr>
            <a:r>
              <a:rPr lang="en-US" sz="800" b="1" spc="80" kern="0" dirty="0">
                <a:solidFill>
                  <a:srgbClr val="213B52"/>
                </a:solidFill>
                <a:latin typeface="Aptos" pitchFamily="34" charset="0"/>
                <a:ea typeface="Aptos" pitchFamily="34" charset="-122"/>
                <a:cs typeface="Aptos" pitchFamily="34" charset="-120"/>
              </a:rPr>
              <a:t>ROC-AUC</a:t>
            </a:r>
            <a:endParaRPr lang="en-US" sz="800" dirty="0"/>
          </a:p>
        </p:txBody>
      </p:sp>
      <p:sp>
        <p:nvSpPr>
          <p:cNvPr id="24" name="Text 22"/>
          <p:cNvSpPr/>
          <p:nvPr/>
        </p:nvSpPr>
        <p:spPr>
          <a:xfrm>
            <a:off x="9921240" y="2468880"/>
            <a:ext cx="1709928" cy="15544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Ranking across thresholds</a:t>
            </a:r>
            <a:endParaRPr lang="en-US" sz="800" dirty="0"/>
          </a:p>
        </p:txBody>
      </p:sp>
      <p:sp>
        <p:nvSpPr>
          <p:cNvPr id="25" name="Shape 23"/>
          <p:cNvSpPr/>
          <p:nvPr/>
        </p:nvSpPr>
        <p:spPr>
          <a:xfrm>
            <a:off x="749808" y="3182112"/>
            <a:ext cx="5074920" cy="2514600"/>
          </a:xfrm>
          <a:prstGeom prst="roundRect">
            <a:avLst>
              <a:gd name="adj" fmla="val 2909"/>
            </a:avLst>
          </a:prstGeom>
          <a:solidFill>
            <a:srgbClr val="FFFFFF"/>
          </a:solidFill>
          <a:ln w="10160">
            <a:solidFill>
              <a:srgbClr val="D8E0DC"/>
            </a:solidFill>
            <a:prstDash val="solid"/>
          </a:ln>
        </p:spPr>
      </p:sp>
      <p:sp>
        <p:nvSpPr>
          <p:cNvPr id="26" name="Text 24"/>
          <p:cNvSpPr/>
          <p:nvPr/>
        </p:nvSpPr>
        <p:spPr>
          <a:xfrm>
            <a:off x="1005840" y="3429000"/>
            <a:ext cx="2926080" cy="182880"/>
          </a:xfrm>
          <a:prstGeom prst="rect">
            <a:avLst/>
          </a:prstGeom>
          <a:noFill/>
          <a:ln/>
        </p:spPr>
        <p:txBody>
          <a:bodyPr wrap="square" lIns="0" tIns="0" rIns="0" bIns="0" rtlCol="0" anchor="ctr">
            <a:normAutofit/>
          </a:bodyPr>
          <a:lstStyle/>
          <a:p>
            <a:pPr algn="l" indent="0" marL="0">
              <a:buNone/>
            </a:pPr>
            <a:r>
              <a:rPr lang="en-US" sz="1600" b="1" dirty="0">
                <a:solidFill>
                  <a:srgbClr val="213B52"/>
                </a:solidFill>
                <a:latin typeface="Georgia" pitchFamily="34" charset="0"/>
                <a:ea typeface="Georgia" pitchFamily="34" charset="-122"/>
                <a:cs typeface="Georgia" pitchFamily="34" charset="-120"/>
              </a:rPr>
              <a:t>CONFUSION MATRIX</a:t>
            </a:r>
            <a:endParaRPr lang="en-US" sz="1600" dirty="0"/>
          </a:p>
        </p:txBody>
      </p:sp>
      <p:sp>
        <p:nvSpPr>
          <p:cNvPr id="27" name="Text 25"/>
          <p:cNvSpPr/>
          <p:nvPr/>
        </p:nvSpPr>
        <p:spPr>
          <a:xfrm>
            <a:off x="1005840" y="3730752"/>
            <a:ext cx="3291840" cy="146304"/>
          </a:xfrm>
          <a:prstGeom prst="rect">
            <a:avLst/>
          </a:prstGeom>
          <a:noFill/>
          <a:ln/>
        </p:spPr>
        <p:txBody>
          <a:bodyPr wrap="square" lIns="0" tIns="0" rIns="0" bIns="0" rtlCol="0" anchor="ctr">
            <a:normAutofit/>
          </a:bodyPr>
          <a:lstStyle/>
          <a:p>
            <a:pPr algn="l" indent="0" marL="0">
              <a:buNone/>
            </a:pPr>
            <a:r>
              <a:rPr lang="en-US" sz="800" b="1" spc="70" kern="0" dirty="0">
                <a:solidFill>
                  <a:srgbClr val="71838D"/>
                </a:solidFill>
                <a:latin typeface="Aptos" pitchFamily="34" charset="0"/>
                <a:ea typeface="Aptos" pitchFamily="34" charset="-122"/>
                <a:cs typeface="Aptos" pitchFamily="34" charset="-120"/>
              </a:rPr>
              <a:t>ACTUAL ↓  /  PREDICTED →</a:t>
            </a:r>
            <a:endParaRPr lang="en-US" sz="800" dirty="0"/>
          </a:p>
        </p:txBody>
      </p:sp>
      <p:sp>
        <p:nvSpPr>
          <p:cNvPr id="28" name="Text 26"/>
          <p:cNvSpPr/>
          <p:nvPr/>
        </p:nvSpPr>
        <p:spPr>
          <a:xfrm>
            <a:off x="896112" y="4434840"/>
            <a:ext cx="868680" cy="228600"/>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Did not survive</a:t>
            </a:r>
            <a:endParaRPr lang="en-US" sz="700" dirty="0"/>
          </a:p>
        </p:txBody>
      </p:sp>
      <p:sp>
        <p:nvSpPr>
          <p:cNvPr id="29" name="Text 27"/>
          <p:cNvSpPr/>
          <p:nvPr/>
        </p:nvSpPr>
        <p:spPr>
          <a:xfrm>
            <a:off x="896112" y="5376672"/>
            <a:ext cx="868680" cy="228600"/>
          </a:xfrm>
          <a:prstGeom prst="rect">
            <a:avLst/>
          </a:prstGeom>
          <a:noFill/>
          <a:ln/>
        </p:spPr>
        <p:txBody>
          <a:bodyPr wrap="square" lIns="0" tIns="0" rIns="0" bIns="0" rtlCol="0" anchor="ctr">
            <a:normAutofit/>
          </a:bodyPr>
          <a:lstStyle/>
          <a:p>
            <a:pPr algn="r" indent="0" marL="0">
              <a:buNone/>
            </a:pPr>
            <a:r>
              <a:rPr lang="en-US" sz="700" dirty="0">
                <a:solidFill>
                  <a:srgbClr val="71838D"/>
                </a:solidFill>
                <a:latin typeface="Aptos" pitchFamily="34" charset="0"/>
                <a:ea typeface="Aptos" pitchFamily="34" charset="-122"/>
                <a:cs typeface="Aptos" pitchFamily="34" charset="-120"/>
              </a:rPr>
              <a:t>Survived</a:t>
            </a:r>
            <a:endParaRPr lang="en-US" sz="700" dirty="0"/>
          </a:p>
        </p:txBody>
      </p:sp>
      <p:sp>
        <p:nvSpPr>
          <p:cNvPr id="30" name="Shape 28"/>
          <p:cNvSpPr/>
          <p:nvPr/>
        </p:nvSpPr>
        <p:spPr>
          <a:xfrm>
            <a:off x="1874520" y="4069080"/>
            <a:ext cx="1069848" cy="640080"/>
          </a:xfrm>
          <a:prstGeom prst="roundRect">
            <a:avLst>
              <a:gd name="adj" fmla="val 11429"/>
            </a:avLst>
          </a:prstGeom>
          <a:solidFill>
            <a:srgbClr val="1E4661"/>
          </a:solidFill>
          <a:ln w="12700">
            <a:solidFill>
              <a:srgbClr val="1E4661">
                <a:alpha val="0"/>
              </a:srgbClr>
            </a:solidFill>
            <a:prstDash val="solid"/>
          </a:ln>
        </p:spPr>
      </p:sp>
      <p:sp>
        <p:nvSpPr>
          <p:cNvPr id="31" name="Text 29"/>
          <p:cNvSpPr/>
          <p:nvPr/>
        </p:nvSpPr>
        <p:spPr>
          <a:xfrm>
            <a:off x="1874520" y="4224528"/>
            <a:ext cx="1069848" cy="25603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Georgia" pitchFamily="34" charset="0"/>
                <a:ea typeface="Georgia" pitchFamily="34" charset="-122"/>
                <a:cs typeface="Georgia" pitchFamily="34" charset="-120"/>
              </a:rPr>
              <a:t>100</a:t>
            </a:r>
            <a:endParaRPr lang="en-US" sz="1900" dirty="0"/>
          </a:p>
        </p:txBody>
      </p:sp>
      <p:sp>
        <p:nvSpPr>
          <p:cNvPr id="32" name="Shape 30"/>
          <p:cNvSpPr/>
          <p:nvPr/>
        </p:nvSpPr>
        <p:spPr>
          <a:xfrm>
            <a:off x="3108960" y="4069080"/>
            <a:ext cx="1069848" cy="640080"/>
          </a:xfrm>
          <a:prstGeom prst="roundRect">
            <a:avLst>
              <a:gd name="adj" fmla="val 11429"/>
            </a:avLst>
          </a:prstGeom>
          <a:solidFill>
            <a:srgbClr val="F7E7E1"/>
          </a:solidFill>
          <a:ln w="12700">
            <a:solidFill>
              <a:srgbClr val="F7E7E1">
                <a:alpha val="0"/>
              </a:srgbClr>
            </a:solidFill>
            <a:prstDash val="solid"/>
          </a:ln>
        </p:spPr>
      </p:sp>
      <p:sp>
        <p:nvSpPr>
          <p:cNvPr id="33" name="Text 31"/>
          <p:cNvSpPr/>
          <p:nvPr/>
        </p:nvSpPr>
        <p:spPr>
          <a:xfrm>
            <a:off x="3108960" y="4224528"/>
            <a:ext cx="1069848" cy="256032"/>
          </a:xfrm>
          <a:prstGeom prst="rect">
            <a:avLst/>
          </a:prstGeom>
          <a:noFill/>
          <a:ln/>
        </p:spPr>
        <p:txBody>
          <a:bodyPr wrap="square" lIns="0" tIns="0" rIns="0" bIns="0" rtlCol="0" anchor="ctr">
            <a:normAutofit/>
          </a:bodyPr>
          <a:lstStyle/>
          <a:p>
            <a:pPr algn="ctr" indent="0" marL="0">
              <a:buNone/>
            </a:pPr>
            <a:r>
              <a:rPr lang="en-US" sz="1900" b="1" dirty="0">
                <a:solidFill>
                  <a:srgbClr val="E77765"/>
                </a:solidFill>
                <a:latin typeface="Georgia" pitchFamily="34" charset="0"/>
                <a:ea typeface="Georgia" pitchFamily="34" charset="-122"/>
                <a:cs typeface="Georgia" pitchFamily="34" charset="-120"/>
              </a:rPr>
              <a:t>10</a:t>
            </a:r>
            <a:endParaRPr lang="en-US" sz="1900" dirty="0"/>
          </a:p>
        </p:txBody>
      </p:sp>
      <p:sp>
        <p:nvSpPr>
          <p:cNvPr id="34" name="Shape 32"/>
          <p:cNvSpPr/>
          <p:nvPr/>
        </p:nvSpPr>
        <p:spPr>
          <a:xfrm>
            <a:off x="1874520" y="4864608"/>
            <a:ext cx="1069848" cy="640080"/>
          </a:xfrm>
          <a:prstGeom prst="roundRect">
            <a:avLst>
              <a:gd name="adj" fmla="val 11429"/>
            </a:avLst>
          </a:prstGeom>
          <a:solidFill>
            <a:srgbClr val="F7E7E1"/>
          </a:solidFill>
          <a:ln w="12700">
            <a:solidFill>
              <a:srgbClr val="F7E7E1">
                <a:alpha val="0"/>
              </a:srgbClr>
            </a:solidFill>
            <a:prstDash val="solid"/>
          </a:ln>
        </p:spPr>
      </p:sp>
      <p:sp>
        <p:nvSpPr>
          <p:cNvPr id="35" name="Text 33"/>
          <p:cNvSpPr/>
          <p:nvPr/>
        </p:nvSpPr>
        <p:spPr>
          <a:xfrm>
            <a:off x="1874520" y="5020056"/>
            <a:ext cx="1069848" cy="256032"/>
          </a:xfrm>
          <a:prstGeom prst="rect">
            <a:avLst/>
          </a:prstGeom>
          <a:noFill/>
          <a:ln/>
        </p:spPr>
        <p:txBody>
          <a:bodyPr wrap="square" lIns="0" tIns="0" rIns="0" bIns="0" rtlCol="0" anchor="ctr">
            <a:normAutofit/>
          </a:bodyPr>
          <a:lstStyle/>
          <a:p>
            <a:pPr algn="ctr" indent="0" marL="0">
              <a:buNone/>
            </a:pPr>
            <a:r>
              <a:rPr lang="en-US" sz="1900" b="1" dirty="0">
                <a:solidFill>
                  <a:srgbClr val="E77765"/>
                </a:solidFill>
                <a:latin typeface="Georgia" pitchFamily="34" charset="0"/>
                <a:ea typeface="Georgia" pitchFamily="34" charset="-122"/>
                <a:cs typeface="Georgia" pitchFamily="34" charset="-120"/>
              </a:rPr>
              <a:t>26</a:t>
            </a:r>
            <a:endParaRPr lang="en-US" sz="1900" dirty="0"/>
          </a:p>
        </p:txBody>
      </p:sp>
      <p:sp>
        <p:nvSpPr>
          <p:cNvPr id="36" name="Shape 34"/>
          <p:cNvSpPr/>
          <p:nvPr/>
        </p:nvSpPr>
        <p:spPr>
          <a:xfrm>
            <a:off x="3108960" y="4864608"/>
            <a:ext cx="1069848" cy="640080"/>
          </a:xfrm>
          <a:prstGeom prst="roundRect">
            <a:avLst>
              <a:gd name="adj" fmla="val 11429"/>
            </a:avLst>
          </a:prstGeom>
          <a:solidFill>
            <a:srgbClr val="398E82"/>
          </a:solidFill>
          <a:ln w="12700">
            <a:solidFill>
              <a:srgbClr val="398E82">
                <a:alpha val="0"/>
              </a:srgbClr>
            </a:solidFill>
            <a:prstDash val="solid"/>
          </a:ln>
        </p:spPr>
      </p:sp>
      <p:sp>
        <p:nvSpPr>
          <p:cNvPr id="37" name="Text 35"/>
          <p:cNvSpPr/>
          <p:nvPr/>
        </p:nvSpPr>
        <p:spPr>
          <a:xfrm>
            <a:off x="3108960" y="5020056"/>
            <a:ext cx="1069848" cy="25603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Georgia" pitchFamily="34" charset="0"/>
                <a:ea typeface="Georgia" pitchFamily="34" charset="-122"/>
                <a:cs typeface="Georgia" pitchFamily="34" charset="-120"/>
              </a:rPr>
              <a:t>43</a:t>
            </a:r>
            <a:endParaRPr lang="en-US" sz="1900" dirty="0"/>
          </a:p>
        </p:txBody>
      </p:sp>
      <p:sp>
        <p:nvSpPr>
          <p:cNvPr id="38" name="Text 36"/>
          <p:cNvSpPr/>
          <p:nvPr/>
        </p:nvSpPr>
        <p:spPr>
          <a:xfrm>
            <a:off x="3246120" y="4160520"/>
            <a:ext cx="2286000" cy="530352"/>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Correct no: 100     False alarm: 10</a:t>
            </a:r>
            <a:endParaRPr lang="en-US" sz="900" dirty="0"/>
          </a:p>
          <a:p>
            <a:pPr algn="l" indent="0" marL="0">
              <a:buNone/>
            </a:pPr>
            <a:r>
              <a:rPr lang="en-US" sz="900" dirty="0">
                <a:solidFill>
                  <a:srgbClr val="71838D"/>
                </a:solidFill>
                <a:latin typeface="Aptos" pitchFamily="34" charset="0"/>
                <a:ea typeface="Aptos" pitchFamily="34" charset="-122"/>
                <a:cs typeface="Aptos" pitchFamily="34" charset="-120"/>
              </a:rPr>
              <a:t>Missed survivors: 26     Correct yes: 43</a:t>
            </a:r>
            <a:endParaRPr lang="en-US" sz="900" dirty="0"/>
          </a:p>
        </p:txBody>
      </p:sp>
      <p:sp>
        <p:nvSpPr>
          <p:cNvPr id="39" name="Shape 37"/>
          <p:cNvSpPr/>
          <p:nvPr/>
        </p:nvSpPr>
        <p:spPr>
          <a:xfrm>
            <a:off x="6172200" y="3182112"/>
            <a:ext cx="4754880" cy="2514600"/>
          </a:xfrm>
          <a:prstGeom prst="roundRect">
            <a:avLst>
              <a:gd name="adj" fmla="val 2909"/>
            </a:avLst>
          </a:prstGeom>
          <a:solidFill>
            <a:srgbClr val="142F49"/>
          </a:solidFill>
          <a:ln w="12700">
            <a:solidFill>
              <a:srgbClr val="142F49">
                <a:alpha val="0"/>
              </a:srgbClr>
            </a:solidFill>
            <a:prstDash val="solid"/>
          </a:ln>
        </p:spPr>
      </p:sp>
      <p:sp>
        <p:nvSpPr>
          <p:cNvPr id="40" name="Text 38"/>
          <p:cNvSpPr/>
          <p:nvPr/>
        </p:nvSpPr>
        <p:spPr>
          <a:xfrm>
            <a:off x="6473952" y="3511296"/>
            <a:ext cx="2834640" cy="164592"/>
          </a:xfrm>
          <a:prstGeom prst="rect">
            <a:avLst/>
          </a:prstGeom>
          <a:noFill/>
          <a:ln/>
        </p:spPr>
        <p:txBody>
          <a:bodyPr wrap="square" lIns="0" tIns="0" rIns="0" bIns="0" rtlCol="0" anchor="ctr">
            <a:normAutofit/>
          </a:bodyPr>
          <a:lstStyle/>
          <a:p>
            <a:pPr algn="l" indent="0" marL="0">
              <a:buNone/>
            </a:pPr>
            <a:r>
              <a:rPr lang="en-US" sz="800" b="1" spc="100" kern="0" dirty="0">
                <a:solidFill>
                  <a:srgbClr val="D1A56A"/>
                </a:solidFill>
                <a:latin typeface="Aptos" pitchFamily="34" charset="0"/>
                <a:ea typeface="Aptos" pitchFamily="34" charset="-122"/>
                <a:cs typeface="Aptos" pitchFamily="34" charset="-120"/>
              </a:rPr>
              <a:t>WHAT TO TAKE AWAY</a:t>
            </a:r>
            <a:endParaRPr lang="en-US" sz="800" dirty="0"/>
          </a:p>
        </p:txBody>
      </p:sp>
      <p:sp>
        <p:nvSpPr>
          <p:cNvPr id="41" name="Text 39"/>
          <p:cNvSpPr/>
          <p:nvPr/>
        </p:nvSpPr>
        <p:spPr>
          <a:xfrm>
            <a:off x="6473952" y="3858768"/>
            <a:ext cx="3840480" cy="502920"/>
          </a:xfrm>
          <a:prstGeom prst="rect">
            <a:avLst/>
          </a:prstGeom>
          <a:noFill/>
          <a:ln/>
        </p:spPr>
        <p:txBody>
          <a:bodyPr wrap="square" lIns="0" tIns="0" rIns="0" bIns="0" rtlCol="0" anchor="ctr">
            <a:normAutofit/>
          </a:bodyPr>
          <a:lstStyle/>
          <a:p>
            <a:pPr algn="l" indent="0" marL="0">
              <a:buNone/>
            </a:pPr>
            <a:r>
              <a:rPr lang="en-US" sz="1900" b="1" dirty="0">
                <a:solidFill>
                  <a:srgbClr val="FAF8F1"/>
                </a:solidFill>
                <a:latin typeface="Georgia" pitchFamily="34" charset="0"/>
                <a:ea typeface="Georgia" pitchFamily="34" charset="-122"/>
                <a:cs typeface="Georgia" pitchFamily="34" charset="-120"/>
              </a:rPr>
              <a:t>A useful project result is more than accuracy.</a:t>
            </a:r>
            <a:endParaRPr lang="en-US" sz="1900" dirty="0"/>
          </a:p>
        </p:txBody>
      </p:sp>
      <p:sp>
        <p:nvSpPr>
          <p:cNvPr id="42" name="Text 40"/>
          <p:cNvSpPr/>
          <p:nvPr/>
        </p:nvSpPr>
        <p:spPr>
          <a:xfrm>
            <a:off x="6473952" y="4645152"/>
            <a:ext cx="3886200" cy="658368"/>
          </a:xfrm>
          <a:prstGeom prst="rect">
            <a:avLst/>
          </a:prstGeom>
          <a:noFill/>
          <a:ln/>
        </p:spPr>
        <p:txBody>
          <a:bodyPr wrap="square" lIns="0" tIns="0" rIns="0" bIns="0" rtlCol="0" anchor="ctr">
            <a:normAutofit/>
          </a:bodyPr>
          <a:lstStyle/>
          <a:p>
            <a:pPr algn="l" indent="0" marL="0">
              <a:buNone/>
            </a:pPr>
            <a:r>
              <a:rPr lang="en-US" sz="1000" dirty="0">
                <a:solidFill>
                  <a:srgbClr val="D1DEDA"/>
                </a:solidFill>
                <a:latin typeface="Aptos" pitchFamily="34" charset="0"/>
                <a:ea typeface="Aptos" pitchFamily="34" charset="-122"/>
                <a:cs typeface="Aptos" pitchFamily="34" charset="-120"/>
              </a:rPr>
              <a:t>The model finds 43 of 69 survivors on the held-out split. The remaining 26 false negatives show why recall matters.</a:t>
            </a:r>
            <a:endParaRPr lang="en-US" sz="1000" dirty="0"/>
          </a:p>
        </p:txBody>
      </p:sp>
      <p:sp>
        <p:nvSpPr>
          <p:cNvPr id="44" name="Text 41">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45" name="Text 42">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46" name="Text 43">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47" name="Text 44">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48" name="Text 45">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08 / INTERPRETATION</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Model signal is not historical explanation</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Permutation importance on the validation data ranks sex, passenger class, and age among the strongest predictive features.</a:t>
            </a:r>
            <a:endParaRPr lang="en-US" sz="1100" dirty="0"/>
          </a:p>
        </p:txBody>
      </p:sp>
      <p:sp>
        <p:nvSpPr>
          <p:cNvPr id="5" name="Shape 3"/>
          <p:cNvSpPr/>
          <p:nvPr/>
        </p:nvSpPr>
        <p:spPr>
          <a:xfrm>
            <a:off x="731520" y="1737360"/>
            <a:ext cx="5303520" cy="4114800"/>
          </a:xfrm>
          <a:prstGeom prst="roundRect">
            <a:avLst>
              <a:gd name="adj" fmla="val 1778"/>
            </a:avLst>
          </a:prstGeom>
          <a:solidFill>
            <a:srgbClr val="FFFFFF"/>
          </a:solidFill>
          <a:ln w="10160">
            <a:solidFill>
              <a:srgbClr val="D8E0DC"/>
            </a:solidFill>
            <a:prstDash val="solid"/>
          </a:ln>
        </p:spPr>
      </p:sp>
      <p:sp>
        <p:nvSpPr>
          <p:cNvPr id="6" name="Text 4"/>
          <p:cNvSpPr/>
          <p:nvPr/>
        </p:nvSpPr>
        <p:spPr>
          <a:xfrm>
            <a:off x="1005840" y="2011680"/>
            <a:ext cx="3657600" cy="201168"/>
          </a:xfrm>
          <a:prstGeom prst="rect">
            <a:avLst/>
          </a:prstGeom>
          <a:noFill/>
          <a:ln/>
        </p:spPr>
        <p:txBody>
          <a:bodyPr wrap="square" lIns="0" tIns="0" rIns="0" bIns="0" rtlCol="0" anchor="ctr">
            <a:normAutofit/>
          </a:bodyPr>
          <a:lstStyle/>
          <a:p>
            <a:pPr algn="l" indent="0" marL="0">
              <a:buNone/>
            </a:pPr>
            <a:r>
              <a:rPr lang="en-US" sz="1700" b="1" dirty="0">
                <a:solidFill>
                  <a:srgbClr val="213B52"/>
                </a:solidFill>
                <a:latin typeface="Georgia" pitchFamily="34" charset="0"/>
                <a:ea typeface="Georgia" pitchFamily="34" charset="-122"/>
                <a:cs typeface="Georgia" pitchFamily="34" charset="-120"/>
              </a:rPr>
              <a:t>TOP VALIDATION SIGNALS</a:t>
            </a:r>
            <a:endParaRPr lang="en-US" sz="1700" dirty="0"/>
          </a:p>
        </p:txBody>
      </p:sp>
      <p:sp>
        <p:nvSpPr>
          <p:cNvPr id="7" name="Text 5"/>
          <p:cNvSpPr/>
          <p:nvPr/>
        </p:nvSpPr>
        <p:spPr>
          <a:xfrm>
            <a:off x="1005840" y="2715768"/>
            <a:ext cx="1325880" cy="173736"/>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sex</a:t>
            </a:r>
            <a:endParaRPr lang="en-US" sz="900" dirty="0"/>
          </a:p>
        </p:txBody>
      </p:sp>
      <p:sp>
        <p:nvSpPr>
          <p:cNvPr id="8" name="Shape 6"/>
          <p:cNvSpPr/>
          <p:nvPr/>
        </p:nvSpPr>
        <p:spPr>
          <a:xfrm>
            <a:off x="2423160" y="2724912"/>
            <a:ext cx="2560320" cy="128016"/>
          </a:xfrm>
          <a:prstGeom prst="roundRect">
            <a:avLst>
              <a:gd name="adj" fmla="val 57143"/>
            </a:avLst>
          </a:prstGeom>
          <a:solidFill>
            <a:srgbClr val="E8EEEA"/>
          </a:solidFill>
          <a:ln w="12700">
            <a:solidFill>
              <a:srgbClr val="E8EEEA">
                <a:alpha val="0"/>
              </a:srgbClr>
            </a:solidFill>
            <a:prstDash val="solid"/>
          </a:ln>
        </p:spPr>
      </p:sp>
      <p:sp>
        <p:nvSpPr>
          <p:cNvPr id="9" name="Shape 7"/>
          <p:cNvSpPr/>
          <p:nvPr/>
        </p:nvSpPr>
        <p:spPr>
          <a:xfrm>
            <a:off x="2423160" y="2724912"/>
            <a:ext cx="2560320" cy="128016"/>
          </a:xfrm>
          <a:prstGeom prst="roundRect">
            <a:avLst>
              <a:gd name="adj" fmla="val 57143"/>
            </a:avLst>
          </a:prstGeom>
          <a:solidFill>
            <a:srgbClr val="398E82"/>
          </a:solidFill>
          <a:ln w="12700">
            <a:solidFill>
              <a:srgbClr val="398E82">
                <a:alpha val="0"/>
              </a:srgbClr>
            </a:solidFill>
            <a:prstDash val="solid"/>
          </a:ln>
        </p:spPr>
      </p:sp>
      <p:sp>
        <p:nvSpPr>
          <p:cNvPr id="10" name="Text 8"/>
          <p:cNvSpPr/>
          <p:nvPr/>
        </p:nvSpPr>
        <p:spPr>
          <a:xfrm>
            <a:off x="5047488" y="2692908"/>
            <a:ext cx="438912" cy="182880"/>
          </a:xfrm>
          <a:prstGeom prst="rect">
            <a:avLst/>
          </a:prstGeom>
          <a:noFill/>
          <a:ln/>
        </p:spPr>
        <p:txBody>
          <a:bodyPr wrap="square" lIns="0" tIns="0" rIns="0" bIns="0" rtlCol="0" anchor="ctr">
            <a:normAutofit/>
          </a:bodyPr>
          <a:lstStyle/>
          <a:p>
            <a:pPr algn="r" indent="0" marL="0">
              <a:buNone/>
            </a:pPr>
            <a:r>
              <a:rPr lang="en-US" sz="900" b="1" dirty="0">
                <a:solidFill>
                  <a:srgbClr val="398E82"/>
                </a:solidFill>
                <a:latin typeface="Aptos" pitchFamily="34" charset="0"/>
                <a:ea typeface="Aptos" pitchFamily="34" charset="-122"/>
                <a:cs typeface="Aptos" pitchFamily="34" charset="-120"/>
              </a:rPr>
              <a:t>Top</a:t>
            </a:r>
            <a:endParaRPr lang="en-US" sz="900" dirty="0"/>
          </a:p>
        </p:txBody>
      </p:sp>
      <p:sp>
        <p:nvSpPr>
          <p:cNvPr id="11" name="Text 9"/>
          <p:cNvSpPr/>
          <p:nvPr/>
        </p:nvSpPr>
        <p:spPr>
          <a:xfrm>
            <a:off x="1005840" y="3249168"/>
            <a:ext cx="1325880" cy="173736"/>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pclass</a:t>
            </a:r>
            <a:endParaRPr lang="en-US" sz="900" dirty="0"/>
          </a:p>
        </p:txBody>
      </p:sp>
      <p:sp>
        <p:nvSpPr>
          <p:cNvPr id="12" name="Shape 10"/>
          <p:cNvSpPr/>
          <p:nvPr/>
        </p:nvSpPr>
        <p:spPr>
          <a:xfrm>
            <a:off x="2423160" y="3258312"/>
            <a:ext cx="2560320" cy="128016"/>
          </a:xfrm>
          <a:prstGeom prst="roundRect">
            <a:avLst>
              <a:gd name="adj" fmla="val 57143"/>
            </a:avLst>
          </a:prstGeom>
          <a:solidFill>
            <a:srgbClr val="E8EEEA"/>
          </a:solidFill>
          <a:ln w="12700">
            <a:solidFill>
              <a:srgbClr val="E8EEEA">
                <a:alpha val="0"/>
              </a:srgbClr>
            </a:solidFill>
            <a:prstDash val="solid"/>
          </a:ln>
        </p:spPr>
      </p:sp>
      <p:sp>
        <p:nvSpPr>
          <p:cNvPr id="13" name="Shape 11"/>
          <p:cNvSpPr/>
          <p:nvPr/>
        </p:nvSpPr>
        <p:spPr>
          <a:xfrm>
            <a:off x="2423160" y="3258312"/>
            <a:ext cx="1843430" cy="128016"/>
          </a:xfrm>
          <a:prstGeom prst="roundRect">
            <a:avLst>
              <a:gd name="adj" fmla="val 57143"/>
            </a:avLst>
          </a:prstGeom>
          <a:solidFill>
            <a:srgbClr val="E77765"/>
          </a:solidFill>
          <a:ln w="12700">
            <a:solidFill>
              <a:srgbClr val="E77765">
                <a:alpha val="0"/>
              </a:srgbClr>
            </a:solidFill>
            <a:prstDash val="solid"/>
          </a:ln>
        </p:spPr>
      </p:sp>
      <p:sp>
        <p:nvSpPr>
          <p:cNvPr id="14" name="Text 12"/>
          <p:cNvSpPr/>
          <p:nvPr/>
        </p:nvSpPr>
        <p:spPr>
          <a:xfrm>
            <a:off x="5047488" y="3226308"/>
            <a:ext cx="438912" cy="182880"/>
          </a:xfrm>
          <a:prstGeom prst="rect">
            <a:avLst/>
          </a:prstGeom>
          <a:noFill/>
          <a:ln/>
        </p:spPr>
        <p:txBody>
          <a:bodyPr wrap="square" lIns="0" tIns="0" rIns="0" bIns="0" rtlCol="0" anchor="ctr">
            <a:normAutofit/>
          </a:bodyPr>
          <a:lstStyle/>
          <a:p>
            <a:pPr algn="r" indent="0" marL="0">
              <a:buNone/>
            </a:pPr>
            <a:r>
              <a:rPr lang="en-US" sz="900" b="1" dirty="0">
                <a:solidFill>
                  <a:srgbClr val="E77765"/>
                </a:solidFill>
                <a:latin typeface="Aptos" pitchFamily="34" charset="0"/>
                <a:ea typeface="Aptos" pitchFamily="34" charset="-122"/>
                <a:cs typeface="Aptos" pitchFamily="34" charset="-120"/>
              </a:rPr>
              <a:t>High</a:t>
            </a:r>
            <a:endParaRPr lang="en-US" sz="900" dirty="0"/>
          </a:p>
        </p:txBody>
      </p:sp>
      <p:sp>
        <p:nvSpPr>
          <p:cNvPr id="15" name="Text 13"/>
          <p:cNvSpPr/>
          <p:nvPr/>
        </p:nvSpPr>
        <p:spPr>
          <a:xfrm>
            <a:off x="1005840" y="3782568"/>
            <a:ext cx="1325880" cy="173736"/>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age</a:t>
            </a:r>
            <a:endParaRPr lang="en-US" sz="900" dirty="0"/>
          </a:p>
        </p:txBody>
      </p:sp>
      <p:sp>
        <p:nvSpPr>
          <p:cNvPr id="16" name="Shape 14"/>
          <p:cNvSpPr/>
          <p:nvPr/>
        </p:nvSpPr>
        <p:spPr>
          <a:xfrm>
            <a:off x="2423160" y="3791712"/>
            <a:ext cx="2560320" cy="128016"/>
          </a:xfrm>
          <a:prstGeom prst="roundRect">
            <a:avLst>
              <a:gd name="adj" fmla="val 57143"/>
            </a:avLst>
          </a:prstGeom>
          <a:solidFill>
            <a:srgbClr val="E8EEEA"/>
          </a:solidFill>
          <a:ln w="12700">
            <a:solidFill>
              <a:srgbClr val="E8EEEA">
                <a:alpha val="0"/>
              </a:srgbClr>
            </a:solidFill>
            <a:prstDash val="solid"/>
          </a:ln>
        </p:spPr>
      </p:sp>
      <p:sp>
        <p:nvSpPr>
          <p:cNvPr id="17" name="Shape 15"/>
          <p:cNvSpPr/>
          <p:nvPr/>
        </p:nvSpPr>
        <p:spPr>
          <a:xfrm>
            <a:off x="2423160" y="3791712"/>
            <a:ext cx="947318" cy="128016"/>
          </a:xfrm>
          <a:prstGeom prst="roundRect">
            <a:avLst>
              <a:gd name="adj" fmla="val 57143"/>
            </a:avLst>
          </a:prstGeom>
          <a:solidFill>
            <a:srgbClr val="D1A56A"/>
          </a:solidFill>
          <a:ln w="12700">
            <a:solidFill>
              <a:srgbClr val="D1A56A">
                <a:alpha val="0"/>
              </a:srgbClr>
            </a:solidFill>
            <a:prstDash val="solid"/>
          </a:ln>
        </p:spPr>
      </p:sp>
      <p:sp>
        <p:nvSpPr>
          <p:cNvPr id="18" name="Text 16"/>
          <p:cNvSpPr/>
          <p:nvPr/>
        </p:nvSpPr>
        <p:spPr>
          <a:xfrm>
            <a:off x="5047488" y="3759708"/>
            <a:ext cx="438912" cy="182880"/>
          </a:xfrm>
          <a:prstGeom prst="rect">
            <a:avLst/>
          </a:prstGeom>
          <a:noFill/>
          <a:ln/>
        </p:spPr>
        <p:txBody>
          <a:bodyPr wrap="square" lIns="0" tIns="0" rIns="0" bIns="0" rtlCol="0" anchor="ctr">
            <a:normAutofit/>
          </a:bodyPr>
          <a:lstStyle/>
          <a:p>
            <a:pPr algn="r" indent="0" marL="0">
              <a:buNone/>
            </a:pPr>
            <a:r>
              <a:rPr lang="en-US" sz="900" b="1" dirty="0">
                <a:solidFill>
                  <a:srgbClr val="D1A56A"/>
                </a:solidFill>
                <a:latin typeface="Aptos" pitchFamily="34" charset="0"/>
                <a:ea typeface="Aptos" pitchFamily="34" charset="-122"/>
                <a:cs typeface="Aptos" pitchFamily="34" charset="-120"/>
              </a:rPr>
              <a:t>Moderate</a:t>
            </a:r>
            <a:endParaRPr lang="en-US" sz="900" dirty="0"/>
          </a:p>
        </p:txBody>
      </p:sp>
      <p:sp>
        <p:nvSpPr>
          <p:cNvPr id="19" name="Text 17"/>
          <p:cNvSpPr/>
          <p:nvPr/>
        </p:nvSpPr>
        <p:spPr>
          <a:xfrm>
            <a:off x="1005840" y="5138928"/>
            <a:ext cx="4389120" cy="24688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Relative ordering only; bars are illustrative, not raw importance scores.</a:t>
            </a:r>
            <a:endParaRPr lang="en-US" sz="800" dirty="0"/>
          </a:p>
        </p:txBody>
      </p:sp>
      <p:sp>
        <p:nvSpPr>
          <p:cNvPr id="20" name="Shape 18"/>
          <p:cNvSpPr/>
          <p:nvPr/>
        </p:nvSpPr>
        <p:spPr>
          <a:xfrm>
            <a:off x="6419088" y="1737360"/>
            <a:ext cx="4709160" cy="4114800"/>
          </a:xfrm>
          <a:prstGeom prst="roundRect">
            <a:avLst>
              <a:gd name="adj" fmla="val 1778"/>
            </a:avLst>
          </a:prstGeom>
          <a:solidFill>
            <a:srgbClr val="E3F0E9"/>
          </a:solidFill>
          <a:ln w="12700">
            <a:solidFill>
              <a:srgbClr val="E3F0E9">
                <a:alpha val="0"/>
              </a:srgbClr>
            </a:solidFill>
            <a:prstDash val="solid"/>
          </a:ln>
        </p:spPr>
      </p:sp>
      <p:sp>
        <p:nvSpPr>
          <p:cNvPr id="21" name="Text 19"/>
          <p:cNvSpPr/>
          <p:nvPr/>
        </p:nvSpPr>
        <p:spPr>
          <a:xfrm>
            <a:off x="6720840" y="2029968"/>
            <a:ext cx="347472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398E82"/>
                </a:solidFill>
                <a:latin typeface="Aptos" pitchFamily="34" charset="0"/>
                <a:ea typeface="Aptos" pitchFamily="34" charset="-122"/>
                <a:cs typeface="Aptos" pitchFamily="34" charset="-120"/>
              </a:rPr>
              <a:t>LIMITS TO STATE CLEARLY</a:t>
            </a:r>
            <a:endParaRPr lang="en-US" sz="800" dirty="0"/>
          </a:p>
        </p:txBody>
      </p:sp>
      <p:sp>
        <p:nvSpPr>
          <p:cNvPr id="22" name="Shape 20"/>
          <p:cNvSpPr/>
          <p:nvPr/>
        </p:nvSpPr>
        <p:spPr>
          <a:xfrm>
            <a:off x="6729984" y="2496312"/>
            <a:ext cx="192024" cy="192024"/>
          </a:xfrm>
          <a:prstGeom prst="ellipse">
            <a:avLst/>
          </a:prstGeom>
          <a:solidFill>
            <a:srgbClr val="398E82"/>
          </a:solidFill>
          <a:ln w="8890">
            <a:solidFill>
              <a:srgbClr val="398E82"/>
            </a:solidFill>
            <a:prstDash val="solid"/>
          </a:ln>
        </p:spPr>
      </p:sp>
      <p:sp>
        <p:nvSpPr>
          <p:cNvPr id="23" name="Text 21"/>
          <p:cNvSpPr/>
          <p:nvPr/>
        </p:nvSpPr>
        <p:spPr>
          <a:xfrm>
            <a:off x="6729984" y="2537460"/>
            <a:ext cx="192024" cy="109728"/>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1</a:t>
            </a:r>
            <a:endParaRPr lang="en-US" sz="700" dirty="0"/>
          </a:p>
        </p:txBody>
      </p:sp>
      <p:sp>
        <p:nvSpPr>
          <p:cNvPr id="24" name="Text 22"/>
          <p:cNvSpPr/>
          <p:nvPr/>
        </p:nvSpPr>
        <p:spPr>
          <a:xfrm>
            <a:off x="7059168" y="2468880"/>
            <a:ext cx="3474720" cy="164592"/>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Historical sample</a:t>
            </a:r>
            <a:endParaRPr lang="en-US" sz="1000" dirty="0"/>
          </a:p>
        </p:txBody>
      </p:sp>
      <p:sp>
        <p:nvSpPr>
          <p:cNvPr id="25" name="Text 23"/>
          <p:cNvSpPr/>
          <p:nvPr/>
        </p:nvSpPr>
        <p:spPr>
          <a:xfrm>
            <a:off x="7059168" y="2697480"/>
            <a:ext cx="3474720" cy="29260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The CSV is a limited record of passengers, not every factor aboard.</a:t>
            </a:r>
            <a:endParaRPr lang="en-US" sz="800" dirty="0"/>
          </a:p>
        </p:txBody>
      </p:sp>
      <p:sp>
        <p:nvSpPr>
          <p:cNvPr id="26" name="Shape 24"/>
          <p:cNvSpPr/>
          <p:nvPr/>
        </p:nvSpPr>
        <p:spPr>
          <a:xfrm>
            <a:off x="6729984" y="3182112"/>
            <a:ext cx="192024" cy="192024"/>
          </a:xfrm>
          <a:prstGeom prst="ellipse">
            <a:avLst/>
          </a:prstGeom>
          <a:solidFill>
            <a:srgbClr val="398E82"/>
          </a:solidFill>
          <a:ln w="8890">
            <a:solidFill>
              <a:srgbClr val="398E82"/>
            </a:solidFill>
            <a:prstDash val="solid"/>
          </a:ln>
        </p:spPr>
      </p:sp>
      <p:sp>
        <p:nvSpPr>
          <p:cNvPr id="27" name="Text 25"/>
          <p:cNvSpPr/>
          <p:nvPr/>
        </p:nvSpPr>
        <p:spPr>
          <a:xfrm>
            <a:off x="6729984" y="3223260"/>
            <a:ext cx="192024" cy="109728"/>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2</a:t>
            </a:r>
            <a:endParaRPr lang="en-US" sz="700" dirty="0"/>
          </a:p>
        </p:txBody>
      </p:sp>
      <p:sp>
        <p:nvSpPr>
          <p:cNvPr id="28" name="Text 26"/>
          <p:cNvSpPr/>
          <p:nvPr/>
        </p:nvSpPr>
        <p:spPr>
          <a:xfrm>
            <a:off x="7059168" y="3154680"/>
            <a:ext cx="3474720" cy="164592"/>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Not causal</a:t>
            </a:r>
            <a:endParaRPr lang="en-US" sz="1000" dirty="0"/>
          </a:p>
        </p:txBody>
      </p:sp>
      <p:sp>
        <p:nvSpPr>
          <p:cNvPr id="29" name="Text 27"/>
          <p:cNvSpPr/>
          <p:nvPr/>
        </p:nvSpPr>
        <p:spPr>
          <a:xfrm>
            <a:off x="7059168" y="3383280"/>
            <a:ext cx="3474720" cy="29260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Feature importance shows predictive signal, not what caused survival.</a:t>
            </a:r>
            <a:endParaRPr lang="en-US" sz="800" dirty="0"/>
          </a:p>
        </p:txBody>
      </p:sp>
      <p:sp>
        <p:nvSpPr>
          <p:cNvPr id="30" name="Shape 28"/>
          <p:cNvSpPr/>
          <p:nvPr/>
        </p:nvSpPr>
        <p:spPr>
          <a:xfrm>
            <a:off x="6729984" y="3867912"/>
            <a:ext cx="192024" cy="192024"/>
          </a:xfrm>
          <a:prstGeom prst="ellipse">
            <a:avLst/>
          </a:prstGeom>
          <a:solidFill>
            <a:srgbClr val="E77765"/>
          </a:solidFill>
          <a:ln w="8890">
            <a:solidFill>
              <a:srgbClr val="E77765"/>
            </a:solidFill>
            <a:prstDash val="solid"/>
          </a:ln>
        </p:spPr>
      </p:sp>
      <p:sp>
        <p:nvSpPr>
          <p:cNvPr id="31" name="Text 29"/>
          <p:cNvSpPr/>
          <p:nvPr/>
        </p:nvSpPr>
        <p:spPr>
          <a:xfrm>
            <a:off x="6729984" y="3909060"/>
            <a:ext cx="192024" cy="109728"/>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3</a:t>
            </a:r>
            <a:endParaRPr lang="en-US" sz="700" dirty="0"/>
          </a:p>
        </p:txBody>
      </p:sp>
      <p:sp>
        <p:nvSpPr>
          <p:cNvPr id="32" name="Text 30"/>
          <p:cNvSpPr/>
          <p:nvPr/>
        </p:nvSpPr>
        <p:spPr>
          <a:xfrm>
            <a:off x="7059168" y="3840480"/>
            <a:ext cx="3474720" cy="164592"/>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Estimate, not certainty</a:t>
            </a:r>
            <a:endParaRPr lang="en-US" sz="1000" dirty="0"/>
          </a:p>
        </p:txBody>
      </p:sp>
      <p:sp>
        <p:nvSpPr>
          <p:cNvPr id="33" name="Text 31"/>
          <p:cNvSpPr/>
          <p:nvPr/>
        </p:nvSpPr>
        <p:spPr>
          <a:xfrm>
            <a:off x="7059168" y="4069080"/>
            <a:ext cx="3474720" cy="29260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The score is a model output, not a claim about a real person.</a:t>
            </a:r>
            <a:endParaRPr lang="en-US" sz="800" dirty="0"/>
          </a:p>
        </p:txBody>
      </p:sp>
      <p:sp>
        <p:nvSpPr>
          <p:cNvPr id="34" name="Shape 32"/>
          <p:cNvSpPr/>
          <p:nvPr/>
        </p:nvSpPr>
        <p:spPr>
          <a:xfrm>
            <a:off x="6729984" y="4553712"/>
            <a:ext cx="192024" cy="192024"/>
          </a:xfrm>
          <a:prstGeom prst="ellipse">
            <a:avLst/>
          </a:prstGeom>
          <a:solidFill>
            <a:srgbClr val="398E82"/>
          </a:solidFill>
          <a:ln w="8890">
            <a:solidFill>
              <a:srgbClr val="398E82"/>
            </a:solidFill>
            <a:prstDash val="solid"/>
          </a:ln>
        </p:spPr>
      </p:sp>
      <p:sp>
        <p:nvSpPr>
          <p:cNvPr id="35" name="Text 33"/>
          <p:cNvSpPr/>
          <p:nvPr/>
        </p:nvSpPr>
        <p:spPr>
          <a:xfrm>
            <a:off x="6729984" y="4594860"/>
            <a:ext cx="192024" cy="109728"/>
          </a:xfrm>
          <a:prstGeom prst="rect">
            <a:avLst/>
          </a:prstGeom>
          <a:noFill/>
          <a:ln/>
        </p:spPr>
        <p:txBody>
          <a:bodyPr wrap="square" lIns="0" tIns="0" rIns="0" bIns="0" rtlCol="0" anchor="ctr">
            <a:normAutofit/>
          </a:bodyPr>
          <a:lstStyle/>
          <a:p>
            <a:pPr algn="ctr" indent="0" marL="0">
              <a:buNone/>
            </a:pPr>
            <a:r>
              <a:rPr lang="en-US" sz="700" b="1" dirty="0">
                <a:solidFill>
                  <a:srgbClr val="FFFFFF"/>
                </a:solidFill>
                <a:latin typeface="Aptos" pitchFamily="34" charset="0"/>
                <a:ea typeface="Aptos" pitchFamily="34" charset="-122"/>
                <a:cs typeface="Aptos" pitchFamily="34" charset="-120"/>
              </a:rPr>
              <a:t>4</a:t>
            </a:r>
            <a:endParaRPr lang="en-US" sz="700" dirty="0"/>
          </a:p>
        </p:txBody>
      </p:sp>
      <p:sp>
        <p:nvSpPr>
          <p:cNvPr id="36" name="Text 34"/>
          <p:cNvSpPr/>
          <p:nvPr/>
        </p:nvSpPr>
        <p:spPr>
          <a:xfrm>
            <a:off x="7059168" y="4526280"/>
            <a:ext cx="3474720" cy="164592"/>
          </a:xfrm>
          <a:prstGeom prst="rect">
            <a:avLst/>
          </a:prstGeom>
          <a:noFill/>
          <a:ln/>
        </p:spPr>
        <p:txBody>
          <a:bodyPr wrap="square" lIns="0" tIns="0" rIns="0" bIns="0" rtlCol="0" anchor="ctr">
            <a:normAutofit/>
          </a:bodyPr>
          <a:lstStyle/>
          <a:p>
            <a:pPr algn="l" indent="0" marL="0">
              <a:buNone/>
            </a:pPr>
            <a:r>
              <a:rPr lang="en-US" sz="1000" b="1" dirty="0">
                <a:solidFill>
                  <a:srgbClr val="213B52"/>
                </a:solidFill>
                <a:latin typeface="Aptos" pitchFamily="34" charset="0"/>
                <a:ea typeface="Aptos" pitchFamily="34" charset="-122"/>
                <a:cs typeface="Aptos" pitchFamily="34" charset="-120"/>
              </a:rPr>
              <a:t>Different model fits</a:t>
            </a:r>
            <a:endParaRPr lang="en-US" sz="1000" dirty="0"/>
          </a:p>
        </p:txBody>
      </p:sp>
      <p:sp>
        <p:nvSpPr>
          <p:cNvPr id="37" name="Text 35"/>
          <p:cNvSpPr/>
          <p:nvPr/>
        </p:nvSpPr>
        <p:spPr>
          <a:xfrm>
            <a:off x="7059168" y="4754880"/>
            <a:ext cx="3474720" cy="292608"/>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Validation is held out; the saved demo model is refit on all rows.</a:t>
            </a:r>
            <a:endParaRPr lang="en-US" sz="800" dirty="0"/>
          </a:p>
        </p:txBody>
      </p:sp>
      <p:sp>
        <p:nvSpPr>
          <p:cNvPr id="39" name="Text 36">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40" name="Text 37">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41" name="Text 38">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42" name="Text 39">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43" name="Text 40">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09 / SYSTEM ARCHITECTURE</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A saved pipeline powers the prediction page</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 website form and notebook use the same six model fields; the API loads the joblib pipeline at startup.</a:t>
            </a:r>
            <a:endParaRPr lang="en-US" sz="1100" dirty="0"/>
          </a:p>
        </p:txBody>
      </p:sp>
      <p:sp>
        <p:nvSpPr>
          <p:cNvPr id="5" name="Shape 3"/>
          <p:cNvSpPr/>
          <p:nvPr/>
        </p:nvSpPr>
        <p:spPr>
          <a:xfrm>
            <a:off x="777240" y="2148840"/>
            <a:ext cx="1965960" cy="1143000"/>
          </a:xfrm>
          <a:prstGeom prst="roundRect">
            <a:avLst>
              <a:gd name="adj" fmla="val 6400"/>
            </a:avLst>
          </a:prstGeom>
          <a:solidFill>
            <a:srgbClr val="142F49"/>
          </a:solidFill>
          <a:ln w="12700">
            <a:solidFill>
              <a:srgbClr val="142F49">
                <a:alpha val="0"/>
              </a:srgbClr>
            </a:solidFill>
            <a:prstDash val="solid"/>
          </a:ln>
        </p:spPr>
      </p:sp>
      <p:sp>
        <p:nvSpPr>
          <p:cNvPr id="6" name="Text 4"/>
          <p:cNvSpPr/>
          <p:nvPr/>
        </p:nvSpPr>
        <p:spPr>
          <a:xfrm>
            <a:off x="923544" y="2350008"/>
            <a:ext cx="1673352" cy="25603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Browser UI</a:t>
            </a:r>
            <a:endParaRPr lang="en-US" sz="1500" dirty="0"/>
          </a:p>
        </p:txBody>
      </p:sp>
      <p:sp>
        <p:nvSpPr>
          <p:cNvPr id="7" name="Text 5"/>
          <p:cNvSpPr/>
          <p:nvPr/>
        </p:nvSpPr>
        <p:spPr>
          <a:xfrm>
            <a:off x="923544" y="2770632"/>
            <a:ext cx="1673352" cy="347472"/>
          </a:xfrm>
          <a:prstGeom prst="rect">
            <a:avLst/>
          </a:prstGeom>
          <a:noFill/>
          <a:ln/>
        </p:spPr>
        <p:txBody>
          <a:bodyPr wrap="square" lIns="0" tIns="0" rIns="0" bIns="0" rtlCol="0" anchor="ctr">
            <a:normAutofit/>
          </a:bodyPr>
          <a:lstStyle/>
          <a:p>
            <a:pPr algn="ctr" indent="0" marL="0">
              <a:buNone/>
            </a:pPr>
            <a:r>
              <a:rPr lang="en-US" sz="800" dirty="0">
                <a:solidFill>
                  <a:srgbClr val="E6EFEB"/>
                </a:solidFill>
                <a:latin typeface="Aptos" pitchFamily="34" charset="0"/>
                <a:ea typeface="Aptos" pitchFamily="34" charset="-122"/>
                <a:cs typeface="Aptos" pitchFamily="34" charset="-120"/>
              </a:rPr>
              <a:t>HTML • CSS • JavaScript</a:t>
            </a:r>
            <a:endParaRPr lang="en-US" sz="800" dirty="0"/>
          </a:p>
        </p:txBody>
      </p:sp>
      <p:sp>
        <p:nvSpPr>
          <p:cNvPr id="8" name="Shape 6"/>
          <p:cNvSpPr/>
          <p:nvPr/>
        </p:nvSpPr>
        <p:spPr>
          <a:xfrm>
            <a:off x="3657600" y="2148840"/>
            <a:ext cx="1965960" cy="1143000"/>
          </a:xfrm>
          <a:prstGeom prst="roundRect">
            <a:avLst>
              <a:gd name="adj" fmla="val 6400"/>
            </a:avLst>
          </a:prstGeom>
          <a:solidFill>
            <a:srgbClr val="398E82"/>
          </a:solidFill>
          <a:ln w="12700">
            <a:solidFill>
              <a:srgbClr val="398E82">
                <a:alpha val="0"/>
              </a:srgbClr>
            </a:solidFill>
            <a:prstDash val="solid"/>
          </a:ln>
        </p:spPr>
      </p:sp>
      <p:sp>
        <p:nvSpPr>
          <p:cNvPr id="9" name="Text 7"/>
          <p:cNvSpPr/>
          <p:nvPr/>
        </p:nvSpPr>
        <p:spPr>
          <a:xfrm>
            <a:off x="3803904" y="2350008"/>
            <a:ext cx="1673352" cy="25603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FastAPI</a:t>
            </a:r>
            <a:endParaRPr lang="en-US" sz="1500" dirty="0"/>
          </a:p>
        </p:txBody>
      </p:sp>
      <p:sp>
        <p:nvSpPr>
          <p:cNvPr id="10" name="Text 8"/>
          <p:cNvSpPr/>
          <p:nvPr/>
        </p:nvSpPr>
        <p:spPr>
          <a:xfrm>
            <a:off x="3803904" y="2770632"/>
            <a:ext cx="1673352" cy="347472"/>
          </a:xfrm>
          <a:prstGeom prst="rect">
            <a:avLst/>
          </a:prstGeom>
          <a:noFill/>
          <a:ln/>
        </p:spPr>
        <p:txBody>
          <a:bodyPr wrap="square" lIns="0" tIns="0" rIns="0" bIns="0" rtlCol="0" anchor="ctr">
            <a:normAutofit/>
          </a:bodyPr>
          <a:lstStyle/>
          <a:p>
            <a:pPr algn="ctr" indent="0" marL="0">
              <a:buNone/>
            </a:pPr>
            <a:r>
              <a:rPr lang="en-US" sz="800" dirty="0">
                <a:solidFill>
                  <a:srgbClr val="E6EFEB"/>
                </a:solidFill>
                <a:latin typeface="Aptos" pitchFamily="34" charset="0"/>
                <a:ea typeface="Aptos" pitchFamily="34" charset="-122"/>
                <a:cs typeface="Aptos" pitchFamily="34" charset="-120"/>
              </a:rPr>
              <a:t>POST /api/predict</a:t>
            </a:r>
            <a:endParaRPr lang="en-US" sz="800" dirty="0"/>
          </a:p>
          <a:p>
            <a:pPr algn="ctr" indent="0" marL="0">
              <a:buNone/>
            </a:pPr>
            <a:r>
              <a:rPr lang="en-US" sz="800" dirty="0">
                <a:solidFill>
                  <a:srgbClr val="E6EFEB"/>
                </a:solidFill>
                <a:latin typeface="Aptos" pitchFamily="34" charset="0"/>
                <a:ea typeface="Aptos" pitchFamily="34" charset="-122"/>
                <a:cs typeface="Aptos" pitchFamily="34" charset="-120"/>
              </a:rPr>
              <a:t>GET /api/stats</a:t>
            </a:r>
            <a:endParaRPr lang="en-US" sz="800" dirty="0"/>
          </a:p>
        </p:txBody>
      </p:sp>
      <p:sp>
        <p:nvSpPr>
          <p:cNvPr id="11" name="Shape 9"/>
          <p:cNvSpPr/>
          <p:nvPr/>
        </p:nvSpPr>
        <p:spPr>
          <a:xfrm>
            <a:off x="6537960" y="2148840"/>
            <a:ext cx="2148840" cy="1143000"/>
          </a:xfrm>
          <a:prstGeom prst="roundRect">
            <a:avLst>
              <a:gd name="adj" fmla="val 6400"/>
            </a:avLst>
          </a:prstGeom>
          <a:solidFill>
            <a:srgbClr val="E77765"/>
          </a:solidFill>
          <a:ln w="12700">
            <a:solidFill>
              <a:srgbClr val="E77765">
                <a:alpha val="0"/>
              </a:srgbClr>
            </a:solidFill>
            <a:prstDash val="solid"/>
          </a:ln>
        </p:spPr>
      </p:sp>
      <p:sp>
        <p:nvSpPr>
          <p:cNvPr id="12" name="Text 10"/>
          <p:cNvSpPr/>
          <p:nvPr/>
        </p:nvSpPr>
        <p:spPr>
          <a:xfrm>
            <a:off x="6684264" y="2350008"/>
            <a:ext cx="1856232" cy="25603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Saved pipeline</a:t>
            </a:r>
            <a:endParaRPr lang="en-US" sz="1500" dirty="0"/>
          </a:p>
        </p:txBody>
      </p:sp>
      <p:sp>
        <p:nvSpPr>
          <p:cNvPr id="13" name="Text 11"/>
          <p:cNvSpPr/>
          <p:nvPr/>
        </p:nvSpPr>
        <p:spPr>
          <a:xfrm>
            <a:off x="6684264" y="2770632"/>
            <a:ext cx="1856232" cy="347472"/>
          </a:xfrm>
          <a:prstGeom prst="rect">
            <a:avLst/>
          </a:prstGeom>
          <a:noFill/>
          <a:ln/>
        </p:spPr>
        <p:txBody>
          <a:bodyPr wrap="square" lIns="0" tIns="0" rIns="0" bIns="0" rtlCol="0" anchor="ctr">
            <a:normAutofit/>
          </a:bodyPr>
          <a:lstStyle/>
          <a:p>
            <a:pPr algn="ctr" indent="0" marL="0">
              <a:buNone/>
            </a:pPr>
            <a:r>
              <a:rPr lang="en-US" sz="800" dirty="0">
                <a:solidFill>
                  <a:srgbClr val="E6EFEB"/>
                </a:solidFill>
                <a:latin typeface="Aptos" pitchFamily="34" charset="0"/>
                <a:ea typeface="Aptos" pitchFamily="34" charset="-122"/>
                <a:cs typeface="Aptos" pitchFamily="34" charset="-120"/>
              </a:rPr>
              <a:t>titanic_survival_</a:t>
            </a:r>
            <a:endParaRPr lang="en-US" sz="800" dirty="0"/>
          </a:p>
          <a:p>
            <a:pPr algn="ctr" indent="0" marL="0">
              <a:buNone/>
            </a:pPr>
            <a:r>
              <a:rPr lang="en-US" sz="800" dirty="0">
                <a:solidFill>
                  <a:srgbClr val="E6EFEB"/>
                </a:solidFill>
                <a:latin typeface="Aptos" pitchFamily="34" charset="0"/>
                <a:ea typeface="Aptos" pitchFamily="34" charset="-122"/>
                <a:cs typeface="Aptos" pitchFamily="34" charset="-120"/>
              </a:rPr>
              <a:t>pipeline.joblib</a:t>
            </a:r>
            <a:endParaRPr lang="en-US" sz="800" dirty="0"/>
          </a:p>
        </p:txBody>
      </p:sp>
      <p:sp>
        <p:nvSpPr>
          <p:cNvPr id="14" name="Shape 12"/>
          <p:cNvSpPr/>
          <p:nvPr/>
        </p:nvSpPr>
        <p:spPr>
          <a:xfrm>
            <a:off x="9372600" y="2148840"/>
            <a:ext cx="1965960" cy="1143000"/>
          </a:xfrm>
          <a:prstGeom prst="roundRect">
            <a:avLst>
              <a:gd name="adj" fmla="val 6400"/>
            </a:avLst>
          </a:prstGeom>
          <a:solidFill>
            <a:srgbClr val="142F49"/>
          </a:solidFill>
          <a:ln w="12700">
            <a:solidFill>
              <a:srgbClr val="142F49">
                <a:alpha val="0"/>
              </a:srgbClr>
            </a:solidFill>
            <a:prstDash val="solid"/>
          </a:ln>
        </p:spPr>
      </p:sp>
      <p:sp>
        <p:nvSpPr>
          <p:cNvPr id="15" name="Text 13"/>
          <p:cNvSpPr/>
          <p:nvPr/>
        </p:nvSpPr>
        <p:spPr>
          <a:xfrm>
            <a:off x="9518904" y="2350008"/>
            <a:ext cx="1673352" cy="256032"/>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Georgia" pitchFamily="34" charset="0"/>
                <a:ea typeface="Georgia" pitchFamily="34" charset="-122"/>
                <a:cs typeface="Georgia" pitchFamily="34" charset="-120"/>
              </a:rPr>
              <a:t>Prediction</a:t>
            </a:r>
            <a:endParaRPr lang="en-US" sz="1500" dirty="0"/>
          </a:p>
        </p:txBody>
      </p:sp>
      <p:sp>
        <p:nvSpPr>
          <p:cNvPr id="16" name="Text 14"/>
          <p:cNvSpPr/>
          <p:nvPr/>
        </p:nvSpPr>
        <p:spPr>
          <a:xfrm>
            <a:off x="9518904" y="2770632"/>
            <a:ext cx="1673352" cy="347472"/>
          </a:xfrm>
          <a:prstGeom prst="rect">
            <a:avLst/>
          </a:prstGeom>
          <a:noFill/>
          <a:ln/>
        </p:spPr>
        <p:txBody>
          <a:bodyPr wrap="square" lIns="0" tIns="0" rIns="0" bIns="0" rtlCol="0" anchor="ctr">
            <a:normAutofit/>
          </a:bodyPr>
          <a:lstStyle/>
          <a:p>
            <a:pPr algn="ctr" indent="0" marL="0">
              <a:buNone/>
            </a:pPr>
            <a:r>
              <a:rPr lang="en-US" sz="800" dirty="0">
                <a:solidFill>
                  <a:srgbClr val="E6EFEB"/>
                </a:solidFill>
                <a:latin typeface="Aptos" pitchFamily="34" charset="0"/>
                <a:ea typeface="Aptos" pitchFamily="34" charset="-122"/>
                <a:cs typeface="Aptos" pitchFamily="34" charset="-120"/>
              </a:rPr>
              <a:t>Class + probability</a:t>
            </a:r>
            <a:endParaRPr lang="en-US" sz="800" dirty="0"/>
          </a:p>
        </p:txBody>
      </p:sp>
      <p:sp>
        <p:nvSpPr>
          <p:cNvPr id="17" name="Shape 15"/>
          <p:cNvSpPr/>
          <p:nvPr/>
        </p:nvSpPr>
        <p:spPr>
          <a:xfrm>
            <a:off x="2798064" y="2724912"/>
            <a:ext cx="786384" cy="0"/>
          </a:xfrm>
          <a:prstGeom prst="line">
            <a:avLst/>
          </a:prstGeom>
          <a:noFill/>
          <a:ln w="25400">
            <a:solidFill>
              <a:srgbClr val="D1A56A"/>
            </a:solidFill>
            <a:prstDash val="solid"/>
            <a:headEnd type="none"/>
            <a:tailEnd type="none"/>
          </a:ln>
        </p:spPr>
      </p:sp>
      <p:sp>
        <p:nvSpPr>
          <p:cNvPr id="18" name="Shape 16"/>
          <p:cNvSpPr/>
          <p:nvPr/>
        </p:nvSpPr>
        <p:spPr>
          <a:xfrm>
            <a:off x="3493008" y="2615184"/>
            <a:ext cx="164592" cy="219456"/>
          </a:xfrm>
          <a:prstGeom prst="chevron">
            <a:avLst/>
          </a:prstGeom>
          <a:solidFill>
            <a:srgbClr val="D1A56A"/>
          </a:solidFill>
          <a:ln w="12700">
            <a:solidFill>
              <a:srgbClr val="D1A56A">
                <a:alpha val="0"/>
              </a:srgbClr>
            </a:solidFill>
            <a:prstDash val="solid"/>
          </a:ln>
        </p:spPr>
      </p:sp>
      <p:sp>
        <p:nvSpPr>
          <p:cNvPr id="19" name="Shape 17"/>
          <p:cNvSpPr/>
          <p:nvPr/>
        </p:nvSpPr>
        <p:spPr>
          <a:xfrm>
            <a:off x="5678424" y="2724912"/>
            <a:ext cx="786384" cy="0"/>
          </a:xfrm>
          <a:prstGeom prst="line">
            <a:avLst/>
          </a:prstGeom>
          <a:noFill/>
          <a:ln w="25400">
            <a:solidFill>
              <a:srgbClr val="D1A56A"/>
            </a:solidFill>
            <a:prstDash val="solid"/>
            <a:headEnd type="none"/>
            <a:tailEnd type="none"/>
          </a:ln>
        </p:spPr>
      </p:sp>
      <p:sp>
        <p:nvSpPr>
          <p:cNvPr id="20" name="Shape 18"/>
          <p:cNvSpPr/>
          <p:nvPr/>
        </p:nvSpPr>
        <p:spPr>
          <a:xfrm>
            <a:off x="6373368" y="2615184"/>
            <a:ext cx="164592" cy="219456"/>
          </a:xfrm>
          <a:prstGeom prst="chevron">
            <a:avLst/>
          </a:prstGeom>
          <a:solidFill>
            <a:srgbClr val="D1A56A"/>
          </a:solidFill>
          <a:ln w="12700">
            <a:solidFill>
              <a:srgbClr val="D1A56A">
                <a:alpha val="0"/>
              </a:srgbClr>
            </a:solidFill>
            <a:prstDash val="solid"/>
          </a:ln>
        </p:spPr>
      </p:sp>
      <p:sp>
        <p:nvSpPr>
          <p:cNvPr id="21" name="Shape 19"/>
          <p:cNvSpPr/>
          <p:nvPr/>
        </p:nvSpPr>
        <p:spPr>
          <a:xfrm>
            <a:off x="8741664" y="2724912"/>
            <a:ext cx="557784" cy="0"/>
          </a:xfrm>
          <a:prstGeom prst="line">
            <a:avLst/>
          </a:prstGeom>
          <a:noFill/>
          <a:ln w="25400">
            <a:solidFill>
              <a:srgbClr val="D1A56A"/>
            </a:solidFill>
            <a:prstDash val="solid"/>
            <a:headEnd type="none"/>
            <a:tailEnd type="none"/>
          </a:ln>
        </p:spPr>
      </p:sp>
      <p:sp>
        <p:nvSpPr>
          <p:cNvPr id="22" name="Shape 20"/>
          <p:cNvSpPr/>
          <p:nvPr/>
        </p:nvSpPr>
        <p:spPr>
          <a:xfrm>
            <a:off x="9208008" y="2615184"/>
            <a:ext cx="164592" cy="219456"/>
          </a:xfrm>
          <a:prstGeom prst="chevron">
            <a:avLst/>
          </a:prstGeom>
          <a:solidFill>
            <a:srgbClr val="D1A56A"/>
          </a:solidFill>
          <a:ln w="12700">
            <a:solidFill>
              <a:srgbClr val="D1A56A">
                <a:alpha val="0"/>
              </a:srgbClr>
            </a:solidFill>
            <a:prstDash val="solid"/>
          </a:ln>
        </p:spPr>
      </p:sp>
      <p:sp>
        <p:nvSpPr>
          <p:cNvPr id="23" name="Shape 21"/>
          <p:cNvSpPr/>
          <p:nvPr/>
        </p:nvSpPr>
        <p:spPr>
          <a:xfrm>
            <a:off x="1188720" y="4069080"/>
            <a:ext cx="3977640" cy="1234440"/>
          </a:xfrm>
          <a:prstGeom prst="roundRect">
            <a:avLst>
              <a:gd name="adj" fmla="val 5926"/>
            </a:avLst>
          </a:prstGeom>
          <a:solidFill>
            <a:srgbClr val="FFFFFF"/>
          </a:solidFill>
          <a:ln w="10160">
            <a:solidFill>
              <a:srgbClr val="D8E0DC"/>
            </a:solidFill>
            <a:prstDash val="solid"/>
          </a:ln>
        </p:spPr>
      </p:sp>
      <p:sp>
        <p:nvSpPr>
          <p:cNvPr id="24" name="Text 22"/>
          <p:cNvSpPr/>
          <p:nvPr/>
        </p:nvSpPr>
        <p:spPr>
          <a:xfrm>
            <a:off x="1481328" y="4361688"/>
            <a:ext cx="1325880" cy="237744"/>
          </a:xfrm>
          <a:prstGeom prst="rect">
            <a:avLst/>
          </a:prstGeom>
          <a:noFill/>
          <a:ln/>
        </p:spPr>
        <p:txBody>
          <a:bodyPr wrap="square" lIns="0" tIns="0" rIns="0" bIns="0" rtlCol="0" anchor="ctr">
            <a:normAutofit/>
          </a:bodyPr>
          <a:lstStyle/>
          <a:p>
            <a:pPr algn="l" indent="0" marL="0">
              <a:buNone/>
            </a:pPr>
            <a:r>
              <a:rPr lang="en-US" sz="1600" b="1" dirty="0">
                <a:solidFill>
                  <a:srgbClr val="213B52"/>
                </a:solidFill>
                <a:latin typeface="Georgia" pitchFamily="34" charset="0"/>
                <a:ea typeface="Georgia" pitchFamily="34" charset="-122"/>
                <a:cs typeface="Georgia" pitchFamily="34" charset="-120"/>
              </a:rPr>
              <a:t>Titanic.csv</a:t>
            </a:r>
            <a:endParaRPr lang="en-US" sz="1600" dirty="0"/>
          </a:p>
        </p:txBody>
      </p:sp>
      <p:sp>
        <p:nvSpPr>
          <p:cNvPr id="25" name="Text 23"/>
          <p:cNvSpPr/>
          <p:nvPr/>
        </p:nvSpPr>
        <p:spPr>
          <a:xfrm>
            <a:off x="2788920" y="4315968"/>
            <a:ext cx="2029968" cy="384048"/>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Source for dataset insights and charts</a:t>
            </a:r>
            <a:endParaRPr lang="en-US" sz="900" dirty="0"/>
          </a:p>
        </p:txBody>
      </p:sp>
      <p:sp>
        <p:nvSpPr>
          <p:cNvPr id="26" name="Shape 24"/>
          <p:cNvSpPr/>
          <p:nvPr/>
        </p:nvSpPr>
        <p:spPr>
          <a:xfrm>
            <a:off x="3182112" y="4069080"/>
            <a:ext cx="1408176" cy="-758952"/>
          </a:xfrm>
          <a:prstGeom prst="line">
            <a:avLst/>
          </a:prstGeom>
          <a:noFill/>
          <a:ln w="16510">
            <a:solidFill>
              <a:srgbClr val="8FC1B3"/>
            </a:solidFill>
            <a:prstDash val="dash"/>
            <a:headEnd type="none"/>
            <a:tailEnd type="none"/>
          </a:ln>
        </p:spPr>
      </p:sp>
      <p:sp>
        <p:nvSpPr>
          <p:cNvPr id="27" name="Shape 25"/>
          <p:cNvSpPr/>
          <p:nvPr/>
        </p:nvSpPr>
        <p:spPr>
          <a:xfrm>
            <a:off x="5806440" y="4069080"/>
            <a:ext cx="4983480" cy="1234440"/>
          </a:xfrm>
          <a:prstGeom prst="roundRect">
            <a:avLst>
              <a:gd name="adj" fmla="val 5926"/>
            </a:avLst>
          </a:prstGeom>
          <a:solidFill>
            <a:srgbClr val="E3F0E9"/>
          </a:solidFill>
          <a:ln w="12700">
            <a:solidFill>
              <a:srgbClr val="E3F0E9">
                <a:alpha val="0"/>
              </a:srgbClr>
            </a:solidFill>
            <a:prstDash val="solid"/>
          </a:ln>
        </p:spPr>
      </p:sp>
      <p:sp>
        <p:nvSpPr>
          <p:cNvPr id="28" name="Text 26"/>
          <p:cNvSpPr/>
          <p:nvPr/>
        </p:nvSpPr>
        <p:spPr>
          <a:xfrm>
            <a:off x="6144768" y="4361688"/>
            <a:ext cx="1828800" cy="237744"/>
          </a:xfrm>
          <a:prstGeom prst="rect">
            <a:avLst/>
          </a:prstGeom>
          <a:noFill/>
          <a:ln/>
        </p:spPr>
        <p:txBody>
          <a:bodyPr wrap="square" lIns="0" tIns="0" rIns="0" bIns="0" rtlCol="0" anchor="ctr">
            <a:normAutofit/>
          </a:bodyPr>
          <a:lstStyle/>
          <a:p>
            <a:pPr algn="l" indent="0" marL="0">
              <a:buNone/>
            </a:pPr>
            <a:r>
              <a:rPr lang="en-US" sz="1500" b="1" dirty="0">
                <a:solidFill>
                  <a:srgbClr val="213B52"/>
                </a:solidFill>
                <a:latin typeface="Georgia" pitchFamily="34" charset="0"/>
                <a:ea typeface="Georgia" pitchFamily="34" charset="-122"/>
                <a:cs typeface="Georgia" pitchFamily="34" charset="-120"/>
              </a:rPr>
              <a:t>Jupyter notebook</a:t>
            </a:r>
            <a:endParaRPr lang="en-US" sz="1500" dirty="0"/>
          </a:p>
        </p:txBody>
      </p:sp>
      <p:sp>
        <p:nvSpPr>
          <p:cNvPr id="29" name="Text 27"/>
          <p:cNvSpPr/>
          <p:nvPr/>
        </p:nvSpPr>
        <p:spPr>
          <a:xfrm>
            <a:off x="7955280" y="4315968"/>
            <a:ext cx="2423160" cy="384048"/>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EDA • validation • model selection • save pipeline</a:t>
            </a:r>
            <a:endParaRPr lang="en-US" sz="900" dirty="0"/>
          </a:p>
        </p:txBody>
      </p:sp>
      <p:sp>
        <p:nvSpPr>
          <p:cNvPr id="30" name="Shape 28"/>
          <p:cNvSpPr/>
          <p:nvPr/>
        </p:nvSpPr>
        <p:spPr>
          <a:xfrm>
            <a:off x="8138160" y="4069080"/>
            <a:ext cx="-365760" cy="-758952"/>
          </a:xfrm>
          <a:prstGeom prst="line">
            <a:avLst/>
          </a:prstGeom>
          <a:noFill/>
          <a:ln w="16510">
            <a:solidFill>
              <a:srgbClr val="8FC1B3"/>
            </a:solidFill>
            <a:prstDash val="dash"/>
            <a:headEnd type="none"/>
            <a:tailEnd type="none"/>
          </a:ln>
        </p:spPr>
      </p:sp>
      <p:sp>
        <p:nvSpPr>
          <p:cNvPr id="32" name="Text 29">
            <a:hlinkClick r:id="rId1"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33" name="Text 30">
            <a:hlinkClick r:id="rId2"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34" name="Text 31">
            <a:hlinkClick r:id="rId3"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35" name="Text 32">
            <a:hlinkClick r:id="rId4"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36" name="Text 33">
            <a:hlinkClick r:id="rId5"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10 / WEBSITE</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Three pages turn the model into a demo</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Each page has a distinct role: enter a profile, explore the data, or read how the model works.</a:t>
            </a:r>
            <a:endParaRPr lang="en-US" sz="1100" dirty="0"/>
          </a:p>
        </p:txBody>
      </p:sp>
      <p:sp>
        <p:nvSpPr>
          <p:cNvPr id="5" name="Shape 3"/>
          <p:cNvSpPr/>
          <p:nvPr/>
        </p:nvSpPr>
        <p:spPr>
          <a:xfrm>
            <a:off x="713232" y="1755648"/>
            <a:ext cx="3493008" cy="3447288"/>
          </a:xfrm>
          <a:prstGeom prst="roundRect">
            <a:avLst>
              <a:gd name="adj" fmla="val 2122"/>
            </a:avLst>
          </a:prstGeom>
          <a:solidFill>
            <a:srgbClr val="FFFFFF"/>
          </a:solidFill>
          <a:ln w="10160">
            <a:solidFill>
              <a:srgbClr val="D8E0DC"/>
            </a:solidFill>
            <a:prstDash val="solid"/>
          </a:ln>
        </p:spPr>
      </p:sp>
      <p:sp>
        <p:nvSpPr>
          <p:cNvPr id="6" name="Shape 4"/>
          <p:cNvSpPr/>
          <p:nvPr/>
        </p:nvSpPr>
        <p:spPr>
          <a:xfrm>
            <a:off x="859536" y="1911096"/>
            <a:ext cx="3200400" cy="1965960"/>
          </a:xfrm>
          <a:prstGeom prst="roundRect">
            <a:avLst>
              <a:gd name="adj" fmla="val 3721"/>
            </a:avLst>
          </a:prstGeom>
          <a:solidFill>
            <a:srgbClr val="EEF2EF"/>
          </a:solidFill>
          <a:ln w="10160">
            <a:solidFill>
              <a:srgbClr val="DBE1DD"/>
            </a:solidFill>
            <a:prstDash val="solid"/>
          </a:ln>
        </p:spPr>
      </p:sp>
      <p:sp>
        <p:nvSpPr>
          <p:cNvPr id="7" name="Shape 5"/>
          <p:cNvSpPr/>
          <p:nvPr/>
        </p:nvSpPr>
        <p:spPr>
          <a:xfrm>
            <a:off x="859536" y="1911096"/>
            <a:ext cx="3200400" cy="219456"/>
          </a:xfrm>
          <a:prstGeom prst="roundRect">
            <a:avLst>
              <a:gd name="adj" fmla="val 33333"/>
            </a:avLst>
          </a:prstGeom>
          <a:solidFill>
            <a:srgbClr val="142F49"/>
          </a:solidFill>
          <a:ln w="12700">
            <a:solidFill>
              <a:srgbClr val="142F49">
                <a:alpha val="0"/>
              </a:srgbClr>
            </a:solidFill>
            <a:prstDash val="solid"/>
          </a:ln>
        </p:spPr>
      </p:sp>
      <p:sp>
        <p:nvSpPr>
          <p:cNvPr id="8" name="Text 6"/>
          <p:cNvSpPr/>
          <p:nvPr/>
        </p:nvSpPr>
        <p:spPr>
          <a:xfrm>
            <a:off x="1005840" y="1956816"/>
            <a:ext cx="2560320" cy="109728"/>
          </a:xfrm>
          <a:prstGeom prst="rect">
            <a:avLst/>
          </a:prstGeom>
          <a:noFill/>
          <a:ln/>
        </p:spPr>
        <p:txBody>
          <a:bodyPr wrap="square" lIns="0" tIns="0" rIns="0" bIns="0" rtlCol="0" anchor="ctr">
            <a:normAutofit/>
          </a:bodyPr>
          <a:lstStyle/>
          <a:p>
            <a:pPr algn="l" indent="0" marL="0">
              <a:buNone/>
            </a:pPr>
            <a:r>
              <a:rPr lang="en-US" sz="600" b="1" spc="40" kern="0" dirty="0">
                <a:solidFill>
                  <a:srgbClr val="FFFFFF"/>
                </a:solidFill>
                <a:latin typeface="Aptos" pitchFamily="34" charset="0"/>
                <a:ea typeface="Aptos" pitchFamily="34" charset="-122"/>
                <a:cs typeface="Aptos" pitchFamily="34" charset="-120"/>
              </a:rPr>
              <a:t>TITANIC • PREDICT</a:t>
            </a:r>
            <a:endParaRPr lang="en-US" sz="600" dirty="0"/>
          </a:p>
        </p:txBody>
      </p:sp>
      <p:sp>
        <p:nvSpPr>
          <p:cNvPr id="9" name="Shape 7"/>
          <p:cNvSpPr/>
          <p:nvPr/>
        </p:nvSpPr>
        <p:spPr>
          <a:xfrm>
            <a:off x="1069848" y="2487168"/>
            <a:ext cx="1655064" cy="0"/>
          </a:xfrm>
          <a:prstGeom prst="line">
            <a:avLst/>
          </a:prstGeom>
          <a:noFill/>
          <a:ln w="12700">
            <a:solidFill>
              <a:srgbClr val="D8E0DC"/>
            </a:solidFill>
            <a:prstDash val="solid"/>
            <a:headEnd type="none"/>
            <a:tailEnd type="none"/>
          </a:ln>
        </p:spPr>
      </p:sp>
      <p:sp>
        <p:nvSpPr>
          <p:cNvPr id="10" name="Shape 8"/>
          <p:cNvSpPr/>
          <p:nvPr/>
        </p:nvSpPr>
        <p:spPr>
          <a:xfrm>
            <a:off x="1069848" y="2743200"/>
            <a:ext cx="2020824" cy="0"/>
          </a:xfrm>
          <a:prstGeom prst="line">
            <a:avLst/>
          </a:prstGeom>
          <a:noFill/>
          <a:ln w="12700">
            <a:solidFill>
              <a:srgbClr val="D8E0DC"/>
            </a:solidFill>
            <a:prstDash val="solid"/>
            <a:headEnd type="none"/>
            <a:tailEnd type="none"/>
          </a:ln>
        </p:spPr>
      </p:sp>
      <p:sp>
        <p:nvSpPr>
          <p:cNvPr id="11" name="Shape 9"/>
          <p:cNvSpPr/>
          <p:nvPr/>
        </p:nvSpPr>
        <p:spPr>
          <a:xfrm>
            <a:off x="1042416" y="3035808"/>
            <a:ext cx="1207008" cy="557784"/>
          </a:xfrm>
          <a:prstGeom prst="roundRect">
            <a:avLst>
              <a:gd name="adj" fmla="val 13115"/>
            </a:avLst>
          </a:prstGeom>
          <a:solidFill>
            <a:srgbClr val="FFFFFF"/>
          </a:solidFill>
          <a:ln w="10160">
            <a:solidFill>
              <a:srgbClr val="D8E0DC"/>
            </a:solidFill>
            <a:prstDash val="solid"/>
          </a:ln>
        </p:spPr>
      </p:sp>
      <p:sp>
        <p:nvSpPr>
          <p:cNvPr id="12" name="Shape 10"/>
          <p:cNvSpPr/>
          <p:nvPr/>
        </p:nvSpPr>
        <p:spPr>
          <a:xfrm>
            <a:off x="2414016" y="3035808"/>
            <a:ext cx="1307592" cy="557784"/>
          </a:xfrm>
          <a:prstGeom prst="roundRect">
            <a:avLst>
              <a:gd name="adj" fmla="val 13115"/>
            </a:avLst>
          </a:prstGeom>
          <a:solidFill>
            <a:srgbClr val="E3F0E9"/>
          </a:solidFill>
          <a:ln w="10160">
            <a:solidFill>
              <a:srgbClr val="D8E7DF"/>
            </a:solidFill>
            <a:prstDash val="solid"/>
          </a:ln>
        </p:spPr>
      </p:sp>
      <p:sp>
        <p:nvSpPr>
          <p:cNvPr id="13" name="Shape 11"/>
          <p:cNvSpPr/>
          <p:nvPr/>
        </p:nvSpPr>
        <p:spPr>
          <a:xfrm>
            <a:off x="1042416" y="3675888"/>
            <a:ext cx="2679192" cy="164592"/>
          </a:xfrm>
          <a:prstGeom prst="roundRect">
            <a:avLst>
              <a:gd name="adj" fmla="val 44444"/>
            </a:avLst>
          </a:prstGeom>
          <a:solidFill>
            <a:srgbClr val="E77765"/>
          </a:solidFill>
          <a:ln w="12700">
            <a:solidFill>
              <a:srgbClr val="E77765">
                <a:alpha val="0"/>
              </a:srgbClr>
            </a:solidFill>
            <a:prstDash val="solid"/>
          </a:ln>
        </p:spPr>
      </p:sp>
      <p:sp>
        <p:nvSpPr>
          <p:cNvPr id="14" name="Text 12"/>
          <p:cNvSpPr/>
          <p:nvPr/>
        </p:nvSpPr>
        <p:spPr>
          <a:xfrm>
            <a:off x="1069848" y="3995928"/>
            <a:ext cx="2743200" cy="173736"/>
          </a:xfrm>
          <a:prstGeom prst="rect">
            <a:avLst/>
          </a:prstGeom>
          <a:noFill/>
          <a:ln/>
        </p:spPr>
        <p:txBody>
          <a:bodyPr wrap="square" lIns="0" tIns="0" rIns="0" bIns="0" rtlCol="0" anchor="ctr">
            <a:normAutofit/>
          </a:bodyPr>
          <a:lstStyle/>
          <a:p>
            <a:pPr algn="ctr" indent="0" marL="0">
              <a:buNone/>
            </a:pPr>
            <a:r>
              <a:rPr lang="en-US" sz="700" b="1" spc="50" kern="0" dirty="0">
                <a:solidFill>
                  <a:srgbClr val="E77765"/>
                </a:solidFill>
                <a:latin typeface="Aptos" pitchFamily="34" charset="0"/>
                <a:ea typeface="Aptos" pitchFamily="34" charset="-122"/>
                <a:cs typeface="Aptos" pitchFamily="34" charset="-120"/>
              </a:rPr>
              <a:t>SCREENSHOT PLACEHOLDER</a:t>
            </a:r>
            <a:endParaRPr lang="en-US" sz="700" dirty="0"/>
          </a:p>
        </p:txBody>
      </p:sp>
      <p:sp>
        <p:nvSpPr>
          <p:cNvPr id="15" name="Text 13"/>
          <p:cNvSpPr/>
          <p:nvPr/>
        </p:nvSpPr>
        <p:spPr>
          <a:xfrm>
            <a:off x="969264" y="4352544"/>
            <a:ext cx="278892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398E82"/>
                </a:solidFill>
                <a:latin typeface="Aptos" pitchFamily="34" charset="0"/>
                <a:ea typeface="Aptos" pitchFamily="34" charset="-122"/>
                <a:cs typeface="Aptos" pitchFamily="34" charset="-120"/>
              </a:rPr>
              <a:t>PREDICT</a:t>
            </a:r>
            <a:endParaRPr lang="en-US" sz="800" dirty="0"/>
          </a:p>
        </p:txBody>
      </p:sp>
      <p:sp>
        <p:nvSpPr>
          <p:cNvPr id="16" name="Text 14"/>
          <p:cNvSpPr/>
          <p:nvPr/>
        </p:nvSpPr>
        <p:spPr>
          <a:xfrm>
            <a:off x="969264" y="4590288"/>
            <a:ext cx="2852928" cy="4114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Enter class, sex, age, family size, fare, port.</a:t>
            </a:r>
            <a:endParaRPr lang="en-US" sz="900" dirty="0"/>
          </a:p>
        </p:txBody>
      </p:sp>
      <p:sp>
        <p:nvSpPr>
          <p:cNvPr id="17" name="Text 15">
            <a:hlinkClick r:id="rId1" tooltip="" action="ppaction://hlinksldjump"/>
          </p:cNvPr>
          <p:cNvSpPr/>
          <p:nvPr/>
        </p:nvSpPr>
        <p:spPr>
          <a:xfrm>
            <a:off x="969264" y="4974336"/>
            <a:ext cx="141732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1" action="ppaction://hlinksldjump" tooltip="">
                  <a:extLst>
                    <a:ext uri="{A12FA001-AC4F-418D-AE19-62706E023703}">
                      <ahyp:hlinkClr xmlns:ahyp="http://schemas.microsoft.com/office/drawing/2018/hyperlinkcolor" val="tx"/>
                    </a:ext>
                  </a:extLst>
                </a:hlinkClick>
              </a:rPr>
              <a:t>LOCAL URL  /predict</a:t>
            </a:r>
            <a:endParaRPr lang="en-US" sz="800" dirty="0"/>
          </a:p>
        </p:txBody>
      </p:sp>
      <p:sp>
        <p:nvSpPr>
          <p:cNvPr id="18" name="Shape 16"/>
          <p:cNvSpPr/>
          <p:nvPr/>
        </p:nvSpPr>
        <p:spPr>
          <a:xfrm>
            <a:off x="4507992" y="1755648"/>
            <a:ext cx="3493008" cy="3447288"/>
          </a:xfrm>
          <a:prstGeom prst="roundRect">
            <a:avLst>
              <a:gd name="adj" fmla="val 2122"/>
            </a:avLst>
          </a:prstGeom>
          <a:solidFill>
            <a:srgbClr val="FFFFFF"/>
          </a:solidFill>
          <a:ln w="10160">
            <a:solidFill>
              <a:srgbClr val="D8E0DC"/>
            </a:solidFill>
            <a:prstDash val="solid"/>
          </a:ln>
        </p:spPr>
      </p:sp>
      <p:sp>
        <p:nvSpPr>
          <p:cNvPr id="19" name="Shape 17"/>
          <p:cNvSpPr/>
          <p:nvPr/>
        </p:nvSpPr>
        <p:spPr>
          <a:xfrm>
            <a:off x="4654296" y="1911096"/>
            <a:ext cx="3200400" cy="1965960"/>
          </a:xfrm>
          <a:prstGeom prst="roundRect">
            <a:avLst>
              <a:gd name="adj" fmla="val 3721"/>
            </a:avLst>
          </a:prstGeom>
          <a:solidFill>
            <a:srgbClr val="EEF2EF"/>
          </a:solidFill>
          <a:ln w="10160">
            <a:solidFill>
              <a:srgbClr val="DBE1DD"/>
            </a:solidFill>
            <a:prstDash val="solid"/>
          </a:ln>
        </p:spPr>
      </p:sp>
      <p:sp>
        <p:nvSpPr>
          <p:cNvPr id="20" name="Shape 18"/>
          <p:cNvSpPr/>
          <p:nvPr/>
        </p:nvSpPr>
        <p:spPr>
          <a:xfrm>
            <a:off x="4654296" y="1911096"/>
            <a:ext cx="3200400" cy="219456"/>
          </a:xfrm>
          <a:prstGeom prst="roundRect">
            <a:avLst>
              <a:gd name="adj" fmla="val 33333"/>
            </a:avLst>
          </a:prstGeom>
          <a:solidFill>
            <a:srgbClr val="142F49"/>
          </a:solidFill>
          <a:ln w="12700">
            <a:solidFill>
              <a:srgbClr val="142F49">
                <a:alpha val="0"/>
              </a:srgbClr>
            </a:solidFill>
            <a:prstDash val="solid"/>
          </a:ln>
        </p:spPr>
      </p:sp>
      <p:sp>
        <p:nvSpPr>
          <p:cNvPr id="21" name="Text 19"/>
          <p:cNvSpPr/>
          <p:nvPr/>
        </p:nvSpPr>
        <p:spPr>
          <a:xfrm>
            <a:off x="4800600" y="1956816"/>
            <a:ext cx="2560320" cy="109728"/>
          </a:xfrm>
          <a:prstGeom prst="rect">
            <a:avLst/>
          </a:prstGeom>
          <a:noFill/>
          <a:ln/>
        </p:spPr>
        <p:txBody>
          <a:bodyPr wrap="square" lIns="0" tIns="0" rIns="0" bIns="0" rtlCol="0" anchor="ctr">
            <a:normAutofit/>
          </a:bodyPr>
          <a:lstStyle/>
          <a:p>
            <a:pPr algn="l" indent="0" marL="0">
              <a:buNone/>
            </a:pPr>
            <a:r>
              <a:rPr lang="en-US" sz="600" b="1" spc="40" kern="0" dirty="0">
                <a:solidFill>
                  <a:srgbClr val="FFFFFF"/>
                </a:solidFill>
                <a:latin typeface="Aptos" pitchFamily="34" charset="0"/>
                <a:ea typeface="Aptos" pitchFamily="34" charset="-122"/>
                <a:cs typeface="Aptos" pitchFamily="34" charset="-120"/>
              </a:rPr>
              <a:t>TITANIC • EXPLORE DATA</a:t>
            </a:r>
            <a:endParaRPr lang="en-US" sz="600" dirty="0"/>
          </a:p>
        </p:txBody>
      </p:sp>
      <p:sp>
        <p:nvSpPr>
          <p:cNvPr id="22" name="Shape 20"/>
          <p:cNvSpPr/>
          <p:nvPr/>
        </p:nvSpPr>
        <p:spPr>
          <a:xfrm>
            <a:off x="4864608" y="2487168"/>
            <a:ext cx="1655064" cy="0"/>
          </a:xfrm>
          <a:prstGeom prst="line">
            <a:avLst/>
          </a:prstGeom>
          <a:noFill/>
          <a:ln w="12700">
            <a:solidFill>
              <a:srgbClr val="D8E0DC"/>
            </a:solidFill>
            <a:prstDash val="solid"/>
            <a:headEnd type="none"/>
            <a:tailEnd type="none"/>
          </a:ln>
        </p:spPr>
      </p:sp>
      <p:sp>
        <p:nvSpPr>
          <p:cNvPr id="23" name="Shape 21"/>
          <p:cNvSpPr/>
          <p:nvPr/>
        </p:nvSpPr>
        <p:spPr>
          <a:xfrm>
            <a:off x="4864608" y="2743200"/>
            <a:ext cx="2020824" cy="0"/>
          </a:xfrm>
          <a:prstGeom prst="line">
            <a:avLst/>
          </a:prstGeom>
          <a:noFill/>
          <a:ln w="12700">
            <a:solidFill>
              <a:srgbClr val="D8E0DC"/>
            </a:solidFill>
            <a:prstDash val="solid"/>
            <a:headEnd type="none"/>
            <a:tailEnd type="none"/>
          </a:ln>
        </p:spPr>
      </p:sp>
      <p:sp>
        <p:nvSpPr>
          <p:cNvPr id="24" name="Shape 22"/>
          <p:cNvSpPr/>
          <p:nvPr/>
        </p:nvSpPr>
        <p:spPr>
          <a:xfrm>
            <a:off x="4837176" y="3035808"/>
            <a:ext cx="1207008" cy="557784"/>
          </a:xfrm>
          <a:prstGeom prst="roundRect">
            <a:avLst>
              <a:gd name="adj" fmla="val 13115"/>
            </a:avLst>
          </a:prstGeom>
          <a:solidFill>
            <a:srgbClr val="FFFFFF"/>
          </a:solidFill>
          <a:ln w="10160">
            <a:solidFill>
              <a:srgbClr val="D8E0DC"/>
            </a:solidFill>
            <a:prstDash val="solid"/>
          </a:ln>
        </p:spPr>
      </p:sp>
      <p:sp>
        <p:nvSpPr>
          <p:cNvPr id="25" name="Shape 23"/>
          <p:cNvSpPr/>
          <p:nvPr/>
        </p:nvSpPr>
        <p:spPr>
          <a:xfrm>
            <a:off x="6208776" y="3035808"/>
            <a:ext cx="1307592" cy="557784"/>
          </a:xfrm>
          <a:prstGeom prst="roundRect">
            <a:avLst>
              <a:gd name="adj" fmla="val 13115"/>
            </a:avLst>
          </a:prstGeom>
          <a:solidFill>
            <a:srgbClr val="E3F0E9"/>
          </a:solidFill>
          <a:ln w="10160">
            <a:solidFill>
              <a:srgbClr val="D8E7DF"/>
            </a:solidFill>
            <a:prstDash val="solid"/>
          </a:ln>
        </p:spPr>
      </p:sp>
      <p:sp>
        <p:nvSpPr>
          <p:cNvPr id="26" name="Shape 24"/>
          <p:cNvSpPr/>
          <p:nvPr/>
        </p:nvSpPr>
        <p:spPr>
          <a:xfrm>
            <a:off x="4837176" y="3675888"/>
            <a:ext cx="2679192" cy="164592"/>
          </a:xfrm>
          <a:prstGeom prst="roundRect">
            <a:avLst>
              <a:gd name="adj" fmla="val 44444"/>
            </a:avLst>
          </a:prstGeom>
          <a:solidFill>
            <a:srgbClr val="E77765"/>
          </a:solidFill>
          <a:ln w="12700">
            <a:solidFill>
              <a:srgbClr val="E77765">
                <a:alpha val="0"/>
              </a:srgbClr>
            </a:solidFill>
            <a:prstDash val="solid"/>
          </a:ln>
        </p:spPr>
      </p:sp>
      <p:sp>
        <p:nvSpPr>
          <p:cNvPr id="27" name="Text 25"/>
          <p:cNvSpPr/>
          <p:nvPr/>
        </p:nvSpPr>
        <p:spPr>
          <a:xfrm>
            <a:off x="4864608" y="3995928"/>
            <a:ext cx="2743200" cy="173736"/>
          </a:xfrm>
          <a:prstGeom prst="rect">
            <a:avLst/>
          </a:prstGeom>
          <a:noFill/>
          <a:ln/>
        </p:spPr>
        <p:txBody>
          <a:bodyPr wrap="square" lIns="0" tIns="0" rIns="0" bIns="0" rtlCol="0" anchor="ctr">
            <a:normAutofit/>
          </a:bodyPr>
          <a:lstStyle/>
          <a:p>
            <a:pPr algn="ctr" indent="0" marL="0">
              <a:buNone/>
            </a:pPr>
            <a:r>
              <a:rPr lang="en-US" sz="700" b="1" spc="50" kern="0" dirty="0">
                <a:solidFill>
                  <a:srgbClr val="E77765"/>
                </a:solidFill>
                <a:latin typeface="Aptos" pitchFamily="34" charset="0"/>
                <a:ea typeface="Aptos" pitchFamily="34" charset="-122"/>
                <a:cs typeface="Aptos" pitchFamily="34" charset="-120"/>
              </a:rPr>
              <a:t>SCREENSHOT PLACEHOLDER</a:t>
            </a:r>
            <a:endParaRPr lang="en-US" sz="700" dirty="0"/>
          </a:p>
        </p:txBody>
      </p:sp>
      <p:sp>
        <p:nvSpPr>
          <p:cNvPr id="28" name="Text 26"/>
          <p:cNvSpPr/>
          <p:nvPr/>
        </p:nvSpPr>
        <p:spPr>
          <a:xfrm>
            <a:off x="4764024" y="4352544"/>
            <a:ext cx="278892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398E82"/>
                </a:solidFill>
                <a:latin typeface="Aptos" pitchFamily="34" charset="0"/>
                <a:ea typeface="Aptos" pitchFamily="34" charset="-122"/>
                <a:cs typeface="Aptos" pitchFamily="34" charset="-120"/>
              </a:rPr>
              <a:t>EXPLORE DATA</a:t>
            </a:r>
            <a:endParaRPr lang="en-US" sz="800" dirty="0"/>
          </a:p>
        </p:txBody>
      </p:sp>
      <p:sp>
        <p:nvSpPr>
          <p:cNvPr id="29" name="Text 27"/>
          <p:cNvSpPr/>
          <p:nvPr/>
        </p:nvSpPr>
        <p:spPr>
          <a:xfrm>
            <a:off x="4764024" y="4590288"/>
            <a:ext cx="2852928" cy="4114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Switch dimensions, compare rates/counts, search fields.</a:t>
            </a:r>
            <a:endParaRPr lang="en-US" sz="900" dirty="0"/>
          </a:p>
        </p:txBody>
      </p:sp>
      <p:sp>
        <p:nvSpPr>
          <p:cNvPr id="30" name="Text 28">
            <a:hlinkClick r:id="rId2" tooltip="" action="ppaction://hlinksldjump"/>
          </p:cNvPr>
          <p:cNvSpPr/>
          <p:nvPr/>
        </p:nvSpPr>
        <p:spPr>
          <a:xfrm>
            <a:off x="4764024" y="4974336"/>
            <a:ext cx="141732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LOCAL URL  /explore</a:t>
            </a:r>
            <a:endParaRPr lang="en-US" sz="800" dirty="0"/>
          </a:p>
        </p:txBody>
      </p:sp>
      <p:sp>
        <p:nvSpPr>
          <p:cNvPr id="31" name="Shape 29"/>
          <p:cNvSpPr/>
          <p:nvPr/>
        </p:nvSpPr>
        <p:spPr>
          <a:xfrm>
            <a:off x="8302752" y="1755648"/>
            <a:ext cx="3493008" cy="3447288"/>
          </a:xfrm>
          <a:prstGeom prst="roundRect">
            <a:avLst>
              <a:gd name="adj" fmla="val 2122"/>
            </a:avLst>
          </a:prstGeom>
          <a:solidFill>
            <a:srgbClr val="FFFFFF"/>
          </a:solidFill>
          <a:ln w="10160">
            <a:solidFill>
              <a:srgbClr val="D8E0DC"/>
            </a:solidFill>
            <a:prstDash val="solid"/>
          </a:ln>
        </p:spPr>
      </p:sp>
      <p:sp>
        <p:nvSpPr>
          <p:cNvPr id="32" name="Shape 30"/>
          <p:cNvSpPr/>
          <p:nvPr/>
        </p:nvSpPr>
        <p:spPr>
          <a:xfrm>
            <a:off x="8449056" y="1911096"/>
            <a:ext cx="3200400" cy="1965960"/>
          </a:xfrm>
          <a:prstGeom prst="roundRect">
            <a:avLst>
              <a:gd name="adj" fmla="val 3721"/>
            </a:avLst>
          </a:prstGeom>
          <a:solidFill>
            <a:srgbClr val="EEF2EF"/>
          </a:solidFill>
          <a:ln w="10160">
            <a:solidFill>
              <a:srgbClr val="DBE1DD"/>
            </a:solidFill>
            <a:prstDash val="solid"/>
          </a:ln>
        </p:spPr>
      </p:sp>
      <p:sp>
        <p:nvSpPr>
          <p:cNvPr id="33" name="Shape 31"/>
          <p:cNvSpPr/>
          <p:nvPr/>
        </p:nvSpPr>
        <p:spPr>
          <a:xfrm>
            <a:off x="8449056" y="1911096"/>
            <a:ext cx="3200400" cy="219456"/>
          </a:xfrm>
          <a:prstGeom prst="roundRect">
            <a:avLst>
              <a:gd name="adj" fmla="val 33333"/>
            </a:avLst>
          </a:prstGeom>
          <a:solidFill>
            <a:srgbClr val="142F49"/>
          </a:solidFill>
          <a:ln w="12700">
            <a:solidFill>
              <a:srgbClr val="142F49">
                <a:alpha val="0"/>
              </a:srgbClr>
            </a:solidFill>
            <a:prstDash val="solid"/>
          </a:ln>
        </p:spPr>
      </p:sp>
      <p:sp>
        <p:nvSpPr>
          <p:cNvPr id="34" name="Text 32"/>
          <p:cNvSpPr/>
          <p:nvPr/>
        </p:nvSpPr>
        <p:spPr>
          <a:xfrm>
            <a:off x="8595360" y="1956816"/>
            <a:ext cx="2560320" cy="109728"/>
          </a:xfrm>
          <a:prstGeom prst="rect">
            <a:avLst/>
          </a:prstGeom>
          <a:noFill/>
          <a:ln/>
        </p:spPr>
        <p:txBody>
          <a:bodyPr wrap="square" lIns="0" tIns="0" rIns="0" bIns="0" rtlCol="0" anchor="ctr">
            <a:normAutofit/>
          </a:bodyPr>
          <a:lstStyle/>
          <a:p>
            <a:pPr algn="l" indent="0" marL="0">
              <a:buNone/>
            </a:pPr>
            <a:r>
              <a:rPr lang="en-US" sz="600" b="1" spc="40" kern="0" dirty="0">
                <a:solidFill>
                  <a:srgbClr val="FFFFFF"/>
                </a:solidFill>
                <a:latin typeface="Aptos" pitchFamily="34" charset="0"/>
                <a:ea typeface="Aptos" pitchFamily="34" charset="-122"/>
                <a:cs typeface="Aptos" pitchFamily="34" charset="-120"/>
              </a:rPr>
              <a:t>TITANIC • ABOUT</a:t>
            </a:r>
            <a:endParaRPr lang="en-US" sz="600" dirty="0"/>
          </a:p>
        </p:txBody>
      </p:sp>
      <p:sp>
        <p:nvSpPr>
          <p:cNvPr id="35" name="Shape 33"/>
          <p:cNvSpPr/>
          <p:nvPr/>
        </p:nvSpPr>
        <p:spPr>
          <a:xfrm>
            <a:off x="8659368" y="2487168"/>
            <a:ext cx="1655064" cy="0"/>
          </a:xfrm>
          <a:prstGeom prst="line">
            <a:avLst/>
          </a:prstGeom>
          <a:noFill/>
          <a:ln w="12700">
            <a:solidFill>
              <a:srgbClr val="D8E0DC"/>
            </a:solidFill>
            <a:prstDash val="solid"/>
            <a:headEnd type="none"/>
            <a:tailEnd type="none"/>
          </a:ln>
        </p:spPr>
      </p:sp>
      <p:sp>
        <p:nvSpPr>
          <p:cNvPr id="36" name="Shape 34"/>
          <p:cNvSpPr/>
          <p:nvPr/>
        </p:nvSpPr>
        <p:spPr>
          <a:xfrm>
            <a:off x="8659368" y="2743200"/>
            <a:ext cx="2020824" cy="0"/>
          </a:xfrm>
          <a:prstGeom prst="line">
            <a:avLst/>
          </a:prstGeom>
          <a:noFill/>
          <a:ln w="12700">
            <a:solidFill>
              <a:srgbClr val="D8E0DC"/>
            </a:solidFill>
            <a:prstDash val="solid"/>
            <a:headEnd type="none"/>
            <a:tailEnd type="none"/>
          </a:ln>
        </p:spPr>
      </p:sp>
      <p:sp>
        <p:nvSpPr>
          <p:cNvPr id="37" name="Shape 35"/>
          <p:cNvSpPr/>
          <p:nvPr/>
        </p:nvSpPr>
        <p:spPr>
          <a:xfrm>
            <a:off x="8631936" y="3035808"/>
            <a:ext cx="1207008" cy="557784"/>
          </a:xfrm>
          <a:prstGeom prst="roundRect">
            <a:avLst>
              <a:gd name="adj" fmla="val 13115"/>
            </a:avLst>
          </a:prstGeom>
          <a:solidFill>
            <a:srgbClr val="FFFFFF"/>
          </a:solidFill>
          <a:ln w="10160">
            <a:solidFill>
              <a:srgbClr val="D8E0DC"/>
            </a:solidFill>
            <a:prstDash val="solid"/>
          </a:ln>
        </p:spPr>
      </p:sp>
      <p:sp>
        <p:nvSpPr>
          <p:cNvPr id="38" name="Shape 36"/>
          <p:cNvSpPr/>
          <p:nvPr/>
        </p:nvSpPr>
        <p:spPr>
          <a:xfrm>
            <a:off x="10003536" y="3035808"/>
            <a:ext cx="1307592" cy="557784"/>
          </a:xfrm>
          <a:prstGeom prst="roundRect">
            <a:avLst>
              <a:gd name="adj" fmla="val 13115"/>
            </a:avLst>
          </a:prstGeom>
          <a:solidFill>
            <a:srgbClr val="E3F0E9"/>
          </a:solidFill>
          <a:ln w="10160">
            <a:solidFill>
              <a:srgbClr val="D8E7DF"/>
            </a:solidFill>
            <a:prstDash val="solid"/>
          </a:ln>
        </p:spPr>
      </p:sp>
      <p:sp>
        <p:nvSpPr>
          <p:cNvPr id="39" name="Shape 37"/>
          <p:cNvSpPr/>
          <p:nvPr/>
        </p:nvSpPr>
        <p:spPr>
          <a:xfrm>
            <a:off x="8631936" y="3675888"/>
            <a:ext cx="2679192" cy="164592"/>
          </a:xfrm>
          <a:prstGeom prst="roundRect">
            <a:avLst>
              <a:gd name="adj" fmla="val 44444"/>
            </a:avLst>
          </a:prstGeom>
          <a:solidFill>
            <a:srgbClr val="E77765"/>
          </a:solidFill>
          <a:ln w="12700">
            <a:solidFill>
              <a:srgbClr val="E77765">
                <a:alpha val="0"/>
              </a:srgbClr>
            </a:solidFill>
            <a:prstDash val="solid"/>
          </a:ln>
        </p:spPr>
      </p:sp>
      <p:sp>
        <p:nvSpPr>
          <p:cNvPr id="40" name="Text 38"/>
          <p:cNvSpPr/>
          <p:nvPr/>
        </p:nvSpPr>
        <p:spPr>
          <a:xfrm>
            <a:off x="8659368" y="3995928"/>
            <a:ext cx="2743200" cy="173736"/>
          </a:xfrm>
          <a:prstGeom prst="rect">
            <a:avLst/>
          </a:prstGeom>
          <a:noFill/>
          <a:ln/>
        </p:spPr>
        <p:txBody>
          <a:bodyPr wrap="square" lIns="0" tIns="0" rIns="0" bIns="0" rtlCol="0" anchor="ctr">
            <a:normAutofit/>
          </a:bodyPr>
          <a:lstStyle/>
          <a:p>
            <a:pPr algn="ctr" indent="0" marL="0">
              <a:buNone/>
            </a:pPr>
            <a:r>
              <a:rPr lang="en-US" sz="700" b="1" spc="50" kern="0" dirty="0">
                <a:solidFill>
                  <a:srgbClr val="E77765"/>
                </a:solidFill>
                <a:latin typeface="Aptos" pitchFamily="34" charset="0"/>
                <a:ea typeface="Aptos" pitchFamily="34" charset="-122"/>
                <a:cs typeface="Aptos" pitchFamily="34" charset="-120"/>
              </a:rPr>
              <a:t>SCREENSHOT PLACEHOLDER</a:t>
            </a:r>
            <a:endParaRPr lang="en-US" sz="700" dirty="0"/>
          </a:p>
        </p:txBody>
      </p:sp>
      <p:sp>
        <p:nvSpPr>
          <p:cNvPr id="41" name="Text 39"/>
          <p:cNvSpPr/>
          <p:nvPr/>
        </p:nvSpPr>
        <p:spPr>
          <a:xfrm>
            <a:off x="8558784" y="4352544"/>
            <a:ext cx="2788920" cy="182880"/>
          </a:xfrm>
          <a:prstGeom prst="rect">
            <a:avLst/>
          </a:prstGeom>
          <a:noFill/>
          <a:ln/>
        </p:spPr>
        <p:txBody>
          <a:bodyPr wrap="square" lIns="0" tIns="0" rIns="0" bIns="0" rtlCol="0" anchor="ctr">
            <a:normAutofit/>
          </a:bodyPr>
          <a:lstStyle/>
          <a:p>
            <a:pPr algn="l" indent="0" marL="0">
              <a:buNone/>
            </a:pPr>
            <a:r>
              <a:rPr lang="en-US" sz="800" b="1" spc="100" kern="0" dirty="0">
                <a:solidFill>
                  <a:srgbClr val="398E82"/>
                </a:solidFill>
                <a:latin typeface="Aptos" pitchFamily="34" charset="0"/>
                <a:ea typeface="Aptos" pitchFamily="34" charset="-122"/>
                <a:cs typeface="Aptos" pitchFamily="34" charset="-120"/>
              </a:rPr>
              <a:t>ABOUT</a:t>
            </a:r>
            <a:endParaRPr lang="en-US" sz="800" dirty="0"/>
          </a:p>
        </p:txBody>
      </p:sp>
      <p:sp>
        <p:nvSpPr>
          <p:cNvPr id="42" name="Text 40"/>
          <p:cNvSpPr/>
          <p:nvPr/>
        </p:nvSpPr>
        <p:spPr>
          <a:xfrm>
            <a:off x="8558784" y="4590288"/>
            <a:ext cx="2852928" cy="411480"/>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Review pipeline, inputs, and model limitations.</a:t>
            </a:r>
            <a:endParaRPr lang="en-US" sz="900" dirty="0"/>
          </a:p>
        </p:txBody>
      </p:sp>
      <p:sp>
        <p:nvSpPr>
          <p:cNvPr id="43" name="Text 41">
            <a:hlinkClick r:id="rId3" tooltip="" action="ppaction://hlinksldjump"/>
          </p:cNvPr>
          <p:cNvSpPr/>
          <p:nvPr/>
        </p:nvSpPr>
        <p:spPr>
          <a:xfrm>
            <a:off x="8558784" y="4974336"/>
            <a:ext cx="1417320" cy="274320"/>
          </a:xfrm>
          <a:prstGeom prst="rect">
            <a:avLst/>
          </a:prstGeom>
          <a:solidFill>
            <a:srgbClr val="EEF4F0"/>
          </a:solidFill>
          <a:ln w="6350">
            <a:solidFill>
              <a:srgbClr val="D7E6DF"/>
            </a:solidFill>
          </a:ln>
        </p:spPr>
        <p:txBody>
          <a:bodyPr wrap="square" lIns="635" tIns="635" rIns="635" bIns="635" rtlCol="0" anchor="ctr"/>
          <a:lstStyle/>
          <a:p>
            <a:pPr algn="ctr" indent="0" marL="0">
              <a:buNone/>
            </a:pPr>
            <a:r>
              <a:rPr lang="en-US" sz="8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LOCAL URL  /about</a:t>
            </a:r>
            <a:endParaRPr lang="en-US" sz="800" dirty="0"/>
          </a:p>
        </p:txBody>
      </p:sp>
      <p:sp>
        <p:nvSpPr>
          <p:cNvPr id="44" name="Shape 42"/>
          <p:cNvSpPr/>
          <p:nvPr/>
        </p:nvSpPr>
        <p:spPr>
          <a:xfrm>
            <a:off x="749808" y="5513832"/>
            <a:ext cx="10698480" cy="484632"/>
          </a:xfrm>
          <a:prstGeom prst="roundRect">
            <a:avLst>
              <a:gd name="adj" fmla="val 15094"/>
            </a:avLst>
          </a:prstGeom>
          <a:solidFill>
            <a:srgbClr val="F7E7E1"/>
          </a:solidFill>
          <a:ln w="12700">
            <a:solidFill>
              <a:srgbClr val="F7E7E1">
                <a:alpha val="0"/>
              </a:srgbClr>
            </a:solidFill>
            <a:prstDash val="solid"/>
          </a:ln>
        </p:spPr>
      </p:sp>
      <p:sp>
        <p:nvSpPr>
          <p:cNvPr id="45" name="Text 43"/>
          <p:cNvSpPr/>
          <p:nvPr/>
        </p:nvSpPr>
        <p:spPr>
          <a:xfrm>
            <a:off x="960120" y="5660136"/>
            <a:ext cx="10149840" cy="164592"/>
          </a:xfrm>
          <a:prstGeom prst="rect">
            <a:avLst/>
          </a:prstGeom>
          <a:noFill/>
          <a:ln/>
        </p:spPr>
        <p:txBody>
          <a:bodyPr wrap="square" lIns="0" tIns="0" rIns="0" bIns="0" rtlCol="0" anchor="ctr">
            <a:normAutofit/>
          </a:bodyPr>
          <a:lstStyle/>
          <a:p>
            <a:pPr algn="l" indent="0" marL="0">
              <a:buNone/>
            </a:pPr>
            <a:r>
              <a:rPr lang="en-US" sz="900" dirty="0">
                <a:solidFill>
                  <a:srgbClr val="8D5146"/>
                </a:solidFill>
                <a:latin typeface="Aptos" pitchFamily="34" charset="0"/>
                <a:ea typeface="Aptos" pitchFamily="34" charset="-122"/>
                <a:cs typeface="Aptos" pitchFamily="34" charset="-120"/>
              </a:rPr>
              <a:t>Add genuine browser screenshots before final submission. Local app capture was blocked by the current browser sandbox.</a:t>
            </a:r>
            <a:endParaRPr lang="en-US" sz="900" dirty="0"/>
          </a:p>
        </p:txBody>
      </p:sp>
      <p:sp>
        <p:nvSpPr>
          <p:cNvPr id="47" name="Text 44">
            <a:hlinkClick r:id="rId4"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48" name="Text 45">
            <a:hlinkClick r:id="rId5"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49" name="Text 46">
            <a:hlinkClick r:id="rId6"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50" name="Text 47">
            <a:hlinkClick r:id="rId7"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7"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51" name="Text 48">
            <a:hlinkClick r:id="rId8"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8"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11 / LIVE DEMO</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From user input to model response</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A short walkthrough connects the visible form to the server-side pipeline.</a:t>
            </a:r>
            <a:endParaRPr lang="en-US" sz="1100" dirty="0"/>
          </a:p>
        </p:txBody>
      </p:sp>
      <p:sp>
        <p:nvSpPr>
          <p:cNvPr id="5" name="Shape 3"/>
          <p:cNvSpPr/>
          <p:nvPr/>
        </p:nvSpPr>
        <p:spPr>
          <a:xfrm>
            <a:off x="1472184" y="1901952"/>
            <a:ext cx="594360" cy="594360"/>
          </a:xfrm>
          <a:prstGeom prst="ellipse">
            <a:avLst/>
          </a:prstGeom>
          <a:solidFill>
            <a:srgbClr val="398E82"/>
          </a:solidFill>
          <a:ln w="8890">
            <a:solidFill>
              <a:srgbClr val="398E82"/>
            </a:solidFill>
            <a:prstDash val="solid"/>
          </a:ln>
        </p:spPr>
      </p:sp>
      <p:sp>
        <p:nvSpPr>
          <p:cNvPr id="6" name="Text 4"/>
          <p:cNvSpPr/>
          <p:nvPr/>
        </p:nvSpPr>
        <p:spPr>
          <a:xfrm>
            <a:off x="1472184" y="2057400"/>
            <a:ext cx="594360"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7" name="Shape 5"/>
          <p:cNvSpPr/>
          <p:nvPr/>
        </p:nvSpPr>
        <p:spPr>
          <a:xfrm>
            <a:off x="2167128" y="2203704"/>
            <a:ext cx="1399032" cy="0"/>
          </a:xfrm>
          <a:prstGeom prst="line">
            <a:avLst/>
          </a:prstGeom>
          <a:noFill/>
          <a:ln w="22860">
            <a:solidFill>
              <a:srgbClr val="D1A56A"/>
            </a:solidFill>
            <a:prstDash val="solid"/>
            <a:headEnd type="none"/>
            <a:tailEnd type="none"/>
          </a:ln>
        </p:spPr>
      </p:sp>
      <p:sp>
        <p:nvSpPr>
          <p:cNvPr id="8" name="Text 6"/>
          <p:cNvSpPr/>
          <p:nvPr/>
        </p:nvSpPr>
        <p:spPr>
          <a:xfrm>
            <a:off x="795528" y="2743200"/>
            <a:ext cx="1965960" cy="274320"/>
          </a:xfrm>
          <a:prstGeom prst="rect">
            <a:avLst/>
          </a:prstGeom>
          <a:noFill/>
          <a:ln/>
        </p:spPr>
        <p:txBody>
          <a:bodyPr wrap="square" lIns="0" tIns="0" rIns="0" bIns="0" rtlCol="0" anchor="ctr">
            <a:normAutofit/>
          </a:bodyPr>
          <a:lstStyle/>
          <a:p>
            <a:pPr algn="ctr" indent="0" marL="0">
              <a:buNone/>
            </a:pPr>
            <a:r>
              <a:rPr lang="en-US" sz="1500" b="1" dirty="0">
                <a:solidFill>
                  <a:srgbClr val="213B52"/>
                </a:solidFill>
                <a:latin typeface="Georgia" pitchFamily="34" charset="0"/>
                <a:ea typeface="Georgia" pitchFamily="34" charset="-122"/>
                <a:cs typeface="Georgia" pitchFamily="34" charset="-120"/>
              </a:rPr>
              <a:t>Open Predict</a:t>
            </a:r>
            <a:endParaRPr lang="en-US" sz="1500" dirty="0"/>
          </a:p>
        </p:txBody>
      </p:sp>
      <p:sp>
        <p:nvSpPr>
          <p:cNvPr id="9" name="Text 7"/>
          <p:cNvSpPr/>
          <p:nvPr/>
        </p:nvSpPr>
        <p:spPr>
          <a:xfrm>
            <a:off x="822960" y="3154680"/>
            <a:ext cx="1920240" cy="438912"/>
          </a:xfrm>
          <a:prstGeom prst="rect">
            <a:avLst/>
          </a:prstGeom>
          <a:noFill/>
          <a:ln/>
        </p:spPr>
        <p:txBody>
          <a:bodyPr wrap="square" lIns="0" tIns="0" rIns="0" bIns="0" rtlCol="0" anchor="ctr">
            <a:normAutofit/>
          </a:bodyPr>
          <a:lstStyle/>
          <a:p>
            <a:pPr algn="ctr" indent="0" marL="0">
              <a:buNone/>
            </a:pPr>
            <a:r>
              <a:rPr lang="en-US" sz="900" dirty="0">
                <a:solidFill>
                  <a:srgbClr val="71838D"/>
                </a:solidFill>
                <a:latin typeface="Aptos" pitchFamily="34" charset="0"/>
                <a:ea typeface="Aptos" pitchFamily="34" charset="-122"/>
                <a:cs typeface="Aptos" pitchFamily="34" charset="-120"/>
              </a:rPr>
              <a:t>Choose passenger details</a:t>
            </a:r>
            <a:endParaRPr lang="en-US" sz="900" dirty="0"/>
          </a:p>
        </p:txBody>
      </p:sp>
      <p:sp>
        <p:nvSpPr>
          <p:cNvPr id="10" name="Shape 8"/>
          <p:cNvSpPr/>
          <p:nvPr/>
        </p:nvSpPr>
        <p:spPr>
          <a:xfrm>
            <a:off x="4288536" y="1901952"/>
            <a:ext cx="594360" cy="594360"/>
          </a:xfrm>
          <a:prstGeom prst="ellipse">
            <a:avLst/>
          </a:prstGeom>
          <a:solidFill>
            <a:srgbClr val="398E82"/>
          </a:solidFill>
          <a:ln w="8890">
            <a:solidFill>
              <a:srgbClr val="398E82"/>
            </a:solidFill>
            <a:prstDash val="solid"/>
          </a:ln>
        </p:spPr>
      </p:sp>
      <p:sp>
        <p:nvSpPr>
          <p:cNvPr id="11" name="Text 9"/>
          <p:cNvSpPr/>
          <p:nvPr/>
        </p:nvSpPr>
        <p:spPr>
          <a:xfrm>
            <a:off x="4288536" y="2057400"/>
            <a:ext cx="594360"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Shape 10"/>
          <p:cNvSpPr/>
          <p:nvPr/>
        </p:nvSpPr>
        <p:spPr>
          <a:xfrm>
            <a:off x="4983480" y="2203704"/>
            <a:ext cx="1399032" cy="0"/>
          </a:xfrm>
          <a:prstGeom prst="line">
            <a:avLst/>
          </a:prstGeom>
          <a:noFill/>
          <a:ln w="22860">
            <a:solidFill>
              <a:srgbClr val="D1A56A"/>
            </a:solidFill>
            <a:prstDash val="solid"/>
            <a:headEnd type="none"/>
            <a:tailEnd type="none"/>
          </a:ln>
        </p:spPr>
      </p:sp>
      <p:sp>
        <p:nvSpPr>
          <p:cNvPr id="13" name="Text 11"/>
          <p:cNvSpPr/>
          <p:nvPr/>
        </p:nvSpPr>
        <p:spPr>
          <a:xfrm>
            <a:off x="3611880" y="2743200"/>
            <a:ext cx="1965960" cy="274320"/>
          </a:xfrm>
          <a:prstGeom prst="rect">
            <a:avLst/>
          </a:prstGeom>
          <a:noFill/>
          <a:ln/>
        </p:spPr>
        <p:txBody>
          <a:bodyPr wrap="square" lIns="0" tIns="0" rIns="0" bIns="0" rtlCol="0" anchor="ctr">
            <a:normAutofit/>
          </a:bodyPr>
          <a:lstStyle/>
          <a:p>
            <a:pPr algn="ctr" indent="0" marL="0">
              <a:buNone/>
            </a:pPr>
            <a:r>
              <a:rPr lang="en-US" sz="1500" b="1" dirty="0">
                <a:solidFill>
                  <a:srgbClr val="213B52"/>
                </a:solidFill>
                <a:latin typeface="Georgia" pitchFamily="34" charset="0"/>
                <a:ea typeface="Georgia" pitchFamily="34" charset="-122"/>
                <a:cs typeface="Georgia" pitchFamily="34" charset="-120"/>
              </a:rPr>
              <a:t>Submit profile</a:t>
            </a:r>
            <a:endParaRPr lang="en-US" sz="1500" dirty="0"/>
          </a:p>
        </p:txBody>
      </p:sp>
      <p:sp>
        <p:nvSpPr>
          <p:cNvPr id="14" name="Text 12"/>
          <p:cNvSpPr/>
          <p:nvPr/>
        </p:nvSpPr>
        <p:spPr>
          <a:xfrm>
            <a:off x="3639312" y="3154680"/>
            <a:ext cx="1920240" cy="438912"/>
          </a:xfrm>
          <a:prstGeom prst="rect">
            <a:avLst/>
          </a:prstGeom>
          <a:noFill/>
          <a:ln/>
        </p:spPr>
        <p:txBody>
          <a:bodyPr wrap="square" lIns="0" tIns="0" rIns="0" bIns="0" rtlCol="0" anchor="ctr">
            <a:normAutofit/>
          </a:bodyPr>
          <a:lstStyle/>
          <a:p>
            <a:pPr algn="ctr" indent="0" marL="0">
              <a:buNone/>
            </a:pPr>
            <a:r>
              <a:rPr lang="en-US" sz="900" dirty="0">
                <a:solidFill>
                  <a:srgbClr val="71838D"/>
                </a:solidFill>
                <a:latin typeface="Aptos" pitchFamily="34" charset="0"/>
                <a:ea typeface="Aptos" pitchFamily="34" charset="-122"/>
                <a:cs typeface="Aptos" pitchFamily="34" charset="-120"/>
              </a:rPr>
              <a:t>Browser sends JSON to FastAPI</a:t>
            </a:r>
            <a:endParaRPr lang="en-US" sz="900" dirty="0"/>
          </a:p>
        </p:txBody>
      </p:sp>
      <p:sp>
        <p:nvSpPr>
          <p:cNvPr id="15" name="Shape 13"/>
          <p:cNvSpPr/>
          <p:nvPr/>
        </p:nvSpPr>
        <p:spPr>
          <a:xfrm>
            <a:off x="7104888" y="1901952"/>
            <a:ext cx="594360" cy="594360"/>
          </a:xfrm>
          <a:prstGeom prst="ellipse">
            <a:avLst/>
          </a:prstGeom>
          <a:solidFill>
            <a:srgbClr val="398E82"/>
          </a:solidFill>
          <a:ln w="8890">
            <a:solidFill>
              <a:srgbClr val="398E82"/>
            </a:solidFill>
            <a:prstDash val="solid"/>
          </a:ln>
        </p:spPr>
      </p:sp>
      <p:sp>
        <p:nvSpPr>
          <p:cNvPr id="16" name="Text 14"/>
          <p:cNvSpPr/>
          <p:nvPr/>
        </p:nvSpPr>
        <p:spPr>
          <a:xfrm>
            <a:off x="7104888" y="2057400"/>
            <a:ext cx="594360"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7" name="Shape 15"/>
          <p:cNvSpPr/>
          <p:nvPr/>
        </p:nvSpPr>
        <p:spPr>
          <a:xfrm>
            <a:off x="7799832" y="2203704"/>
            <a:ext cx="1399032" cy="0"/>
          </a:xfrm>
          <a:prstGeom prst="line">
            <a:avLst/>
          </a:prstGeom>
          <a:noFill/>
          <a:ln w="22860">
            <a:solidFill>
              <a:srgbClr val="D1A56A"/>
            </a:solidFill>
            <a:prstDash val="solid"/>
            <a:headEnd type="none"/>
            <a:tailEnd type="none"/>
          </a:ln>
        </p:spPr>
      </p:sp>
      <p:sp>
        <p:nvSpPr>
          <p:cNvPr id="18" name="Text 16"/>
          <p:cNvSpPr/>
          <p:nvPr/>
        </p:nvSpPr>
        <p:spPr>
          <a:xfrm>
            <a:off x="6428232" y="2743200"/>
            <a:ext cx="1965960" cy="274320"/>
          </a:xfrm>
          <a:prstGeom prst="rect">
            <a:avLst/>
          </a:prstGeom>
          <a:noFill/>
          <a:ln/>
        </p:spPr>
        <p:txBody>
          <a:bodyPr wrap="square" lIns="0" tIns="0" rIns="0" bIns="0" rtlCol="0" anchor="ctr">
            <a:normAutofit/>
          </a:bodyPr>
          <a:lstStyle/>
          <a:p>
            <a:pPr algn="ctr" indent="0" marL="0">
              <a:buNone/>
            </a:pPr>
            <a:r>
              <a:rPr lang="en-US" sz="1500" b="1" dirty="0">
                <a:solidFill>
                  <a:srgbClr val="213B52"/>
                </a:solidFill>
                <a:latin typeface="Georgia" pitchFamily="34" charset="0"/>
                <a:ea typeface="Georgia" pitchFamily="34" charset="-122"/>
                <a:cs typeface="Georgia" pitchFamily="34" charset="-120"/>
              </a:rPr>
              <a:t>Run pipeline</a:t>
            </a:r>
            <a:endParaRPr lang="en-US" sz="1500" dirty="0"/>
          </a:p>
        </p:txBody>
      </p:sp>
      <p:sp>
        <p:nvSpPr>
          <p:cNvPr id="19" name="Text 17"/>
          <p:cNvSpPr/>
          <p:nvPr/>
        </p:nvSpPr>
        <p:spPr>
          <a:xfrm>
            <a:off x="6455664" y="3154680"/>
            <a:ext cx="1920240" cy="438912"/>
          </a:xfrm>
          <a:prstGeom prst="rect">
            <a:avLst/>
          </a:prstGeom>
          <a:noFill/>
          <a:ln/>
        </p:spPr>
        <p:txBody>
          <a:bodyPr wrap="square" lIns="0" tIns="0" rIns="0" bIns="0" rtlCol="0" anchor="ctr">
            <a:normAutofit/>
          </a:bodyPr>
          <a:lstStyle/>
          <a:p>
            <a:pPr algn="ctr" indent="0" marL="0">
              <a:buNone/>
            </a:pPr>
            <a:r>
              <a:rPr lang="en-US" sz="900" dirty="0">
                <a:solidFill>
                  <a:srgbClr val="71838D"/>
                </a:solidFill>
                <a:latin typeface="Aptos" pitchFamily="34" charset="0"/>
                <a:ea typeface="Aptos" pitchFamily="34" charset="-122"/>
                <a:cs typeface="Aptos" pitchFamily="34" charset="-120"/>
              </a:rPr>
              <a:t>Saved model transforms and predicts</a:t>
            </a:r>
            <a:endParaRPr lang="en-US" sz="900" dirty="0"/>
          </a:p>
        </p:txBody>
      </p:sp>
      <p:sp>
        <p:nvSpPr>
          <p:cNvPr id="20" name="Shape 18"/>
          <p:cNvSpPr/>
          <p:nvPr/>
        </p:nvSpPr>
        <p:spPr>
          <a:xfrm>
            <a:off x="9921240" y="1901952"/>
            <a:ext cx="594360" cy="594360"/>
          </a:xfrm>
          <a:prstGeom prst="ellipse">
            <a:avLst/>
          </a:prstGeom>
          <a:solidFill>
            <a:srgbClr val="E77765"/>
          </a:solidFill>
          <a:ln w="8890">
            <a:solidFill>
              <a:srgbClr val="E77765"/>
            </a:solidFill>
            <a:prstDash val="solid"/>
          </a:ln>
        </p:spPr>
      </p:sp>
      <p:sp>
        <p:nvSpPr>
          <p:cNvPr id="21" name="Text 19"/>
          <p:cNvSpPr/>
          <p:nvPr/>
        </p:nvSpPr>
        <p:spPr>
          <a:xfrm>
            <a:off x="9921240" y="2057400"/>
            <a:ext cx="594360" cy="256032"/>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Georgia" pitchFamily="34" charset="0"/>
                <a:ea typeface="Georgia" pitchFamily="34" charset="-122"/>
                <a:cs typeface="Georgia" pitchFamily="34" charset="-120"/>
              </a:rPr>
              <a:t>4</a:t>
            </a:r>
            <a:endParaRPr lang="en-US" sz="1800" dirty="0"/>
          </a:p>
        </p:txBody>
      </p:sp>
      <p:sp>
        <p:nvSpPr>
          <p:cNvPr id="22" name="Text 20"/>
          <p:cNvSpPr/>
          <p:nvPr/>
        </p:nvSpPr>
        <p:spPr>
          <a:xfrm>
            <a:off x="9244584" y="2743200"/>
            <a:ext cx="1965960" cy="274320"/>
          </a:xfrm>
          <a:prstGeom prst="rect">
            <a:avLst/>
          </a:prstGeom>
          <a:noFill/>
          <a:ln/>
        </p:spPr>
        <p:txBody>
          <a:bodyPr wrap="square" lIns="0" tIns="0" rIns="0" bIns="0" rtlCol="0" anchor="ctr">
            <a:normAutofit/>
          </a:bodyPr>
          <a:lstStyle/>
          <a:p>
            <a:pPr algn="ctr" indent="0" marL="0">
              <a:buNone/>
            </a:pPr>
            <a:r>
              <a:rPr lang="en-US" sz="1500" b="1" dirty="0">
                <a:solidFill>
                  <a:srgbClr val="213B52"/>
                </a:solidFill>
                <a:latin typeface="Georgia" pitchFamily="34" charset="0"/>
                <a:ea typeface="Georgia" pitchFamily="34" charset="-122"/>
                <a:cs typeface="Georgia" pitchFamily="34" charset="-120"/>
              </a:rPr>
              <a:t>Read estimate</a:t>
            </a:r>
            <a:endParaRPr lang="en-US" sz="1500" dirty="0"/>
          </a:p>
        </p:txBody>
      </p:sp>
      <p:sp>
        <p:nvSpPr>
          <p:cNvPr id="23" name="Text 21"/>
          <p:cNvSpPr/>
          <p:nvPr/>
        </p:nvSpPr>
        <p:spPr>
          <a:xfrm>
            <a:off x="9272016" y="3154680"/>
            <a:ext cx="1920240" cy="438912"/>
          </a:xfrm>
          <a:prstGeom prst="rect">
            <a:avLst/>
          </a:prstGeom>
          <a:noFill/>
          <a:ln/>
        </p:spPr>
        <p:txBody>
          <a:bodyPr wrap="square" lIns="0" tIns="0" rIns="0" bIns="0" rtlCol="0" anchor="ctr">
            <a:normAutofit/>
          </a:bodyPr>
          <a:lstStyle/>
          <a:p>
            <a:pPr algn="ctr" indent="0" marL="0">
              <a:buNone/>
            </a:pPr>
            <a:r>
              <a:rPr lang="en-US" sz="900" dirty="0">
                <a:solidFill>
                  <a:srgbClr val="71838D"/>
                </a:solidFill>
                <a:latin typeface="Aptos" pitchFamily="34" charset="0"/>
                <a:ea typeface="Aptos" pitchFamily="34" charset="-122"/>
                <a:cs typeface="Aptos" pitchFamily="34" charset="-120"/>
              </a:rPr>
              <a:t>Probability and outcome appear</a:t>
            </a:r>
            <a:endParaRPr lang="en-US" sz="900" dirty="0"/>
          </a:p>
        </p:txBody>
      </p:sp>
      <p:sp>
        <p:nvSpPr>
          <p:cNvPr id="24" name="Shape 22"/>
          <p:cNvSpPr/>
          <p:nvPr/>
        </p:nvSpPr>
        <p:spPr>
          <a:xfrm>
            <a:off x="822960" y="4114800"/>
            <a:ext cx="6492240" cy="1298448"/>
          </a:xfrm>
          <a:prstGeom prst="roundRect">
            <a:avLst>
              <a:gd name="adj" fmla="val 5634"/>
            </a:avLst>
          </a:prstGeom>
          <a:solidFill>
            <a:srgbClr val="142F49"/>
          </a:solidFill>
          <a:ln w="12700">
            <a:solidFill>
              <a:srgbClr val="142F49">
                <a:alpha val="0"/>
              </a:srgbClr>
            </a:solidFill>
            <a:prstDash val="solid"/>
          </a:ln>
        </p:spPr>
      </p:sp>
      <p:sp>
        <p:nvSpPr>
          <p:cNvPr id="25" name="Text 23"/>
          <p:cNvSpPr/>
          <p:nvPr/>
        </p:nvSpPr>
        <p:spPr>
          <a:xfrm>
            <a:off x="1115568" y="4389120"/>
            <a:ext cx="132588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D1A56A"/>
                </a:solidFill>
                <a:latin typeface="Aptos" pitchFamily="34" charset="0"/>
                <a:ea typeface="Aptos" pitchFamily="34" charset="-122"/>
                <a:cs typeface="Aptos" pitchFamily="34" charset="-120"/>
              </a:rPr>
              <a:t>TECH STACK</a:t>
            </a:r>
            <a:endParaRPr lang="en-US" sz="800" dirty="0"/>
          </a:p>
        </p:txBody>
      </p:sp>
      <p:sp>
        <p:nvSpPr>
          <p:cNvPr id="26" name="Text 24"/>
          <p:cNvSpPr/>
          <p:nvPr/>
        </p:nvSpPr>
        <p:spPr>
          <a:xfrm>
            <a:off x="1115568" y="4727448"/>
            <a:ext cx="5806440" cy="429768"/>
          </a:xfrm>
          <a:prstGeom prst="rect">
            <a:avLst/>
          </a:prstGeom>
          <a:noFill/>
          <a:ln/>
        </p:spPr>
        <p:txBody>
          <a:bodyPr wrap="square" lIns="0" tIns="0" rIns="0" bIns="0" rtlCol="0" anchor="ctr">
            <a:normAutofit/>
          </a:bodyPr>
          <a:lstStyle/>
          <a:p>
            <a:pPr algn="l" indent="0" marL="0">
              <a:buNone/>
            </a:pPr>
            <a:r>
              <a:rPr lang="en-US" sz="1400" b="1" dirty="0">
                <a:solidFill>
                  <a:srgbClr val="FAF8F1"/>
                </a:solidFill>
                <a:latin typeface="Georgia" pitchFamily="34" charset="0"/>
                <a:ea typeface="Georgia" pitchFamily="34" charset="-122"/>
                <a:cs typeface="Georgia" pitchFamily="34" charset="-120"/>
              </a:rPr>
              <a:t>Python • pandas • scikit-learn • joblib • FastAPI • HTML • CSS • JavaScript • Jupyter</a:t>
            </a:r>
            <a:endParaRPr lang="en-US" sz="1400" dirty="0"/>
          </a:p>
        </p:txBody>
      </p:sp>
      <p:sp>
        <p:nvSpPr>
          <p:cNvPr id="27" name="Shape 25"/>
          <p:cNvSpPr/>
          <p:nvPr/>
        </p:nvSpPr>
        <p:spPr>
          <a:xfrm>
            <a:off x="7699248" y="4114800"/>
            <a:ext cx="3493008" cy="1298448"/>
          </a:xfrm>
          <a:prstGeom prst="roundRect">
            <a:avLst>
              <a:gd name="adj" fmla="val 5634"/>
            </a:avLst>
          </a:prstGeom>
          <a:solidFill>
            <a:srgbClr val="E3F0E9"/>
          </a:solidFill>
          <a:ln w="12700">
            <a:solidFill>
              <a:srgbClr val="E3F0E9">
                <a:alpha val="0"/>
              </a:srgbClr>
            </a:solidFill>
            <a:prstDash val="solid"/>
          </a:ln>
        </p:spPr>
      </p:sp>
      <p:sp>
        <p:nvSpPr>
          <p:cNvPr id="28" name="Text 26"/>
          <p:cNvSpPr/>
          <p:nvPr/>
        </p:nvSpPr>
        <p:spPr>
          <a:xfrm>
            <a:off x="8001000" y="4389120"/>
            <a:ext cx="1280160" cy="164592"/>
          </a:xfrm>
          <a:prstGeom prst="rect">
            <a:avLst/>
          </a:prstGeom>
          <a:noFill/>
          <a:ln/>
        </p:spPr>
        <p:txBody>
          <a:bodyPr wrap="square" lIns="0" tIns="0" rIns="0" bIns="0" rtlCol="0" anchor="ctr">
            <a:normAutofit/>
          </a:bodyPr>
          <a:lstStyle/>
          <a:p>
            <a:pPr algn="l" indent="0" marL="0">
              <a:buNone/>
            </a:pPr>
            <a:r>
              <a:rPr lang="en-US" sz="800" b="1" spc="110" kern="0" dirty="0">
                <a:solidFill>
                  <a:srgbClr val="398E82"/>
                </a:solidFill>
                <a:latin typeface="Aptos" pitchFamily="34" charset="0"/>
                <a:ea typeface="Aptos" pitchFamily="34" charset="-122"/>
                <a:cs typeface="Aptos" pitchFamily="34" charset="-120"/>
              </a:rPr>
              <a:t>LOCAL DEMO</a:t>
            </a:r>
            <a:endParaRPr lang="en-US" sz="800" dirty="0"/>
          </a:p>
        </p:txBody>
      </p:sp>
      <p:sp>
        <p:nvSpPr>
          <p:cNvPr id="29" name="Text 27">
            <a:hlinkClick r:id="rId1" tooltip=""/>
          </p:cNvPr>
          <p:cNvSpPr/>
          <p:nvPr/>
        </p:nvSpPr>
        <p:spPr>
          <a:xfrm>
            <a:off x="8001000" y="4727448"/>
            <a:ext cx="2880360" cy="274320"/>
          </a:xfrm>
          <a:prstGeom prst="rect">
            <a:avLst/>
          </a:prstGeom>
          <a:noFill/>
          <a:ln/>
        </p:spPr>
        <p:txBody>
          <a:bodyPr wrap="square" lIns="0" tIns="0" rIns="0" bIns="0" rtlCol="0" anchor="ctr"/>
          <a:lstStyle/>
          <a:p>
            <a:pPr indent="0" marL="0">
              <a:buNone/>
            </a:pPr>
            <a:r>
              <a:rPr lang="en-US" sz="1000" b="1" u="sng" dirty="0">
                <a:solidFill>
                  <a:srgbClr val="142F49"/>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http://127.0.0.1:8000/predict</a:t>
            </a:r>
            <a:endParaRPr lang="en-US" sz="1000" dirty="0"/>
          </a:p>
        </p:txBody>
      </p:sp>
      <p:sp>
        <p:nvSpPr>
          <p:cNvPr id="30" name="Text 28"/>
          <p:cNvSpPr/>
          <p:nvPr/>
        </p:nvSpPr>
        <p:spPr>
          <a:xfrm>
            <a:off x="8001000" y="5074920"/>
            <a:ext cx="2743200" cy="164592"/>
          </a:xfrm>
          <a:prstGeom prst="rect">
            <a:avLst/>
          </a:prstGeom>
          <a:noFill/>
          <a:ln/>
        </p:spPr>
        <p:txBody>
          <a:bodyPr wrap="square" lIns="0" tIns="0" rIns="0" bIns="0" rtlCol="0" anchor="ctr">
            <a:normAutofit/>
          </a:bodyPr>
          <a:lstStyle/>
          <a:p>
            <a:pPr algn="l" indent="0" marL="0">
              <a:buNone/>
            </a:pPr>
            <a:r>
              <a:rPr lang="en-US" sz="800" dirty="0">
                <a:solidFill>
                  <a:srgbClr val="71838D"/>
                </a:solidFill>
                <a:latin typeface="Aptos" pitchFamily="34" charset="0"/>
                <a:ea typeface="Aptos" pitchFamily="34" charset="-122"/>
                <a:cs typeface="Aptos" pitchFamily="34" charset="-120"/>
              </a:rPr>
              <a:t>Only works on the presenter’s computer.</a:t>
            </a:r>
            <a:endParaRPr lang="en-US" sz="800" dirty="0"/>
          </a:p>
        </p:txBody>
      </p:sp>
      <p:sp>
        <p:nvSpPr>
          <p:cNvPr id="32" name="Text 29">
            <a:hlinkClick r:id="rId2"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33" name="Text 30">
            <a:hlinkClick r:id="rId3"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34" name="Text 31">
            <a:hlinkClick r:id="rId4"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35" name="Text 32">
            <a:hlinkClick r:id="rId5"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36" name="Text 33">
            <a:hlinkClick r:id="rId6"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29184"/>
            <a:ext cx="8046720" cy="182880"/>
          </a:xfrm>
          <a:prstGeom prst="rect">
            <a:avLst/>
          </a:prstGeom>
          <a:noFill/>
          <a:ln/>
        </p:spPr>
        <p:txBody>
          <a:bodyPr wrap="square" lIns="0" tIns="0" rIns="0" bIns="0" rtlCol="0" anchor="ctr">
            <a:normAutofit/>
          </a:bodyPr>
          <a:lstStyle/>
          <a:p>
            <a:pPr algn="l" indent="0" marL="0">
              <a:buNone/>
            </a:pPr>
            <a:r>
              <a:rPr lang="en-US" sz="800" b="1" spc="150" kern="0" dirty="0">
                <a:solidFill>
                  <a:srgbClr val="398E82"/>
                </a:solidFill>
                <a:latin typeface="Aptos" pitchFamily="34" charset="0"/>
                <a:ea typeface="Aptos" pitchFamily="34" charset="-122"/>
                <a:cs typeface="Aptos" pitchFamily="34" charset="-120"/>
              </a:rPr>
              <a:t>12 / CLOSE</a:t>
            </a:r>
            <a:endParaRPr lang="en-US" sz="800" dirty="0"/>
          </a:p>
        </p:txBody>
      </p:sp>
      <p:sp>
        <p:nvSpPr>
          <p:cNvPr id="3" name="Text 1"/>
          <p:cNvSpPr/>
          <p:nvPr/>
        </p:nvSpPr>
        <p:spPr>
          <a:xfrm>
            <a:off x="566928" y="621792"/>
            <a:ext cx="10972800" cy="438912"/>
          </a:xfrm>
          <a:prstGeom prst="rect">
            <a:avLst/>
          </a:prstGeom>
          <a:noFill/>
          <a:ln/>
        </p:spPr>
        <p:txBody>
          <a:bodyPr wrap="square" lIns="0" tIns="0" rIns="0" bIns="0" rtlCol="0" anchor="ctr">
            <a:normAutofit/>
          </a:bodyPr>
          <a:lstStyle/>
          <a:p>
            <a:pPr algn="l" indent="0" marL="0">
              <a:buNone/>
            </a:pPr>
            <a:r>
              <a:rPr lang="en-US" sz="2700" b="1" dirty="0">
                <a:solidFill>
                  <a:srgbClr val="142F49"/>
                </a:solidFill>
                <a:latin typeface="Georgia" pitchFamily="34" charset="0"/>
                <a:ea typeface="Georgia" pitchFamily="34" charset="-122"/>
                <a:cs typeface="Georgia" pitchFamily="34" charset="-120"/>
              </a:rPr>
              <a:t>A learning project with a clear next step</a:t>
            </a:r>
            <a:endParaRPr lang="en-US" sz="2700" dirty="0"/>
          </a:p>
        </p:txBody>
      </p:sp>
      <p:sp>
        <p:nvSpPr>
          <p:cNvPr id="4" name="Text 2"/>
          <p:cNvSpPr/>
          <p:nvPr/>
        </p:nvSpPr>
        <p:spPr>
          <a:xfrm>
            <a:off x="585216" y="1124712"/>
            <a:ext cx="10789920" cy="274320"/>
          </a:xfrm>
          <a:prstGeom prst="rect">
            <a:avLst/>
          </a:prstGeom>
          <a:noFill/>
          <a:ln/>
        </p:spPr>
        <p:txBody>
          <a:bodyPr wrap="square" lIns="0" tIns="0" rIns="0" bIns="0" rtlCol="0" anchor="ctr">
            <a:normAutofit/>
          </a:bodyPr>
          <a:lstStyle/>
          <a:p>
            <a:pPr algn="l" indent="0" marL="0">
              <a:buNone/>
            </a:pPr>
            <a:r>
              <a:rPr lang="en-US" sz="1100" dirty="0">
                <a:solidFill>
                  <a:srgbClr val="71838D"/>
                </a:solidFill>
                <a:latin typeface="Aptos" pitchFamily="34" charset="0"/>
                <a:ea typeface="Aptos" pitchFamily="34" charset="-122"/>
                <a:cs typeface="Aptos" pitchFamily="34" charset="-120"/>
              </a:rPr>
              <a:t>The result demonstrates a complete workflow; future work should strengthen evaluation and presentation evidence.</a:t>
            </a:r>
            <a:endParaRPr lang="en-US" sz="1100" dirty="0"/>
          </a:p>
        </p:txBody>
      </p:sp>
      <p:sp>
        <p:nvSpPr>
          <p:cNvPr id="5" name="Shape 3"/>
          <p:cNvSpPr/>
          <p:nvPr/>
        </p:nvSpPr>
        <p:spPr>
          <a:xfrm>
            <a:off x="731520" y="1737360"/>
            <a:ext cx="5166360" cy="2240280"/>
          </a:xfrm>
          <a:prstGeom prst="roundRect">
            <a:avLst>
              <a:gd name="adj" fmla="val 3265"/>
            </a:avLst>
          </a:prstGeom>
          <a:solidFill>
            <a:srgbClr val="142F49"/>
          </a:solidFill>
          <a:ln w="12700">
            <a:solidFill>
              <a:srgbClr val="142F49">
                <a:alpha val="0"/>
              </a:srgbClr>
            </a:solidFill>
            <a:prstDash val="solid"/>
          </a:ln>
        </p:spPr>
      </p:sp>
      <p:sp>
        <p:nvSpPr>
          <p:cNvPr id="6" name="Text 4"/>
          <p:cNvSpPr/>
          <p:nvPr/>
        </p:nvSpPr>
        <p:spPr>
          <a:xfrm>
            <a:off x="1051560" y="2029968"/>
            <a:ext cx="137160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D1A56A"/>
                </a:solidFill>
                <a:latin typeface="Aptos" pitchFamily="34" charset="0"/>
                <a:ea typeface="Aptos" pitchFamily="34" charset="-122"/>
                <a:cs typeface="Aptos" pitchFamily="34" charset="-120"/>
              </a:rPr>
              <a:t>TAKEAWAY</a:t>
            </a:r>
            <a:endParaRPr lang="en-US" sz="800" dirty="0"/>
          </a:p>
        </p:txBody>
      </p:sp>
      <p:sp>
        <p:nvSpPr>
          <p:cNvPr id="7" name="Text 5"/>
          <p:cNvSpPr/>
          <p:nvPr/>
        </p:nvSpPr>
        <p:spPr>
          <a:xfrm>
            <a:off x="1051560" y="2468880"/>
            <a:ext cx="4343400" cy="749808"/>
          </a:xfrm>
          <a:prstGeom prst="rect">
            <a:avLst/>
          </a:prstGeom>
          <a:noFill/>
          <a:ln/>
        </p:spPr>
        <p:txBody>
          <a:bodyPr wrap="square" lIns="0" tIns="0" rIns="0" bIns="0" rtlCol="0" anchor="ctr">
            <a:normAutofit/>
          </a:bodyPr>
          <a:lstStyle/>
          <a:p>
            <a:pPr algn="l" indent="0" marL="0">
              <a:buNone/>
            </a:pPr>
            <a:r>
              <a:rPr lang="en-US" sz="2300" b="1" dirty="0">
                <a:solidFill>
                  <a:srgbClr val="FAF8F1"/>
                </a:solidFill>
                <a:latin typeface="Georgia" pitchFamily="34" charset="0"/>
                <a:ea typeface="Georgia" pitchFamily="34" charset="-122"/>
                <a:cs typeface="Georgia" pitchFamily="34" charset="-120"/>
              </a:rPr>
              <a:t>EDA → engineered features → validated model → web prediction.</a:t>
            </a:r>
            <a:endParaRPr lang="en-US" sz="2300" dirty="0"/>
          </a:p>
        </p:txBody>
      </p:sp>
      <p:sp>
        <p:nvSpPr>
          <p:cNvPr id="8" name="Text 6"/>
          <p:cNvSpPr/>
          <p:nvPr/>
        </p:nvSpPr>
        <p:spPr>
          <a:xfrm>
            <a:off x="1051560" y="3447288"/>
            <a:ext cx="4297680" cy="219456"/>
          </a:xfrm>
          <a:prstGeom prst="rect">
            <a:avLst/>
          </a:prstGeom>
          <a:noFill/>
          <a:ln/>
        </p:spPr>
        <p:txBody>
          <a:bodyPr wrap="square" lIns="0" tIns="0" rIns="0" bIns="0" rtlCol="0" anchor="ctr">
            <a:normAutofit/>
          </a:bodyPr>
          <a:lstStyle/>
          <a:p>
            <a:pPr algn="l" indent="0" marL="0">
              <a:buNone/>
            </a:pPr>
            <a:r>
              <a:rPr lang="en-US" sz="1000" dirty="0">
                <a:solidFill>
                  <a:srgbClr val="D5E2DE"/>
                </a:solidFill>
                <a:latin typeface="Aptos" pitchFamily="34" charset="0"/>
                <a:ea typeface="Aptos" pitchFamily="34" charset="-122"/>
                <a:cs typeface="Aptos" pitchFamily="34" charset="-120"/>
              </a:rPr>
              <a:t>An estimate from historical records, not a certainty.</a:t>
            </a:r>
            <a:endParaRPr lang="en-US" sz="1000" dirty="0"/>
          </a:p>
        </p:txBody>
      </p:sp>
      <p:sp>
        <p:nvSpPr>
          <p:cNvPr id="9" name="Shape 7"/>
          <p:cNvSpPr/>
          <p:nvPr/>
        </p:nvSpPr>
        <p:spPr>
          <a:xfrm>
            <a:off x="6263640" y="1737360"/>
            <a:ext cx="4892040" cy="2240280"/>
          </a:xfrm>
          <a:prstGeom prst="roundRect">
            <a:avLst>
              <a:gd name="adj" fmla="val 3265"/>
            </a:avLst>
          </a:prstGeom>
          <a:solidFill>
            <a:srgbClr val="E3F0E9"/>
          </a:solidFill>
          <a:ln w="12700">
            <a:solidFill>
              <a:srgbClr val="E3F0E9">
                <a:alpha val="0"/>
              </a:srgbClr>
            </a:solidFill>
            <a:prstDash val="solid"/>
          </a:ln>
        </p:spPr>
      </p:sp>
      <p:sp>
        <p:nvSpPr>
          <p:cNvPr id="10" name="Text 8"/>
          <p:cNvSpPr/>
          <p:nvPr/>
        </p:nvSpPr>
        <p:spPr>
          <a:xfrm>
            <a:off x="6565392" y="2029968"/>
            <a:ext cx="2560320" cy="182880"/>
          </a:xfrm>
          <a:prstGeom prst="rect">
            <a:avLst/>
          </a:prstGeom>
          <a:noFill/>
          <a:ln/>
        </p:spPr>
        <p:txBody>
          <a:bodyPr wrap="square" lIns="0" tIns="0" rIns="0" bIns="0" rtlCol="0" anchor="ctr">
            <a:normAutofit/>
          </a:bodyPr>
          <a:lstStyle/>
          <a:p>
            <a:pPr algn="l" indent="0" marL="0">
              <a:buNone/>
            </a:pPr>
            <a:r>
              <a:rPr lang="en-US" sz="800" b="1" spc="110" kern="0" dirty="0">
                <a:solidFill>
                  <a:srgbClr val="398E82"/>
                </a:solidFill>
                <a:latin typeface="Aptos" pitchFamily="34" charset="0"/>
                <a:ea typeface="Aptos" pitchFamily="34" charset="-122"/>
                <a:cs typeface="Aptos" pitchFamily="34" charset="-120"/>
              </a:rPr>
              <a:t>NEXT IMPROVEMENTS</a:t>
            </a:r>
            <a:endParaRPr lang="en-US" sz="800" dirty="0"/>
          </a:p>
        </p:txBody>
      </p:sp>
      <p:sp>
        <p:nvSpPr>
          <p:cNvPr id="11" name="Shape 9"/>
          <p:cNvSpPr/>
          <p:nvPr/>
        </p:nvSpPr>
        <p:spPr>
          <a:xfrm>
            <a:off x="6583680" y="2450592"/>
            <a:ext cx="137160" cy="137160"/>
          </a:xfrm>
          <a:prstGeom prst="ellipse">
            <a:avLst/>
          </a:prstGeom>
          <a:solidFill>
            <a:srgbClr val="E77765"/>
          </a:solidFill>
          <a:ln w="8890">
            <a:solidFill>
              <a:srgbClr val="E77765"/>
            </a:solidFill>
            <a:prstDash val="solid"/>
          </a:ln>
        </p:spPr>
      </p:sp>
      <p:sp>
        <p:nvSpPr>
          <p:cNvPr id="12" name="Text 10"/>
          <p:cNvSpPr/>
          <p:nvPr/>
        </p:nvSpPr>
        <p:spPr>
          <a:xfrm>
            <a:off x="6839712" y="2423160"/>
            <a:ext cx="3858768" cy="21031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Capture genuine website screenshots</a:t>
            </a:r>
            <a:endParaRPr lang="en-US" sz="900" dirty="0"/>
          </a:p>
        </p:txBody>
      </p:sp>
      <p:sp>
        <p:nvSpPr>
          <p:cNvPr id="13" name="Shape 11"/>
          <p:cNvSpPr/>
          <p:nvPr/>
        </p:nvSpPr>
        <p:spPr>
          <a:xfrm>
            <a:off x="6583680" y="2779776"/>
            <a:ext cx="137160" cy="137160"/>
          </a:xfrm>
          <a:prstGeom prst="ellipse">
            <a:avLst/>
          </a:prstGeom>
          <a:solidFill>
            <a:srgbClr val="398E82"/>
          </a:solidFill>
          <a:ln w="8890">
            <a:solidFill>
              <a:srgbClr val="398E82"/>
            </a:solidFill>
            <a:prstDash val="solid"/>
          </a:ln>
        </p:spPr>
      </p:sp>
      <p:sp>
        <p:nvSpPr>
          <p:cNvPr id="14" name="Text 12"/>
          <p:cNvSpPr/>
          <p:nvPr/>
        </p:nvSpPr>
        <p:spPr>
          <a:xfrm>
            <a:off x="6839712" y="2752344"/>
            <a:ext cx="3858768" cy="21031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Add repeated / cross-validation analysis</a:t>
            </a:r>
            <a:endParaRPr lang="en-US" sz="900" dirty="0"/>
          </a:p>
        </p:txBody>
      </p:sp>
      <p:sp>
        <p:nvSpPr>
          <p:cNvPr id="15" name="Shape 13"/>
          <p:cNvSpPr/>
          <p:nvPr/>
        </p:nvSpPr>
        <p:spPr>
          <a:xfrm>
            <a:off x="6583680" y="3108960"/>
            <a:ext cx="137160" cy="137160"/>
          </a:xfrm>
          <a:prstGeom prst="ellipse">
            <a:avLst/>
          </a:prstGeom>
          <a:solidFill>
            <a:srgbClr val="398E82"/>
          </a:solidFill>
          <a:ln w="8890">
            <a:solidFill>
              <a:srgbClr val="398E82"/>
            </a:solidFill>
            <a:prstDash val="solid"/>
          </a:ln>
        </p:spPr>
      </p:sp>
      <p:sp>
        <p:nvSpPr>
          <p:cNvPr id="16" name="Text 14"/>
          <p:cNvSpPr/>
          <p:nvPr/>
        </p:nvSpPr>
        <p:spPr>
          <a:xfrm>
            <a:off x="6839712" y="3081528"/>
            <a:ext cx="3858768" cy="21031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Calibrate probabilities and explain uncertainty</a:t>
            </a:r>
            <a:endParaRPr lang="en-US" sz="900" dirty="0"/>
          </a:p>
        </p:txBody>
      </p:sp>
      <p:sp>
        <p:nvSpPr>
          <p:cNvPr id="17" name="Shape 15"/>
          <p:cNvSpPr/>
          <p:nvPr/>
        </p:nvSpPr>
        <p:spPr>
          <a:xfrm>
            <a:off x="6583680" y="3438144"/>
            <a:ext cx="137160" cy="137160"/>
          </a:xfrm>
          <a:prstGeom prst="ellipse">
            <a:avLst/>
          </a:prstGeom>
          <a:solidFill>
            <a:srgbClr val="398E82"/>
          </a:solidFill>
          <a:ln w="8890">
            <a:solidFill>
              <a:srgbClr val="398E82"/>
            </a:solidFill>
            <a:prstDash val="solid"/>
          </a:ln>
        </p:spPr>
      </p:sp>
      <p:sp>
        <p:nvSpPr>
          <p:cNvPr id="18" name="Text 16"/>
          <p:cNvSpPr/>
          <p:nvPr/>
        </p:nvSpPr>
        <p:spPr>
          <a:xfrm>
            <a:off x="6839712" y="3410712"/>
            <a:ext cx="3858768" cy="210312"/>
          </a:xfrm>
          <a:prstGeom prst="rect">
            <a:avLst/>
          </a:prstGeom>
          <a:noFill/>
          <a:ln/>
        </p:spPr>
        <p:txBody>
          <a:bodyPr wrap="square" lIns="0" tIns="0" rIns="0" bIns="0" rtlCol="0" anchor="ctr">
            <a:normAutofit/>
          </a:bodyPr>
          <a:lstStyle/>
          <a:p>
            <a:pPr algn="l" indent="0" marL="0">
              <a:buNone/>
            </a:pPr>
            <a:r>
              <a:rPr lang="en-US" sz="900" dirty="0">
                <a:solidFill>
                  <a:srgbClr val="213B52"/>
                </a:solidFill>
                <a:latin typeface="Aptos" pitchFamily="34" charset="0"/>
                <a:ea typeface="Aptos" pitchFamily="34" charset="-122"/>
                <a:cs typeface="Aptos" pitchFamily="34" charset="-120"/>
              </a:rPr>
              <a:t>Deploy the demo and document dataset provenance</a:t>
            </a:r>
            <a:endParaRPr lang="en-US" sz="900" dirty="0"/>
          </a:p>
        </p:txBody>
      </p:sp>
      <p:sp>
        <p:nvSpPr>
          <p:cNvPr id="19" name="Text 17"/>
          <p:cNvSpPr/>
          <p:nvPr/>
        </p:nvSpPr>
        <p:spPr>
          <a:xfrm>
            <a:off x="777240" y="4407408"/>
            <a:ext cx="1280160" cy="164592"/>
          </a:xfrm>
          <a:prstGeom prst="rect">
            <a:avLst/>
          </a:prstGeom>
          <a:noFill/>
          <a:ln/>
        </p:spPr>
        <p:txBody>
          <a:bodyPr wrap="square" lIns="0" tIns="0" rIns="0" bIns="0" rtlCol="0" anchor="ctr">
            <a:normAutofit/>
          </a:bodyPr>
          <a:lstStyle/>
          <a:p>
            <a:pPr algn="l" indent="0" marL="0">
              <a:buNone/>
            </a:pPr>
            <a:r>
              <a:rPr lang="en-US" sz="800" b="1" spc="120" kern="0" dirty="0">
                <a:solidFill>
                  <a:srgbClr val="398E82"/>
                </a:solidFill>
                <a:latin typeface="Aptos" pitchFamily="34" charset="0"/>
                <a:ea typeface="Aptos" pitchFamily="34" charset="-122"/>
                <a:cs typeface="Aptos" pitchFamily="34" charset="-120"/>
              </a:rPr>
              <a:t>REFERENCES</a:t>
            </a:r>
            <a:endParaRPr lang="en-US" sz="800" dirty="0"/>
          </a:p>
        </p:txBody>
      </p:sp>
      <p:sp>
        <p:nvSpPr>
          <p:cNvPr id="20" name="Text 18"/>
          <p:cNvSpPr/>
          <p:nvPr/>
        </p:nvSpPr>
        <p:spPr>
          <a:xfrm>
            <a:off x="777240" y="4709160"/>
            <a:ext cx="5166360" cy="402336"/>
          </a:xfrm>
          <a:prstGeom prst="rect">
            <a:avLst/>
          </a:prstGeom>
          <a:noFill/>
          <a:ln/>
        </p:spPr>
        <p:txBody>
          <a:bodyPr wrap="square" lIns="0" tIns="0" rIns="0" bIns="0" rtlCol="0" anchor="ctr">
            <a:normAutofit/>
          </a:bodyPr>
          <a:lstStyle/>
          <a:p>
            <a:pPr algn="l" indent="0" marL="0">
              <a:buNone/>
            </a:pPr>
            <a:r>
              <a:rPr lang="en-US" sz="900" dirty="0">
                <a:solidFill>
                  <a:srgbClr val="71838D"/>
                </a:solidFill>
                <a:latin typeface="Aptos" pitchFamily="34" charset="0"/>
                <a:ea typeface="Aptos" pitchFamily="34" charset="-122"/>
                <a:cs typeface="Aptos" pitchFamily="34" charset="-120"/>
              </a:rPr>
              <a:t>Project sources: Titanic.csv, Titanic_Survival_Analysis.ipynb, app.py. Dataset provenance should be confirmed before submission.</a:t>
            </a:r>
            <a:endParaRPr lang="en-US" sz="900" dirty="0"/>
          </a:p>
        </p:txBody>
      </p:sp>
      <p:sp>
        <p:nvSpPr>
          <p:cNvPr id="21" name="Text 19"/>
          <p:cNvSpPr/>
          <p:nvPr/>
        </p:nvSpPr>
        <p:spPr>
          <a:xfrm>
            <a:off x="6263640" y="4700016"/>
            <a:ext cx="2743200" cy="164592"/>
          </a:xfrm>
          <a:prstGeom prst="rect">
            <a:avLst/>
          </a:prstGeom>
          <a:noFill/>
          <a:ln/>
        </p:spPr>
        <p:txBody>
          <a:bodyPr wrap="square" lIns="0" tIns="0" rIns="0" bIns="0" rtlCol="0" anchor="ctr">
            <a:normAutofit/>
          </a:bodyPr>
          <a:lstStyle/>
          <a:p>
            <a:pPr algn="l" indent="0" marL="0">
              <a:buNone/>
            </a:pPr>
            <a:r>
              <a:rPr lang="en-US" sz="900" b="1" dirty="0">
                <a:solidFill>
                  <a:srgbClr val="213B52"/>
                </a:solidFill>
                <a:latin typeface="Aptos" pitchFamily="34" charset="0"/>
                <a:ea typeface="Aptos" pitchFamily="34" charset="-122"/>
                <a:cs typeface="Aptos" pitchFamily="34" charset="-120"/>
              </a:rPr>
              <a:t>scikit-learn User Guide — Model persistence</a:t>
            </a:r>
            <a:endParaRPr lang="en-US" sz="900" dirty="0"/>
          </a:p>
        </p:txBody>
      </p:sp>
      <p:sp>
        <p:nvSpPr>
          <p:cNvPr id="22" name="Text 20">
            <a:hlinkClick r:id="rId1" tooltip=""/>
          </p:cNvPr>
          <p:cNvSpPr/>
          <p:nvPr/>
        </p:nvSpPr>
        <p:spPr>
          <a:xfrm>
            <a:off x="6263640" y="4937760"/>
            <a:ext cx="4389120" cy="155448"/>
          </a:xfrm>
          <a:prstGeom prst="rect">
            <a:avLst/>
          </a:prstGeom>
          <a:noFill/>
          <a:ln/>
        </p:spPr>
        <p:txBody>
          <a:bodyPr wrap="square" lIns="0" tIns="0" rIns="0" bIns="0" rtlCol="0" anchor="ctr"/>
          <a:lstStyle/>
          <a:p>
            <a:pPr indent="0" marL="0">
              <a:buNone/>
            </a:pPr>
            <a:r>
              <a:rPr lang="en-US" sz="800" u="sng" dirty="0">
                <a:solidFill>
                  <a:srgbClr val="398E82"/>
                </a:solidFill>
                <a:latin typeface="Aptos" pitchFamily="34" charset="0"/>
                <a:ea typeface="Aptos" pitchFamily="34" charset="-122"/>
                <a:cs typeface="Apto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https://scikit-learn.org/stable/model_persistence.html</a:t>
            </a:r>
            <a:endParaRPr lang="en-US" sz="800" dirty="0"/>
          </a:p>
        </p:txBody>
      </p:sp>
      <p:sp>
        <p:nvSpPr>
          <p:cNvPr id="23" name="Text 21"/>
          <p:cNvSpPr/>
          <p:nvPr/>
        </p:nvSpPr>
        <p:spPr>
          <a:xfrm>
            <a:off x="795528" y="5705856"/>
            <a:ext cx="5303520" cy="182880"/>
          </a:xfrm>
          <a:prstGeom prst="rect">
            <a:avLst/>
          </a:prstGeom>
          <a:noFill/>
          <a:ln/>
        </p:spPr>
        <p:txBody>
          <a:bodyPr wrap="square" lIns="0" tIns="0" rIns="0" bIns="0" rtlCol="0" anchor="ctr">
            <a:normAutofit/>
          </a:bodyPr>
          <a:lstStyle/>
          <a:p>
            <a:pPr algn="l" indent="0" marL="0">
              <a:buNone/>
            </a:pPr>
            <a:r>
              <a:rPr lang="en-US" sz="900" b="1" dirty="0">
                <a:solidFill>
                  <a:srgbClr val="E77765"/>
                </a:solidFill>
                <a:latin typeface="Aptos" pitchFamily="34" charset="0"/>
                <a:ea typeface="Aptos" pitchFamily="34" charset="-122"/>
                <a:cs typeface="Aptos" pitchFamily="34" charset="-120"/>
              </a:rPr>
              <a:t>Student / mentor / section placeholders need completion before presenting.</a:t>
            </a:r>
            <a:endParaRPr lang="en-US" sz="900" dirty="0"/>
          </a:p>
        </p:txBody>
      </p:sp>
      <p:sp>
        <p:nvSpPr>
          <p:cNvPr id="25" name="Text 22">
            <a:hlinkClick r:id="rId2" tooltip="" action="ppaction://hlinksldjump"/>
          </p:cNvPr>
          <p:cNvSpPr/>
          <p:nvPr/>
        </p:nvSpPr>
        <p:spPr>
          <a:xfrm>
            <a:off x="603504"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2" action="ppaction://hlinksldjump" tooltip="">
                  <a:extLst>
                    <a:ext uri="{A12FA001-AC4F-418D-AE19-62706E023703}">
                      <ahyp:hlinkClr xmlns:ahyp="http://schemas.microsoft.com/office/drawing/2018/hyperlinkcolor" val="tx"/>
                    </a:ext>
                  </a:extLst>
                </a:hlinkClick>
              </a:rPr>
              <a:t>Overview</a:t>
            </a:r>
            <a:endParaRPr lang="en-US" sz="700" dirty="0"/>
          </a:p>
        </p:txBody>
      </p:sp>
      <p:sp>
        <p:nvSpPr>
          <p:cNvPr id="26" name="Text 23">
            <a:hlinkClick r:id="rId3" tooltip="" action="ppaction://hlinksldjump"/>
          </p:cNvPr>
          <p:cNvSpPr/>
          <p:nvPr/>
        </p:nvSpPr>
        <p:spPr>
          <a:xfrm>
            <a:off x="1773936"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3" action="ppaction://hlinksldjump" tooltip="">
                  <a:extLst>
                    <a:ext uri="{A12FA001-AC4F-418D-AE19-62706E023703}">
                      <ahyp:hlinkClr xmlns:ahyp="http://schemas.microsoft.com/office/drawing/2018/hyperlinkcolor" val="tx"/>
                    </a:ext>
                  </a:extLst>
                </a:hlinkClick>
              </a:rPr>
              <a:t>Data &amp; EDA</a:t>
            </a:r>
            <a:endParaRPr lang="en-US" sz="700" dirty="0"/>
          </a:p>
        </p:txBody>
      </p:sp>
      <p:sp>
        <p:nvSpPr>
          <p:cNvPr id="27" name="Text 24">
            <a:hlinkClick r:id="rId4" tooltip="" action="ppaction://hlinksldjump"/>
          </p:cNvPr>
          <p:cNvSpPr/>
          <p:nvPr/>
        </p:nvSpPr>
        <p:spPr>
          <a:xfrm>
            <a:off x="2944368"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4" action="ppaction://hlinksldjump" tooltip="">
                  <a:extLst>
                    <a:ext uri="{A12FA001-AC4F-418D-AE19-62706E023703}">
                      <ahyp:hlinkClr xmlns:ahyp="http://schemas.microsoft.com/office/drawing/2018/hyperlinkcolor" val="tx"/>
                    </a:ext>
                  </a:extLst>
                </a:hlinkClick>
              </a:rPr>
              <a:t>ML workflow</a:t>
            </a:r>
            <a:endParaRPr lang="en-US" sz="700" dirty="0"/>
          </a:p>
        </p:txBody>
      </p:sp>
      <p:sp>
        <p:nvSpPr>
          <p:cNvPr id="28" name="Text 25">
            <a:hlinkClick r:id="rId5" tooltip="" action="ppaction://hlinksldjump"/>
          </p:cNvPr>
          <p:cNvSpPr/>
          <p:nvPr/>
        </p:nvSpPr>
        <p:spPr>
          <a:xfrm>
            <a:off x="4114800"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5" action="ppaction://hlinksldjump" tooltip="">
                  <a:extLst>
                    <a:ext uri="{A12FA001-AC4F-418D-AE19-62706E023703}">
                      <ahyp:hlinkClr xmlns:ahyp="http://schemas.microsoft.com/office/drawing/2018/hyperlinkcolor" val="tx"/>
                    </a:ext>
                  </a:extLst>
                </a:hlinkClick>
              </a:rPr>
              <a:t>Architecture</a:t>
            </a:r>
            <a:endParaRPr lang="en-US" sz="700" dirty="0"/>
          </a:p>
        </p:txBody>
      </p:sp>
      <p:sp>
        <p:nvSpPr>
          <p:cNvPr id="29" name="Text 26">
            <a:hlinkClick r:id="rId6" tooltip="" action="ppaction://hlinksldjump"/>
          </p:cNvPr>
          <p:cNvSpPr/>
          <p:nvPr/>
        </p:nvSpPr>
        <p:spPr>
          <a:xfrm>
            <a:off x="5285232" y="6547104"/>
            <a:ext cx="1024128" cy="164592"/>
          </a:xfrm>
          <a:prstGeom prst="rect">
            <a:avLst/>
          </a:prstGeom>
          <a:noFill/>
          <a:ln/>
        </p:spPr>
        <p:txBody>
          <a:bodyPr wrap="square" lIns="0" tIns="0" rIns="0" bIns="0" rtlCol="0" anchor="ctr"/>
          <a:lstStyle/>
          <a:p>
            <a:pPr indent="0" marL="0">
              <a:buNone/>
            </a:pPr>
            <a:r>
              <a:rPr lang="en-US" sz="700" b="1" u="sng" dirty="0">
                <a:solidFill>
                  <a:srgbClr val="398E82"/>
                </a:solidFill>
                <a:latin typeface="Aptos" pitchFamily="34" charset="0"/>
                <a:ea typeface="Aptos" pitchFamily="34" charset="-122"/>
                <a:cs typeface="Aptos" pitchFamily="34" charset="-120"/>
                <a:hlinkClick r:id="rId6" action="ppaction://hlinksldjump" tooltip="">
                  <a:extLst>
                    <a:ext uri="{A12FA001-AC4F-418D-AE19-62706E023703}">
                      <ahyp:hlinkClr xmlns:ahyp="http://schemas.microsoft.com/office/drawing/2018/hyperlinkcolor" val="tx"/>
                    </a:ext>
                  </a:extLst>
                </a:hlinkClick>
              </a:rPr>
              <a:t>Website</a:t>
            </a:r>
            <a:endParaRPr lang="en-US" sz="700" dirty="0"/>
          </a:p>
        </p:txBody>
      </p:sp>
      <p:sp>
        <p:nvSpPr>
          <p:cNvPr id="25" name="Slide Number Placeholder 0"/>
          <p:cNvSpPr>
            <a:spLocks noGrp="1"/>
          </p:cNvSpPr>
          <p:nvPr>
            <p:ph type="sldNum" sz="quarter" idx="4294967295"/>
          </p:nvPr>
        </p:nvSpPr>
        <p:spPr>
          <a:xfrm>
            <a:off x="11384280" y="6537960"/>
            <a:ext cx="800000" cy="300000"/>
          </a:xfrm>
          <a:prstGeom prst="rect">
            <a:avLst/>
          </a:prstGeom>
          <a:extLst>
            <a:ext uri="{C572A759-6A51-4108-AA02-DFA0A04FC94B}">
              <ma14:wrappingTextBoxFlag xmlns:ma14="http://schemas.microsoft.com/office/mac/drawingml/2011/main" val="0"/>
            </a:ext>
          </a:extLst>
        </p:spPr>
        <p:txBody>
          <a:bodyPr/>
          <a:lstStyle>
            <a:lvl1pPr>
              <a:defRPr sz="800">
                <a:solidFill>
                  <a:srgbClr val="213B52"/>
                </a:solidFill>
                <a:latin typeface="Aptos"/>
                <a:ea typeface="Aptos"/>
                <a:cs typeface="Aptos"/>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Invertis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Titanic Survival Prediction | Invertis University</dc:title>
  <dc:subject>Titanic Survival Prediction</dc:subject>
  <dc:creator>Invertis University - Machine Learning Project</dc:creator>
  <cp:lastModifiedBy>Invertis University - Machine Learning Project</cp:lastModifiedBy>
  <cp:revision>1</cp:revision>
  <dcterms:created xsi:type="dcterms:W3CDTF">2026-10-30T14:20:34Z</dcterms:created>
  <dcterms:modified xsi:type="dcterms:W3CDTF">2026-10-30T14:20:34Z</dcterms:modified>
</cp:coreProperties>
</file>