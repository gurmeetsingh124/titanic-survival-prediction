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 college machine learning project. The ship image is generated artwork, not a historical photograph. Fill in the student, mentor, section, and date details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goal in everyday words: the computer learns patterns from examples where the outcome is already known. It then estimates an outcome for a set of passenger details. It cannot know what would have happened to a real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included Titanic.csv has 891 records: 342 survived and 549 did not. The target column is Survived. Useful inputs include ticket class, sex, age, family size, fare, and port. Age is missing for 177 people. The model pipeline fills in missing values during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dataset, 74.2% of women and 18.9% of men survived. By ticket class, the rates were about 63% in first class, 47% in second, and 24% in third. Explain that these are descriptive comparisons; they do not prove why outcomes differed.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simply. We prepare the fields, train candidate models on part of the data, check predictions on a held-out set, and save a complete pipeline for the website. A family-size field is calculated from the family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179 held-out records, the chosen Random Forest correctly classified 143, giving 79.9% accuracy. It identified 43 of 69 survivors and missed 26. The majority-class baseline reached 61.5% accuracy. These results describe this split and do not guarantee future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three website pages. Predict accepts passenger details. Explore Data shows dataset patterns. About explains the project. The clickable demo link opens localhost, so the FastAPI app must be running on the presenter’s computer at port 8000.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end-to-end project. The model offers an estimate based on historical records, not certainty. Remind the presenter to fill in names, run the web app, and confirm/cite the original dataset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AF8F1"/>
        </a:solidFill>
      </p:bgPr>
    </p:bg>
    <p:spTree>
      <p:nvGrpSpPr>
        <p:cNvPr id="1" name=""/>
        <p:cNvGrpSpPr/>
        <p:nvPr/>
      </p:nvGrpSpPr>
      <p:grpSpPr>
        <a:xfrm>
          <a:off x="0" y="0"/>
          <a:ext cx="0" cy="0"/>
          <a:chOff x="0" y="0"/>
          <a:chExt cx="0" cy="0"/>
        </a:xfrm>
      </p:grpSpPr>
      <p:sp>
        <p:nvSpPr>
          <p:cNvPr id="2" name="Shape 0"/>
          <p:cNvSpPr/>
          <p:nvPr/>
        </p:nvSpPr>
        <p:spPr>
          <a:xfrm>
            <a:off x="457200" y="6510528"/>
            <a:ext cx="11247120" cy="0"/>
          </a:xfrm>
          <a:prstGeom prst="line">
            <a:avLst/>
          </a:prstGeom>
          <a:noFill/>
          <a:ln w="8890">
            <a:solidFill>
              <a:srgbClr val="D8E0DC"/>
            </a:solidFill>
            <a:prstDash val="solid"/>
          </a:ln>
        </p:spPr>
      </p:sp>
      <p:sp>
        <p:nvSpPr>
          <p:cNvPr id="3" name="Text 1"/>
          <p:cNvSpPr/>
          <p:nvPr/>
        </p:nvSpPr>
        <p:spPr>
          <a:xfrm>
            <a:off x="502920" y="6565392"/>
            <a:ext cx="5577840" cy="146304"/>
          </a:xfrm>
          <a:prstGeom prst="rect">
            <a:avLst/>
          </a:prstGeom>
          <a:noFill/>
          <a:ln/>
        </p:spPr>
        <p:txBody>
          <a:bodyPr wrap="square" lIns="0" tIns="0" rIns="0" bIns="0" rtlCol="0" anchor="ctr"/>
          <a:lstStyle/>
          <a:p>
            <a:pPr indent="0" marL="0">
              <a:buNone/>
            </a:pPr>
            <a:r>
              <a:rPr lang="en-US" sz="700" spc="130" kern="0" dirty="0">
                <a:solidFill>
                  <a:srgbClr val="71838D"/>
                </a:solidFill>
                <a:latin typeface="Aptos" pitchFamily="34" charset="0"/>
                <a:ea typeface="Aptos" pitchFamily="34" charset="-122"/>
                <a:cs typeface="Aptos" pitchFamily="34" charset="-120"/>
              </a:rPr>
              <a:t>TITANIC SURVIVAL PREDICTION  /  INVERTIS UNIVERSITY</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11" Type="http://schemas.openxmlformats.org/officeDocument/2006/relationships/hyperlink" Target="http://127.0.0.1:8000/predict" TargetMode="External"/><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F49"/>
        </a:solidFill>
      </p:bgPr>
    </p:bg>
    <p:spTree>
      <p:nvGrpSpPr>
        <p:cNvPr id="1" name=""/>
        <p:cNvGrpSpPr/>
        <p:nvPr/>
      </p:nvGrpSpPr>
      <p:grpSpPr>
        <a:xfrm>
          <a:off x="0" y="0"/>
          <a:ext cx="0" cy="0"/>
          <a:chOff x="0" y="0"/>
          <a:chExt cx="0" cy="0"/>
        </a:xfrm>
      </p:grpSpPr>
      <p:pic>
        <p:nvPicPr>
          <p:cNvPr id="2" name="Image 0" descr="C:\Users\acer\Desktop\Titanic Survival Prediction\static\images\titanic-dawn.png">    </p:cNvPr>
          <p:cNvPicPr>
            <a:picLocks noChangeAspect="1"/>
          </p:cNvPicPr>
          <p:nvPr/>
        </p:nvPicPr>
        <p:blipFill>
          <a:blip r:embed="rId1"/>
          <a:stretch>
            <a:fillRect/>
          </a:stretch>
        </p:blipFill>
        <p:spPr>
          <a:xfrm>
            <a:off x="5532120" y="0"/>
            <a:ext cx="6656832" cy="6858000"/>
          </a:xfrm>
          <a:prstGeom prst="rect">
            <a:avLst/>
          </a:prstGeom>
        </p:spPr>
      </p:pic>
      <p:sp>
        <p:nvSpPr>
          <p:cNvPr id="3" name="Shape 0"/>
          <p:cNvSpPr/>
          <p:nvPr/>
        </p:nvSpPr>
        <p:spPr>
          <a:xfrm>
            <a:off x="0" y="0"/>
            <a:ext cx="5989320" cy="6858000"/>
          </a:xfrm>
          <a:prstGeom prst="rect">
            <a:avLst>
              <a:gd name="adj" fmla="val 1374"/>
            </a:avLst>
          </a:prstGeom>
          <a:solidFill>
            <a:srgbClr val="142F49"/>
          </a:solidFill>
          <a:ln w="12700">
            <a:solidFill>
              <a:srgbClr val="142F49">
                <a:alpha val="0"/>
              </a:srgbClr>
            </a:solidFill>
            <a:prstDash val="solid"/>
          </a:ln>
        </p:spPr>
      </p:sp>
      <p:sp>
        <p:nvSpPr>
          <p:cNvPr id="4" name="Shape 1"/>
          <p:cNvSpPr/>
          <p:nvPr/>
        </p:nvSpPr>
        <p:spPr>
          <a:xfrm>
            <a:off x="5349240" y="0"/>
            <a:ext cx="960120" cy="6858000"/>
          </a:xfrm>
          <a:prstGeom prst="rect">
            <a:avLst>
              <a:gd name="adj" fmla="val 8571"/>
            </a:avLst>
          </a:prstGeom>
          <a:solidFill>
            <a:srgbClr val="142F49"/>
          </a:solidFill>
          <a:ln w="12700">
            <a:solidFill>
              <a:srgbClr val="142F49">
                <a:alpha val="0"/>
              </a:srgbClr>
            </a:solidFill>
            <a:prstDash val="solid"/>
          </a:ln>
        </p:spPr>
      </p:sp>
      <p:sp>
        <p:nvSpPr>
          <p:cNvPr id="5" name="Text 2"/>
          <p:cNvSpPr/>
          <p:nvPr/>
        </p:nvSpPr>
        <p:spPr>
          <a:xfrm>
            <a:off x="713232" y="585216"/>
            <a:ext cx="4389120" cy="219456"/>
          </a:xfrm>
          <a:prstGeom prst="rect">
            <a:avLst/>
          </a:prstGeom>
          <a:noFill/>
          <a:ln/>
        </p:spPr>
        <p:txBody>
          <a:bodyPr wrap="square" lIns="0" tIns="0" rIns="0" bIns="0" rtlCol="0" anchor="ctr">
            <a:normAutofit/>
          </a:bodyPr>
          <a:lstStyle/>
          <a:p>
            <a:pPr algn="l" indent="0" marL="0">
              <a:buNone/>
            </a:pPr>
            <a:r>
              <a:rPr lang="en-US" sz="1000" b="1" dirty="0">
                <a:solidFill>
                  <a:srgbClr val="D1A56A"/>
                </a:solidFill>
                <a:latin typeface="Aptos" pitchFamily="34" charset="0"/>
                <a:ea typeface="Aptos" pitchFamily="34" charset="-122"/>
                <a:cs typeface="Aptos" pitchFamily="34" charset="-120"/>
              </a:rPr>
              <a:t>INVERTIS UNIVERSITY</a:t>
            </a:r>
            <a:endParaRPr lang="en-US" sz="1000" dirty="0"/>
          </a:p>
        </p:txBody>
      </p:sp>
      <p:sp>
        <p:nvSpPr>
          <p:cNvPr id="6" name="Text 3"/>
          <p:cNvSpPr/>
          <p:nvPr/>
        </p:nvSpPr>
        <p:spPr>
          <a:xfrm>
            <a:off x="713232" y="1572768"/>
            <a:ext cx="4754880" cy="640080"/>
          </a:xfrm>
          <a:prstGeom prst="rect">
            <a:avLst/>
          </a:prstGeom>
          <a:noFill/>
          <a:ln/>
        </p:spPr>
        <p:txBody>
          <a:bodyPr wrap="square" lIns="0" tIns="0" rIns="0" bIns="0" rtlCol="0" anchor="ctr">
            <a:normAutofit/>
          </a:bodyPr>
          <a:lstStyle/>
          <a:p>
            <a:pPr algn="l" indent="0" marL="0">
              <a:buNone/>
            </a:pPr>
            <a:r>
              <a:rPr lang="en-US" sz="3800" b="1" dirty="0">
                <a:solidFill>
                  <a:srgbClr val="FAF8F1"/>
                </a:solidFill>
                <a:latin typeface="Georgia" pitchFamily="34" charset="0"/>
                <a:ea typeface="Georgia" pitchFamily="34" charset="-122"/>
                <a:cs typeface="Georgia" pitchFamily="34" charset="-120"/>
              </a:rPr>
              <a:t>TITANIC</a:t>
            </a:r>
            <a:endParaRPr lang="en-US" sz="3800" dirty="0"/>
          </a:p>
        </p:txBody>
      </p:sp>
      <p:sp>
        <p:nvSpPr>
          <p:cNvPr id="7" name="Text 4"/>
          <p:cNvSpPr/>
          <p:nvPr/>
        </p:nvSpPr>
        <p:spPr>
          <a:xfrm>
            <a:off x="713232" y="2267712"/>
            <a:ext cx="4754880" cy="914400"/>
          </a:xfrm>
          <a:prstGeom prst="rect">
            <a:avLst/>
          </a:prstGeom>
          <a:noFill/>
          <a:ln/>
        </p:spPr>
        <p:txBody>
          <a:bodyPr wrap="square" lIns="0" tIns="0" rIns="0" bIns="0" rtlCol="0" anchor="ctr">
            <a:normAutofit/>
          </a:bodyPr>
          <a:lstStyle/>
          <a:p>
            <a:pPr algn="l" indent="0" marL="0">
              <a:buNone/>
            </a:pPr>
            <a:r>
              <a:rPr lang="en-US" sz="3100" b="1" dirty="0">
                <a:solidFill>
                  <a:srgbClr val="E77765"/>
                </a:solidFill>
                <a:latin typeface="Georgia" pitchFamily="34" charset="0"/>
                <a:ea typeface="Georgia" pitchFamily="34" charset="-122"/>
                <a:cs typeface="Georgia" pitchFamily="34" charset="-120"/>
              </a:rPr>
              <a:t>SURVIVAL PREDICTION</a:t>
            </a:r>
            <a:endParaRPr lang="en-US" sz="3100" dirty="0"/>
          </a:p>
        </p:txBody>
      </p:sp>
      <p:sp>
        <p:nvSpPr>
          <p:cNvPr id="8" name="Text 5"/>
          <p:cNvSpPr/>
          <p:nvPr/>
        </p:nvSpPr>
        <p:spPr>
          <a:xfrm>
            <a:off x="749808" y="3456432"/>
            <a:ext cx="4297680" cy="566928"/>
          </a:xfrm>
          <a:prstGeom prst="rect">
            <a:avLst/>
          </a:prstGeom>
          <a:noFill/>
          <a:ln/>
        </p:spPr>
        <p:txBody>
          <a:bodyPr wrap="square" lIns="0" tIns="0" rIns="0" bIns="0" rtlCol="0" anchor="ctr">
            <a:normAutofit/>
          </a:bodyPr>
          <a:lstStyle/>
          <a:p>
            <a:pPr algn="l" indent="0" marL="0">
              <a:buNone/>
            </a:pPr>
            <a:r>
              <a:rPr lang="en-US" sz="1600" dirty="0">
                <a:solidFill>
                  <a:srgbClr val="FAF8F1"/>
                </a:solidFill>
                <a:latin typeface="Georgia" pitchFamily="34" charset="0"/>
                <a:ea typeface="Georgia" pitchFamily="34" charset="-122"/>
                <a:cs typeface="Georgia" pitchFamily="34" charset="-120"/>
              </a:rPr>
              <a:t>A simple machine learning project using passenger records</a:t>
            </a:r>
            <a:endParaRPr lang="en-US" sz="1600" dirty="0"/>
          </a:p>
        </p:txBody>
      </p:sp>
      <p:sp>
        <p:nvSpPr>
          <p:cNvPr id="9" name="Shape 6"/>
          <p:cNvSpPr/>
          <p:nvPr/>
        </p:nvSpPr>
        <p:spPr>
          <a:xfrm>
            <a:off x="749808" y="4389120"/>
            <a:ext cx="3108960" cy="384048"/>
          </a:xfrm>
          <a:prstGeom prst="roundRect">
            <a:avLst>
              <a:gd name="adj" fmla="val 21429"/>
            </a:avLst>
          </a:prstGeom>
          <a:solidFill>
            <a:srgbClr val="1E4661"/>
          </a:solidFill>
          <a:ln w="12700">
            <a:solidFill>
              <a:srgbClr val="1E4661">
                <a:alpha val="0"/>
              </a:srgbClr>
            </a:solidFill>
            <a:prstDash val="solid"/>
          </a:ln>
        </p:spPr>
      </p:sp>
      <p:sp>
        <p:nvSpPr>
          <p:cNvPr id="10" name="Text 7"/>
          <p:cNvSpPr/>
          <p:nvPr/>
        </p:nvSpPr>
        <p:spPr>
          <a:xfrm>
            <a:off x="914400" y="4489704"/>
            <a:ext cx="2788920" cy="164592"/>
          </a:xfrm>
          <a:prstGeom prst="rect">
            <a:avLst/>
          </a:prstGeom>
          <a:noFill/>
          <a:ln/>
        </p:spPr>
        <p:txBody>
          <a:bodyPr wrap="square" lIns="0" tIns="0" rIns="0" bIns="0" rtlCol="0" anchor="ctr">
            <a:normAutofit/>
          </a:bodyPr>
          <a:lstStyle/>
          <a:p>
            <a:pPr algn="l" indent="0" marL="0">
              <a:buNone/>
            </a:pPr>
            <a:r>
              <a:rPr lang="en-US" sz="800" b="1" dirty="0">
                <a:solidFill>
                  <a:srgbClr val="FAF8F1"/>
                </a:solidFill>
                <a:latin typeface="Aptos" pitchFamily="34" charset="0"/>
                <a:ea typeface="Aptos" pitchFamily="34" charset="-122"/>
                <a:cs typeface="Aptos" pitchFamily="34" charset="-120"/>
              </a:rPr>
              <a:t>COLLEGE PROJECT  •  B.TECH CSE</a:t>
            </a:r>
            <a:endParaRPr lang="en-US" sz="800" dirty="0"/>
          </a:p>
        </p:txBody>
      </p:sp>
      <p:sp>
        <p:nvSpPr>
          <p:cNvPr id="11" name="Text 8"/>
          <p:cNvSpPr/>
          <p:nvPr/>
        </p:nvSpPr>
        <p:spPr>
          <a:xfrm>
            <a:off x="749808" y="5669280"/>
            <a:ext cx="2468880" cy="182880"/>
          </a:xfrm>
          <a:prstGeom prst="rect">
            <a:avLst/>
          </a:prstGeom>
          <a:noFill/>
          <a:ln/>
        </p:spPr>
        <p:txBody>
          <a:bodyPr wrap="square" lIns="0" tIns="0" rIns="0" bIns="0" rtlCol="0" anchor="ctr">
            <a:normAutofit/>
          </a:bodyPr>
          <a:lstStyle/>
          <a:p>
            <a:pPr algn="l" indent="0" marL="0">
              <a:buNone/>
            </a:pPr>
            <a:r>
              <a:rPr lang="en-US" sz="900" dirty="0">
                <a:solidFill>
                  <a:srgbClr val="D0DEDC"/>
                </a:solidFill>
                <a:latin typeface="Aptos" pitchFamily="34" charset="0"/>
                <a:ea typeface="Aptos" pitchFamily="34" charset="-122"/>
                <a:cs typeface="Aptos" pitchFamily="34" charset="-120"/>
              </a:rPr>
              <a:t>Student: [Name / ID]</a:t>
            </a:r>
            <a:endParaRPr lang="en-US" sz="900" dirty="0"/>
          </a:p>
        </p:txBody>
      </p:sp>
      <p:sp>
        <p:nvSpPr>
          <p:cNvPr id="12" name="Text 9"/>
          <p:cNvSpPr/>
          <p:nvPr/>
        </p:nvSpPr>
        <p:spPr>
          <a:xfrm>
            <a:off x="3154680" y="5669280"/>
            <a:ext cx="2103120" cy="182880"/>
          </a:xfrm>
          <a:prstGeom prst="rect">
            <a:avLst/>
          </a:prstGeom>
          <a:noFill/>
          <a:ln/>
        </p:spPr>
        <p:txBody>
          <a:bodyPr wrap="square" lIns="0" tIns="0" rIns="0" bIns="0" rtlCol="0" anchor="ctr">
            <a:normAutofit/>
          </a:bodyPr>
          <a:lstStyle/>
          <a:p>
            <a:pPr algn="l" indent="0" marL="0">
              <a:buNone/>
            </a:pPr>
            <a:r>
              <a:rPr lang="en-US" sz="900" dirty="0">
                <a:solidFill>
                  <a:srgbClr val="D0DEDC"/>
                </a:solidFill>
                <a:latin typeface="Aptos" pitchFamily="34" charset="0"/>
                <a:ea typeface="Aptos" pitchFamily="34" charset="-122"/>
                <a:cs typeface="Aptos" pitchFamily="34" charset="-120"/>
              </a:rPr>
              <a:t>Mentor: [Name]</a:t>
            </a:r>
            <a:endParaRPr lang="en-US" sz="900" dirty="0"/>
          </a:p>
        </p:txBody>
      </p:sp>
      <p:sp>
        <p:nvSpPr>
          <p:cNvPr id="13" name="Text 10"/>
          <p:cNvSpPr/>
          <p:nvPr/>
        </p:nvSpPr>
        <p:spPr>
          <a:xfrm>
            <a:off x="749808" y="6016752"/>
            <a:ext cx="3200400" cy="164592"/>
          </a:xfrm>
          <a:prstGeom prst="rect">
            <a:avLst/>
          </a:prstGeom>
          <a:noFill/>
          <a:ln/>
        </p:spPr>
        <p:txBody>
          <a:bodyPr wrap="square" lIns="0" tIns="0" rIns="0" bIns="0" rtlCol="0" anchor="ctr">
            <a:normAutofit/>
          </a:bodyPr>
          <a:lstStyle/>
          <a:p>
            <a:pPr algn="l" indent="0" marL="0">
              <a:buNone/>
            </a:pPr>
            <a:r>
              <a:rPr lang="en-US" sz="800" dirty="0">
                <a:solidFill>
                  <a:srgbClr val="9FB4B7"/>
                </a:solidFill>
                <a:latin typeface="Aptos" pitchFamily="34" charset="0"/>
                <a:ea typeface="Aptos" pitchFamily="34" charset="-122"/>
                <a:cs typeface="Aptos" pitchFamily="34" charset="-120"/>
              </a:rPr>
              <a:t>[Section]  •  [Date]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01 • PROJECT GOAL</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What does this project do?</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It learns from old passenger records and estimates the recorded survival outcome.</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777240" y="1737360"/>
            <a:ext cx="4937760" cy="3383280"/>
          </a:xfrm>
          <a:prstGeom prst="roundRect">
            <a:avLst>
              <a:gd name="adj" fmla="val 2432"/>
            </a:avLst>
          </a:prstGeom>
          <a:solidFill>
            <a:srgbClr val="142F49"/>
          </a:solidFill>
          <a:ln w="12700">
            <a:solidFill>
              <a:srgbClr val="142F49">
                <a:alpha val="0"/>
              </a:srgbClr>
            </a:solidFill>
            <a:prstDash val="solid"/>
          </a:ln>
        </p:spPr>
      </p:sp>
      <p:sp>
        <p:nvSpPr>
          <p:cNvPr id="13" name="Text 11"/>
          <p:cNvSpPr/>
          <p:nvPr/>
        </p:nvSpPr>
        <p:spPr>
          <a:xfrm>
            <a:off x="1097280" y="2103120"/>
            <a:ext cx="2011680" cy="201168"/>
          </a:xfrm>
          <a:prstGeom prst="rect">
            <a:avLst/>
          </a:prstGeom>
          <a:noFill/>
          <a:ln/>
        </p:spPr>
        <p:txBody>
          <a:bodyPr wrap="square" lIns="0" tIns="0" rIns="0" bIns="0" rtlCol="0" anchor="ctr">
            <a:normAutofit/>
          </a:bodyPr>
          <a:lstStyle/>
          <a:p>
            <a:pPr algn="l" indent="0" marL="0">
              <a:buNone/>
            </a:pPr>
            <a:r>
              <a:rPr lang="en-US" sz="900" b="1" dirty="0">
                <a:solidFill>
                  <a:srgbClr val="D1A56A"/>
                </a:solidFill>
                <a:latin typeface="Aptos" pitchFamily="34" charset="0"/>
                <a:ea typeface="Aptos" pitchFamily="34" charset="-122"/>
                <a:cs typeface="Aptos" pitchFamily="34" charset="-120"/>
              </a:rPr>
              <a:t>THE QUESTION</a:t>
            </a:r>
            <a:endParaRPr lang="en-US" sz="900" dirty="0"/>
          </a:p>
        </p:txBody>
      </p:sp>
      <p:sp>
        <p:nvSpPr>
          <p:cNvPr id="14" name="Text 12"/>
          <p:cNvSpPr/>
          <p:nvPr/>
        </p:nvSpPr>
        <p:spPr>
          <a:xfrm>
            <a:off x="1097280" y="2578608"/>
            <a:ext cx="4023360" cy="1097280"/>
          </a:xfrm>
          <a:prstGeom prst="rect">
            <a:avLst/>
          </a:prstGeom>
          <a:noFill/>
          <a:ln/>
        </p:spPr>
        <p:txBody>
          <a:bodyPr wrap="square" lIns="0" tIns="0" rIns="0" bIns="0" rtlCol="0" anchor="ctr">
            <a:normAutofit/>
          </a:bodyPr>
          <a:lstStyle/>
          <a:p>
            <a:pPr algn="l" indent="0" marL="0">
              <a:buNone/>
            </a:pPr>
            <a:r>
              <a:rPr lang="en-US" sz="2400" b="1" dirty="0">
                <a:solidFill>
                  <a:srgbClr val="FAF8F1"/>
                </a:solidFill>
                <a:latin typeface="Georgia" pitchFamily="34" charset="0"/>
                <a:ea typeface="Georgia" pitchFamily="34" charset="-122"/>
                <a:cs typeface="Georgia" pitchFamily="34" charset="-120"/>
              </a:rPr>
              <a:t>Can passenger details help a model estimate who survived?</a:t>
            </a:r>
            <a:endParaRPr lang="en-US" sz="2400" dirty="0"/>
          </a:p>
        </p:txBody>
      </p:sp>
      <p:sp>
        <p:nvSpPr>
          <p:cNvPr id="15" name="Text 13"/>
          <p:cNvSpPr/>
          <p:nvPr/>
        </p:nvSpPr>
        <p:spPr>
          <a:xfrm>
            <a:off x="1097280" y="4160520"/>
            <a:ext cx="3931920" cy="329184"/>
          </a:xfrm>
          <a:prstGeom prst="rect">
            <a:avLst/>
          </a:prstGeom>
          <a:noFill/>
          <a:ln/>
        </p:spPr>
        <p:txBody>
          <a:bodyPr wrap="square" lIns="0" tIns="0" rIns="0" bIns="0" rtlCol="0" anchor="ctr">
            <a:normAutofit/>
          </a:bodyPr>
          <a:lstStyle/>
          <a:p>
            <a:pPr algn="l" indent="0" marL="0">
              <a:buNone/>
            </a:pPr>
            <a:r>
              <a:rPr lang="en-US" sz="1100" dirty="0">
                <a:solidFill>
                  <a:srgbClr val="D5E2DE"/>
                </a:solidFill>
                <a:latin typeface="Aptos" pitchFamily="34" charset="0"/>
                <a:ea typeface="Aptos" pitchFamily="34" charset="-122"/>
                <a:cs typeface="Aptos" pitchFamily="34" charset="-120"/>
              </a:rPr>
              <a:t>The model gives an estimate, not a guarantee.</a:t>
            </a:r>
            <a:endParaRPr lang="en-US" sz="1100" dirty="0"/>
          </a:p>
        </p:txBody>
      </p:sp>
      <p:sp>
        <p:nvSpPr>
          <p:cNvPr id="16" name="Shape 14"/>
          <p:cNvSpPr/>
          <p:nvPr/>
        </p:nvSpPr>
        <p:spPr>
          <a:xfrm>
            <a:off x="6263640" y="1828800"/>
            <a:ext cx="4754880" cy="914400"/>
          </a:xfrm>
          <a:prstGeom prst="roundRect">
            <a:avLst>
              <a:gd name="adj" fmla="val 9000"/>
            </a:avLst>
          </a:prstGeom>
          <a:solidFill>
            <a:srgbClr val="FFFFFF"/>
          </a:solidFill>
          <a:ln w="10160">
            <a:solidFill>
              <a:srgbClr val="D8E0DC"/>
            </a:solidFill>
            <a:prstDash val="solid"/>
          </a:ln>
        </p:spPr>
      </p:sp>
      <p:sp>
        <p:nvSpPr>
          <p:cNvPr id="17" name="Shape 15"/>
          <p:cNvSpPr/>
          <p:nvPr/>
        </p:nvSpPr>
        <p:spPr>
          <a:xfrm>
            <a:off x="6473952" y="2039112"/>
            <a:ext cx="438912" cy="438912"/>
          </a:xfrm>
          <a:prstGeom prst="roundRect">
            <a:avLst>
              <a:gd name="adj" fmla="val 18750"/>
            </a:avLst>
          </a:prstGeom>
          <a:solidFill>
            <a:srgbClr val="398E82"/>
          </a:solidFill>
          <a:ln w="12700">
            <a:solidFill>
              <a:srgbClr val="398E82">
                <a:alpha val="0"/>
              </a:srgbClr>
            </a:solidFill>
            <a:prstDash val="solid"/>
          </a:ln>
        </p:spPr>
      </p:sp>
      <p:sp>
        <p:nvSpPr>
          <p:cNvPr id="18" name="Text 16"/>
          <p:cNvSpPr/>
          <p:nvPr/>
        </p:nvSpPr>
        <p:spPr>
          <a:xfrm>
            <a:off x="6473952" y="2121408"/>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9" name="Text 17"/>
          <p:cNvSpPr/>
          <p:nvPr/>
        </p:nvSpPr>
        <p:spPr>
          <a:xfrm>
            <a:off x="7132320" y="1993392"/>
            <a:ext cx="3474720" cy="246888"/>
          </a:xfrm>
          <a:prstGeom prst="rect">
            <a:avLst/>
          </a:prstGeom>
          <a:noFill/>
          <a:ln/>
        </p:spPr>
        <p:txBody>
          <a:bodyPr wrap="square" lIns="0" tIns="0" rIns="0" bIns="0" rtlCol="0" anchor="ctr">
            <a:normAutofit/>
          </a:bodyPr>
          <a:lstStyle/>
          <a:p>
            <a:pPr algn="l" indent="0" marL="0">
              <a:buNone/>
            </a:pPr>
            <a:r>
              <a:rPr lang="en-US" sz="1600" b="1" dirty="0">
                <a:solidFill>
                  <a:srgbClr val="213B52"/>
                </a:solidFill>
                <a:latin typeface="Georgia" pitchFamily="34" charset="0"/>
                <a:ea typeface="Georgia" pitchFamily="34" charset="-122"/>
                <a:cs typeface="Georgia" pitchFamily="34" charset="-120"/>
              </a:rPr>
              <a:t>Passenger details</a:t>
            </a:r>
            <a:endParaRPr lang="en-US" sz="1600" dirty="0"/>
          </a:p>
        </p:txBody>
      </p:sp>
      <p:sp>
        <p:nvSpPr>
          <p:cNvPr id="20" name="Text 18"/>
          <p:cNvSpPr/>
          <p:nvPr/>
        </p:nvSpPr>
        <p:spPr>
          <a:xfrm>
            <a:off x="7132320" y="2340864"/>
            <a:ext cx="347472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Age • sex • ticket class</a:t>
            </a:r>
            <a:endParaRPr lang="en-US" sz="900" dirty="0"/>
          </a:p>
        </p:txBody>
      </p:sp>
      <p:sp>
        <p:nvSpPr>
          <p:cNvPr id="21" name="Shape 19"/>
          <p:cNvSpPr/>
          <p:nvPr/>
        </p:nvSpPr>
        <p:spPr>
          <a:xfrm>
            <a:off x="6263640" y="2999232"/>
            <a:ext cx="4754880" cy="914400"/>
          </a:xfrm>
          <a:prstGeom prst="roundRect">
            <a:avLst>
              <a:gd name="adj" fmla="val 9000"/>
            </a:avLst>
          </a:prstGeom>
          <a:solidFill>
            <a:srgbClr val="E3F0E9"/>
          </a:solidFill>
          <a:ln w="10160">
            <a:solidFill>
              <a:srgbClr val="D8E0DC"/>
            </a:solidFill>
            <a:prstDash val="solid"/>
          </a:ln>
        </p:spPr>
      </p:sp>
      <p:sp>
        <p:nvSpPr>
          <p:cNvPr id="22" name="Shape 20"/>
          <p:cNvSpPr/>
          <p:nvPr/>
        </p:nvSpPr>
        <p:spPr>
          <a:xfrm>
            <a:off x="6473952" y="3209544"/>
            <a:ext cx="438912" cy="438912"/>
          </a:xfrm>
          <a:prstGeom prst="roundRect">
            <a:avLst>
              <a:gd name="adj" fmla="val 18750"/>
            </a:avLst>
          </a:prstGeom>
          <a:solidFill>
            <a:srgbClr val="398E82"/>
          </a:solidFill>
          <a:ln w="12700">
            <a:solidFill>
              <a:srgbClr val="398E82">
                <a:alpha val="0"/>
              </a:srgbClr>
            </a:solidFill>
            <a:prstDash val="solid"/>
          </a:ln>
        </p:spPr>
      </p:sp>
      <p:sp>
        <p:nvSpPr>
          <p:cNvPr id="23" name="Text 21"/>
          <p:cNvSpPr/>
          <p:nvPr/>
        </p:nvSpPr>
        <p:spPr>
          <a:xfrm>
            <a:off x="6473952" y="3291840"/>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24" name="Text 22"/>
          <p:cNvSpPr/>
          <p:nvPr/>
        </p:nvSpPr>
        <p:spPr>
          <a:xfrm>
            <a:off x="7132320" y="3163824"/>
            <a:ext cx="3474720" cy="246888"/>
          </a:xfrm>
          <a:prstGeom prst="rect">
            <a:avLst/>
          </a:prstGeom>
          <a:noFill/>
          <a:ln/>
        </p:spPr>
        <p:txBody>
          <a:bodyPr wrap="square" lIns="0" tIns="0" rIns="0" bIns="0" rtlCol="0" anchor="ctr">
            <a:normAutofit/>
          </a:bodyPr>
          <a:lstStyle/>
          <a:p>
            <a:pPr algn="l" indent="0" marL="0">
              <a:buNone/>
            </a:pPr>
            <a:r>
              <a:rPr lang="en-US" sz="1600" b="1" dirty="0">
                <a:solidFill>
                  <a:srgbClr val="213B52"/>
                </a:solidFill>
                <a:latin typeface="Georgia" pitchFamily="34" charset="0"/>
                <a:ea typeface="Georgia" pitchFamily="34" charset="-122"/>
                <a:cs typeface="Georgia" pitchFamily="34" charset="-120"/>
              </a:rPr>
              <a:t>Machine learning</a:t>
            </a:r>
            <a:endParaRPr lang="en-US" sz="1600" dirty="0"/>
          </a:p>
        </p:txBody>
      </p:sp>
      <p:sp>
        <p:nvSpPr>
          <p:cNvPr id="25" name="Text 23"/>
          <p:cNvSpPr/>
          <p:nvPr/>
        </p:nvSpPr>
        <p:spPr>
          <a:xfrm>
            <a:off x="7132320" y="3511296"/>
            <a:ext cx="347472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Finds patterns in examples</a:t>
            </a:r>
            <a:endParaRPr lang="en-US" sz="900" dirty="0"/>
          </a:p>
        </p:txBody>
      </p:sp>
      <p:sp>
        <p:nvSpPr>
          <p:cNvPr id="26" name="Shape 24"/>
          <p:cNvSpPr/>
          <p:nvPr/>
        </p:nvSpPr>
        <p:spPr>
          <a:xfrm>
            <a:off x="6263640" y="4169664"/>
            <a:ext cx="4754880" cy="914400"/>
          </a:xfrm>
          <a:prstGeom prst="roundRect">
            <a:avLst>
              <a:gd name="adj" fmla="val 9000"/>
            </a:avLst>
          </a:prstGeom>
          <a:solidFill>
            <a:srgbClr val="FFFFFF"/>
          </a:solidFill>
          <a:ln w="10160">
            <a:solidFill>
              <a:srgbClr val="D8E0DC"/>
            </a:solidFill>
            <a:prstDash val="solid"/>
          </a:ln>
        </p:spPr>
      </p:sp>
      <p:sp>
        <p:nvSpPr>
          <p:cNvPr id="27" name="Shape 25"/>
          <p:cNvSpPr/>
          <p:nvPr/>
        </p:nvSpPr>
        <p:spPr>
          <a:xfrm>
            <a:off x="6473952" y="4379976"/>
            <a:ext cx="438912" cy="438912"/>
          </a:xfrm>
          <a:prstGeom prst="roundRect">
            <a:avLst>
              <a:gd name="adj" fmla="val 18750"/>
            </a:avLst>
          </a:prstGeom>
          <a:solidFill>
            <a:srgbClr val="E77765"/>
          </a:solidFill>
          <a:ln w="12700">
            <a:solidFill>
              <a:srgbClr val="E77765">
                <a:alpha val="0"/>
              </a:srgbClr>
            </a:solidFill>
            <a:prstDash val="solid"/>
          </a:ln>
        </p:spPr>
      </p:sp>
      <p:sp>
        <p:nvSpPr>
          <p:cNvPr id="28" name="Text 26"/>
          <p:cNvSpPr/>
          <p:nvPr/>
        </p:nvSpPr>
        <p:spPr>
          <a:xfrm>
            <a:off x="6473952" y="4462272"/>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9" name="Text 27"/>
          <p:cNvSpPr/>
          <p:nvPr/>
        </p:nvSpPr>
        <p:spPr>
          <a:xfrm>
            <a:off x="7132320" y="4334256"/>
            <a:ext cx="3474720" cy="246888"/>
          </a:xfrm>
          <a:prstGeom prst="rect">
            <a:avLst/>
          </a:prstGeom>
          <a:noFill/>
          <a:ln/>
        </p:spPr>
        <p:txBody>
          <a:bodyPr wrap="square" lIns="0" tIns="0" rIns="0" bIns="0" rtlCol="0" anchor="ctr">
            <a:normAutofit/>
          </a:bodyPr>
          <a:lstStyle/>
          <a:p>
            <a:pPr algn="l" indent="0" marL="0">
              <a:buNone/>
            </a:pPr>
            <a:r>
              <a:rPr lang="en-US" sz="1600" b="1" dirty="0">
                <a:solidFill>
                  <a:srgbClr val="213B52"/>
                </a:solidFill>
                <a:latin typeface="Georgia" pitchFamily="34" charset="0"/>
                <a:ea typeface="Georgia" pitchFamily="34" charset="-122"/>
                <a:cs typeface="Georgia" pitchFamily="34" charset="-120"/>
              </a:rPr>
              <a:t>Website</a:t>
            </a:r>
            <a:endParaRPr lang="en-US" sz="1600" dirty="0"/>
          </a:p>
        </p:txBody>
      </p:sp>
      <p:sp>
        <p:nvSpPr>
          <p:cNvPr id="30" name="Text 28"/>
          <p:cNvSpPr/>
          <p:nvPr/>
        </p:nvSpPr>
        <p:spPr>
          <a:xfrm>
            <a:off x="7132320" y="4681728"/>
            <a:ext cx="347472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Shows a survival estimate</a:t>
            </a:r>
            <a:endParaRPr lang="en-US" sz="9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02 • THE DATA</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The project starts with 891 passenger records</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Each row describes one passenger. “Survived” is the answer the model learns to estimate.</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777240" y="1783080"/>
            <a:ext cx="3200400" cy="1234440"/>
          </a:xfrm>
          <a:prstGeom prst="roundRect">
            <a:avLst>
              <a:gd name="adj" fmla="val 6667"/>
            </a:avLst>
          </a:prstGeom>
          <a:solidFill>
            <a:srgbClr val="FFFFFF"/>
          </a:solidFill>
          <a:ln w="10160">
            <a:solidFill>
              <a:srgbClr val="D8E0DC"/>
            </a:solidFill>
            <a:prstDash val="solid"/>
          </a:ln>
        </p:spPr>
      </p:sp>
      <p:sp>
        <p:nvSpPr>
          <p:cNvPr id="13" name="Text 11"/>
          <p:cNvSpPr/>
          <p:nvPr/>
        </p:nvSpPr>
        <p:spPr>
          <a:xfrm>
            <a:off x="941832" y="1911096"/>
            <a:ext cx="2871216" cy="384048"/>
          </a:xfrm>
          <a:prstGeom prst="rect">
            <a:avLst/>
          </a:prstGeom>
          <a:noFill/>
          <a:ln/>
        </p:spPr>
        <p:txBody>
          <a:bodyPr wrap="square" lIns="0" tIns="0" rIns="0" bIns="0" rtlCol="0" anchor="ctr">
            <a:normAutofit/>
          </a:bodyPr>
          <a:lstStyle/>
          <a:p>
            <a:pPr algn="l" indent="0" marL="0">
              <a:buNone/>
            </a:pPr>
            <a:r>
              <a:rPr lang="en-US" sz="2400" b="1" dirty="0">
                <a:solidFill>
                  <a:srgbClr val="142F49"/>
                </a:solidFill>
                <a:latin typeface="Georgia" pitchFamily="34" charset="0"/>
                <a:ea typeface="Georgia" pitchFamily="34" charset="-122"/>
                <a:cs typeface="Georgia" pitchFamily="34" charset="-120"/>
              </a:rPr>
              <a:t>891</a:t>
            </a:r>
            <a:endParaRPr lang="en-US" sz="2400" dirty="0"/>
          </a:p>
        </p:txBody>
      </p:sp>
      <p:sp>
        <p:nvSpPr>
          <p:cNvPr id="14" name="Text 12"/>
          <p:cNvSpPr/>
          <p:nvPr/>
        </p:nvSpPr>
        <p:spPr>
          <a:xfrm>
            <a:off x="941832" y="2359152"/>
            <a:ext cx="2871216" cy="182880"/>
          </a:xfrm>
          <a:prstGeom prst="rect">
            <a:avLst/>
          </a:prstGeom>
          <a:noFill/>
          <a:ln/>
        </p:spPr>
        <p:txBody>
          <a:bodyPr wrap="square" lIns="0" tIns="0" rIns="0" bIns="0" rtlCol="0" anchor="ctr">
            <a:normAutofit/>
          </a:bodyPr>
          <a:lstStyle/>
          <a:p>
            <a:pPr algn="l" indent="0" marL="0">
              <a:buNone/>
            </a:pPr>
            <a:r>
              <a:rPr lang="en-US" sz="800" b="1" dirty="0">
                <a:solidFill>
                  <a:srgbClr val="213B52"/>
                </a:solidFill>
                <a:latin typeface="Aptos" pitchFamily="34" charset="0"/>
                <a:ea typeface="Aptos" pitchFamily="34" charset="-122"/>
                <a:cs typeface="Aptos" pitchFamily="34" charset="-120"/>
              </a:rPr>
              <a:t>PASSENGERS</a:t>
            </a:r>
            <a:endParaRPr lang="en-US" sz="800" dirty="0"/>
          </a:p>
        </p:txBody>
      </p:sp>
      <p:sp>
        <p:nvSpPr>
          <p:cNvPr id="15" name="Text 13"/>
          <p:cNvSpPr/>
          <p:nvPr/>
        </p:nvSpPr>
        <p:spPr>
          <a:xfrm>
            <a:off x="941832" y="2615184"/>
            <a:ext cx="2871216" cy="30175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One row per person</a:t>
            </a:r>
            <a:endParaRPr lang="en-US" sz="800" dirty="0"/>
          </a:p>
        </p:txBody>
      </p:sp>
      <p:sp>
        <p:nvSpPr>
          <p:cNvPr id="16" name="Shape 14"/>
          <p:cNvSpPr/>
          <p:nvPr/>
        </p:nvSpPr>
        <p:spPr>
          <a:xfrm>
            <a:off x="4480560" y="1783080"/>
            <a:ext cx="3200400" cy="1234440"/>
          </a:xfrm>
          <a:prstGeom prst="roundRect">
            <a:avLst>
              <a:gd name="adj" fmla="val 6667"/>
            </a:avLst>
          </a:prstGeom>
          <a:solidFill>
            <a:srgbClr val="FFFFFF"/>
          </a:solidFill>
          <a:ln w="10160">
            <a:solidFill>
              <a:srgbClr val="D8E0DC"/>
            </a:solidFill>
            <a:prstDash val="solid"/>
          </a:ln>
        </p:spPr>
      </p:sp>
      <p:sp>
        <p:nvSpPr>
          <p:cNvPr id="17" name="Text 15"/>
          <p:cNvSpPr/>
          <p:nvPr/>
        </p:nvSpPr>
        <p:spPr>
          <a:xfrm>
            <a:off x="4645152" y="1911096"/>
            <a:ext cx="2871216" cy="384048"/>
          </a:xfrm>
          <a:prstGeom prst="rect">
            <a:avLst/>
          </a:prstGeom>
          <a:noFill/>
          <a:ln/>
        </p:spPr>
        <p:txBody>
          <a:bodyPr wrap="square" lIns="0" tIns="0" rIns="0" bIns="0" rtlCol="0" anchor="ctr">
            <a:normAutofit/>
          </a:bodyPr>
          <a:lstStyle/>
          <a:p>
            <a:pPr algn="l" indent="0" marL="0">
              <a:buNone/>
            </a:pPr>
            <a:r>
              <a:rPr lang="en-US" sz="2400" b="1" dirty="0">
                <a:solidFill>
                  <a:srgbClr val="398E82"/>
                </a:solidFill>
                <a:latin typeface="Georgia" pitchFamily="34" charset="0"/>
                <a:ea typeface="Georgia" pitchFamily="34" charset="-122"/>
                <a:cs typeface="Georgia" pitchFamily="34" charset="-120"/>
              </a:rPr>
              <a:t>342</a:t>
            </a:r>
            <a:endParaRPr lang="en-US" sz="2400" dirty="0"/>
          </a:p>
        </p:txBody>
      </p:sp>
      <p:sp>
        <p:nvSpPr>
          <p:cNvPr id="18" name="Text 16"/>
          <p:cNvSpPr/>
          <p:nvPr/>
        </p:nvSpPr>
        <p:spPr>
          <a:xfrm>
            <a:off x="4645152" y="2359152"/>
            <a:ext cx="2871216" cy="182880"/>
          </a:xfrm>
          <a:prstGeom prst="rect">
            <a:avLst/>
          </a:prstGeom>
          <a:noFill/>
          <a:ln/>
        </p:spPr>
        <p:txBody>
          <a:bodyPr wrap="square" lIns="0" tIns="0" rIns="0" bIns="0" rtlCol="0" anchor="ctr">
            <a:normAutofit/>
          </a:bodyPr>
          <a:lstStyle/>
          <a:p>
            <a:pPr algn="l" indent="0" marL="0">
              <a:buNone/>
            </a:pPr>
            <a:r>
              <a:rPr lang="en-US" sz="800" b="1" dirty="0">
                <a:solidFill>
                  <a:srgbClr val="213B52"/>
                </a:solidFill>
                <a:latin typeface="Aptos" pitchFamily="34" charset="0"/>
                <a:ea typeface="Aptos" pitchFamily="34" charset="-122"/>
                <a:cs typeface="Aptos" pitchFamily="34" charset="-120"/>
              </a:rPr>
              <a:t>SURVIVED</a:t>
            </a:r>
            <a:endParaRPr lang="en-US" sz="800" dirty="0"/>
          </a:p>
        </p:txBody>
      </p:sp>
      <p:sp>
        <p:nvSpPr>
          <p:cNvPr id="19" name="Text 17"/>
          <p:cNvSpPr/>
          <p:nvPr/>
        </p:nvSpPr>
        <p:spPr>
          <a:xfrm>
            <a:off x="4645152" y="2615184"/>
            <a:ext cx="2871216" cy="30175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About 38 in every 100</a:t>
            </a:r>
            <a:endParaRPr lang="en-US" sz="800" dirty="0"/>
          </a:p>
        </p:txBody>
      </p:sp>
      <p:sp>
        <p:nvSpPr>
          <p:cNvPr id="20" name="Shape 18"/>
          <p:cNvSpPr/>
          <p:nvPr/>
        </p:nvSpPr>
        <p:spPr>
          <a:xfrm>
            <a:off x="8183880" y="1783080"/>
            <a:ext cx="3200400" cy="1234440"/>
          </a:xfrm>
          <a:prstGeom prst="roundRect">
            <a:avLst>
              <a:gd name="adj" fmla="val 6667"/>
            </a:avLst>
          </a:prstGeom>
          <a:solidFill>
            <a:srgbClr val="FFFFFF"/>
          </a:solidFill>
          <a:ln w="10160">
            <a:solidFill>
              <a:srgbClr val="D8E0DC"/>
            </a:solidFill>
            <a:prstDash val="solid"/>
          </a:ln>
        </p:spPr>
      </p:sp>
      <p:sp>
        <p:nvSpPr>
          <p:cNvPr id="21" name="Text 19"/>
          <p:cNvSpPr/>
          <p:nvPr/>
        </p:nvSpPr>
        <p:spPr>
          <a:xfrm>
            <a:off x="8348472" y="1911096"/>
            <a:ext cx="2871216" cy="384048"/>
          </a:xfrm>
          <a:prstGeom prst="rect">
            <a:avLst/>
          </a:prstGeom>
          <a:noFill/>
          <a:ln/>
        </p:spPr>
        <p:txBody>
          <a:bodyPr wrap="square" lIns="0" tIns="0" rIns="0" bIns="0" rtlCol="0" anchor="ctr">
            <a:normAutofit/>
          </a:bodyPr>
          <a:lstStyle/>
          <a:p>
            <a:pPr algn="l" indent="0" marL="0">
              <a:buNone/>
            </a:pPr>
            <a:r>
              <a:rPr lang="en-US" sz="2400" b="1" dirty="0">
                <a:solidFill>
                  <a:srgbClr val="E77765"/>
                </a:solidFill>
                <a:latin typeface="Georgia" pitchFamily="34" charset="0"/>
                <a:ea typeface="Georgia" pitchFamily="34" charset="-122"/>
                <a:cs typeface="Georgia" pitchFamily="34" charset="-120"/>
              </a:rPr>
              <a:t>549</a:t>
            </a:r>
            <a:endParaRPr lang="en-US" sz="2400" dirty="0"/>
          </a:p>
        </p:txBody>
      </p:sp>
      <p:sp>
        <p:nvSpPr>
          <p:cNvPr id="22" name="Text 20"/>
          <p:cNvSpPr/>
          <p:nvPr/>
        </p:nvSpPr>
        <p:spPr>
          <a:xfrm>
            <a:off x="8348472" y="2359152"/>
            <a:ext cx="2871216" cy="182880"/>
          </a:xfrm>
          <a:prstGeom prst="rect">
            <a:avLst/>
          </a:prstGeom>
          <a:noFill/>
          <a:ln/>
        </p:spPr>
        <p:txBody>
          <a:bodyPr wrap="square" lIns="0" tIns="0" rIns="0" bIns="0" rtlCol="0" anchor="ctr">
            <a:normAutofit/>
          </a:bodyPr>
          <a:lstStyle/>
          <a:p>
            <a:pPr algn="l" indent="0" marL="0">
              <a:buNone/>
            </a:pPr>
            <a:r>
              <a:rPr lang="en-US" sz="800" b="1" dirty="0">
                <a:solidFill>
                  <a:srgbClr val="213B52"/>
                </a:solidFill>
                <a:latin typeface="Aptos" pitchFamily="34" charset="0"/>
                <a:ea typeface="Aptos" pitchFamily="34" charset="-122"/>
                <a:cs typeface="Aptos" pitchFamily="34" charset="-120"/>
              </a:rPr>
              <a:t>DID NOT SURVIVE</a:t>
            </a:r>
            <a:endParaRPr lang="en-US" sz="800" dirty="0"/>
          </a:p>
        </p:txBody>
      </p:sp>
      <p:sp>
        <p:nvSpPr>
          <p:cNvPr id="23" name="Text 21"/>
          <p:cNvSpPr/>
          <p:nvPr/>
        </p:nvSpPr>
        <p:spPr>
          <a:xfrm>
            <a:off x="8348472" y="2615184"/>
            <a:ext cx="2871216" cy="30175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About 62 in every 100</a:t>
            </a:r>
            <a:endParaRPr lang="en-US" sz="800" dirty="0"/>
          </a:p>
        </p:txBody>
      </p:sp>
      <p:sp>
        <p:nvSpPr>
          <p:cNvPr id="24" name="Shape 22"/>
          <p:cNvSpPr/>
          <p:nvPr/>
        </p:nvSpPr>
        <p:spPr>
          <a:xfrm>
            <a:off x="777240" y="3429000"/>
            <a:ext cx="10607040" cy="1965960"/>
          </a:xfrm>
          <a:prstGeom prst="roundRect">
            <a:avLst>
              <a:gd name="adj" fmla="val 4186"/>
            </a:avLst>
          </a:prstGeom>
          <a:solidFill>
            <a:srgbClr val="FFFFFF"/>
          </a:solidFill>
          <a:ln w="10160">
            <a:solidFill>
              <a:srgbClr val="D8E0DC"/>
            </a:solidFill>
            <a:prstDash val="solid"/>
          </a:ln>
        </p:spPr>
      </p:sp>
      <p:sp>
        <p:nvSpPr>
          <p:cNvPr id="25" name="Text 23"/>
          <p:cNvSpPr/>
          <p:nvPr/>
        </p:nvSpPr>
        <p:spPr>
          <a:xfrm>
            <a:off x="1078992" y="3703320"/>
            <a:ext cx="3108960" cy="210312"/>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DETAILS IN THE FILE</a:t>
            </a:r>
            <a:endParaRPr lang="en-US" sz="900" dirty="0"/>
          </a:p>
        </p:txBody>
      </p:sp>
      <p:sp>
        <p:nvSpPr>
          <p:cNvPr id="26" name="Shape 24"/>
          <p:cNvSpPr/>
          <p:nvPr/>
        </p:nvSpPr>
        <p:spPr>
          <a:xfrm>
            <a:off x="1051560" y="4160520"/>
            <a:ext cx="1828800" cy="804672"/>
          </a:xfrm>
          <a:prstGeom prst="roundRect">
            <a:avLst>
              <a:gd name="adj" fmla="val 10227"/>
            </a:avLst>
          </a:prstGeom>
          <a:solidFill>
            <a:srgbClr val="EEF4F0"/>
          </a:solidFill>
          <a:ln w="12700">
            <a:solidFill>
              <a:srgbClr val="EEF4F0">
                <a:alpha val="0"/>
              </a:srgbClr>
            </a:solidFill>
            <a:prstDash val="solid"/>
          </a:ln>
        </p:spPr>
      </p:sp>
      <p:sp>
        <p:nvSpPr>
          <p:cNvPr id="27" name="Text 25"/>
          <p:cNvSpPr/>
          <p:nvPr/>
        </p:nvSpPr>
        <p:spPr>
          <a:xfrm>
            <a:off x="1161288" y="4279392"/>
            <a:ext cx="1600200" cy="182880"/>
          </a:xfrm>
          <a:prstGeom prst="rect">
            <a:avLst/>
          </a:prstGeom>
          <a:noFill/>
          <a:ln/>
        </p:spPr>
        <p:txBody>
          <a:bodyPr wrap="square" lIns="0" tIns="0" rIns="0" bIns="0" rtlCol="0" anchor="ctr">
            <a:normAutofit/>
          </a:bodyPr>
          <a:lstStyle/>
          <a:p>
            <a:pPr algn="l" indent="0" marL="0">
              <a:buNone/>
            </a:pPr>
            <a:r>
              <a:rPr lang="en-US" sz="900" b="1" dirty="0">
                <a:solidFill>
                  <a:srgbClr val="213B52"/>
                </a:solidFill>
                <a:latin typeface="Aptos" pitchFamily="34" charset="0"/>
                <a:ea typeface="Aptos" pitchFamily="34" charset="-122"/>
                <a:cs typeface="Aptos" pitchFamily="34" charset="-120"/>
              </a:rPr>
              <a:t>Passenger class</a:t>
            </a:r>
            <a:endParaRPr lang="en-US" sz="900" dirty="0"/>
          </a:p>
        </p:txBody>
      </p:sp>
      <p:sp>
        <p:nvSpPr>
          <p:cNvPr id="28" name="Text 26"/>
          <p:cNvSpPr/>
          <p:nvPr/>
        </p:nvSpPr>
        <p:spPr>
          <a:xfrm>
            <a:off x="1161288" y="4553712"/>
            <a:ext cx="1600200" cy="22860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1st / 2nd / 3rd</a:t>
            </a:r>
            <a:endParaRPr lang="en-US" sz="800" dirty="0"/>
          </a:p>
        </p:txBody>
      </p:sp>
      <p:sp>
        <p:nvSpPr>
          <p:cNvPr id="29" name="Shape 27"/>
          <p:cNvSpPr/>
          <p:nvPr/>
        </p:nvSpPr>
        <p:spPr>
          <a:xfrm>
            <a:off x="3063240" y="4160520"/>
            <a:ext cx="1828800" cy="804672"/>
          </a:xfrm>
          <a:prstGeom prst="roundRect">
            <a:avLst>
              <a:gd name="adj" fmla="val 10227"/>
            </a:avLst>
          </a:prstGeom>
          <a:solidFill>
            <a:srgbClr val="EEF4F0"/>
          </a:solidFill>
          <a:ln w="12700">
            <a:solidFill>
              <a:srgbClr val="EEF4F0">
                <a:alpha val="0"/>
              </a:srgbClr>
            </a:solidFill>
            <a:prstDash val="solid"/>
          </a:ln>
        </p:spPr>
      </p:sp>
      <p:sp>
        <p:nvSpPr>
          <p:cNvPr id="30" name="Text 28"/>
          <p:cNvSpPr/>
          <p:nvPr/>
        </p:nvSpPr>
        <p:spPr>
          <a:xfrm>
            <a:off x="3172968" y="4279392"/>
            <a:ext cx="1600200" cy="182880"/>
          </a:xfrm>
          <a:prstGeom prst="rect">
            <a:avLst/>
          </a:prstGeom>
          <a:noFill/>
          <a:ln/>
        </p:spPr>
        <p:txBody>
          <a:bodyPr wrap="square" lIns="0" tIns="0" rIns="0" bIns="0" rtlCol="0" anchor="ctr">
            <a:normAutofit/>
          </a:bodyPr>
          <a:lstStyle/>
          <a:p>
            <a:pPr algn="l" indent="0" marL="0">
              <a:buNone/>
            </a:pPr>
            <a:r>
              <a:rPr lang="en-US" sz="900" b="1" dirty="0">
                <a:solidFill>
                  <a:srgbClr val="213B52"/>
                </a:solidFill>
                <a:latin typeface="Aptos" pitchFamily="34" charset="0"/>
                <a:ea typeface="Aptos" pitchFamily="34" charset="-122"/>
                <a:cs typeface="Aptos" pitchFamily="34" charset="-120"/>
              </a:rPr>
              <a:t>Sex</a:t>
            </a:r>
            <a:endParaRPr lang="en-US" sz="900" dirty="0"/>
          </a:p>
        </p:txBody>
      </p:sp>
      <p:sp>
        <p:nvSpPr>
          <p:cNvPr id="31" name="Text 29"/>
          <p:cNvSpPr/>
          <p:nvPr/>
        </p:nvSpPr>
        <p:spPr>
          <a:xfrm>
            <a:off x="3172968" y="4553712"/>
            <a:ext cx="1600200" cy="22860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Female / male</a:t>
            </a:r>
            <a:endParaRPr lang="en-US" sz="800" dirty="0"/>
          </a:p>
        </p:txBody>
      </p:sp>
      <p:sp>
        <p:nvSpPr>
          <p:cNvPr id="32" name="Shape 30"/>
          <p:cNvSpPr/>
          <p:nvPr/>
        </p:nvSpPr>
        <p:spPr>
          <a:xfrm>
            <a:off x="5074920" y="4160520"/>
            <a:ext cx="1828800" cy="804672"/>
          </a:xfrm>
          <a:prstGeom prst="roundRect">
            <a:avLst>
              <a:gd name="adj" fmla="val 10227"/>
            </a:avLst>
          </a:prstGeom>
          <a:solidFill>
            <a:srgbClr val="F7E7E1"/>
          </a:solidFill>
          <a:ln w="12700">
            <a:solidFill>
              <a:srgbClr val="F7E7E1">
                <a:alpha val="0"/>
              </a:srgbClr>
            </a:solidFill>
            <a:prstDash val="solid"/>
          </a:ln>
        </p:spPr>
      </p:sp>
      <p:sp>
        <p:nvSpPr>
          <p:cNvPr id="33" name="Text 31"/>
          <p:cNvSpPr/>
          <p:nvPr/>
        </p:nvSpPr>
        <p:spPr>
          <a:xfrm>
            <a:off x="5184648" y="4279392"/>
            <a:ext cx="1600200" cy="182880"/>
          </a:xfrm>
          <a:prstGeom prst="rect">
            <a:avLst/>
          </a:prstGeom>
          <a:noFill/>
          <a:ln/>
        </p:spPr>
        <p:txBody>
          <a:bodyPr wrap="square" lIns="0" tIns="0" rIns="0" bIns="0" rtlCol="0" anchor="ctr">
            <a:normAutofit/>
          </a:bodyPr>
          <a:lstStyle/>
          <a:p>
            <a:pPr algn="l" indent="0" marL="0">
              <a:buNone/>
            </a:pPr>
            <a:r>
              <a:rPr lang="en-US" sz="900" b="1" dirty="0">
                <a:solidFill>
                  <a:srgbClr val="213B52"/>
                </a:solidFill>
                <a:latin typeface="Aptos" pitchFamily="34" charset="0"/>
                <a:ea typeface="Aptos" pitchFamily="34" charset="-122"/>
                <a:cs typeface="Aptos" pitchFamily="34" charset="-120"/>
              </a:rPr>
              <a:t>Age</a:t>
            </a:r>
            <a:endParaRPr lang="en-US" sz="900" dirty="0"/>
          </a:p>
        </p:txBody>
      </p:sp>
      <p:sp>
        <p:nvSpPr>
          <p:cNvPr id="34" name="Text 32"/>
          <p:cNvSpPr/>
          <p:nvPr/>
        </p:nvSpPr>
        <p:spPr>
          <a:xfrm>
            <a:off x="5184648" y="4553712"/>
            <a:ext cx="1600200" cy="22860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Some values missing</a:t>
            </a:r>
            <a:endParaRPr lang="en-US" sz="800" dirty="0"/>
          </a:p>
        </p:txBody>
      </p:sp>
      <p:sp>
        <p:nvSpPr>
          <p:cNvPr id="35" name="Shape 33"/>
          <p:cNvSpPr/>
          <p:nvPr/>
        </p:nvSpPr>
        <p:spPr>
          <a:xfrm>
            <a:off x="7086600" y="4160520"/>
            <a:ext cx="1828800" cy="804672"/>
          </a:xfrm>
          <a:prstGeom prst="roundRect">
            <a:avLst>
              <a:gd name="adj" fmla="val 10227"/>
            </a:avLst>
          </a:prstGeom>
          <a:solidFill>
            <a:srgbClr val="EEF4F0"/>
          </a:solidFill>
          <a:ln w="12700">
            <a:solidFill>
              <a:srgbClr val="EEF4F0">
                <a:alpha val="0"/>
              </a:srgbClr>
            </a:solidFill>
            <a:prstDash val="solid"/>
          </a:ln>
        </p:spPr>
      </p:sp>
      <p:sp>
        <p:nvSpPr>
          <p:cNvPr id="36" name="Text 34"/>
          <p:cNvSpPr/>
          <p:nvPr/>
        </p:nvSpPr>
        <p:spPr>
          <a:xfrm>
            <a:off x="7196328" y="4279392"/>
            <a:ext cx="1600200" cy="182880"/>
          </a:xfrm>
          <a:prstGeom prst="rect">
            <a:avLst/>
          </a:prstGeom>
          <a:noFill/>
          <a:ln/>
        </p:spPr>
        <p:txBody>
          <a:bodyPr wrap="square" lIns="0" tIns="0" rIns="0" bIns="0" rtlCol="0" anchor="ctr">
            <a:normAutofit/>
          </a:bodyPr>
          <a:lstStyle/>
          <a:p>
            <a:pPr algn="l" indent="0" marL="0">
              <a:buNone/>
            </a:pPr>
            <a:r>
              <a:rPr lang="en-US" sz="900" b="1" dirty="0">
                <a:solidFill>
                  <a:srgbClr val="213B52"/>
                </a:solidFill>
                <a:latin typeface="Aptos" pitchFamily="34" charset="0"/>
                <a:ea typeface="Aptos" pitchFamily="34" charset="-122"/>
                <a:cs typeface="Aptos" pitchFamily="34" charset="-120"/>
              </a:rPr>
              <a:t>Family</a:t>
            </a:r>
            <a:endParaRPr lang="en-US" sz="900" dirty="0"/>
          </a:p>
        </p:txBody>
      </p:sp>
      <p:sp>
        <p:nvSpPr>
          <p:cNvPr id="37" name="Text 35"/>
          <p:cNvSpPr/>
          <p:nvPr/>
        </p:nvSpPr>
        <p:spPr>
          <a:xfrm>
            <a:off x="7196328" y="4553712"/>
            <a:ext cx="1600200" cy="22860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Parents, children, siblings</a:t>
            </a:r>
            <a:endParaRPr lang="en-US" sz="800" dirty="0"/>
          </a:p>
        </p:txBody>
      </p:sp>
      <p:sp>
        <p:nvSpPr>
          <p:cNvPr id="38" name="Shape 36"/>
          <p:cNvSpPr/>
          <p:nvPr/>
        </p:nvSpPr>
        <p:spPr>
          <a:xfrm>
            <a:off x="9098280" y="4160520"/>
            <a:ext cx="1828800" cy="804672"/>
          </a:xfrm>
          <a:prstGeom prst="roundRect">
            <a:avLst>
              <a:gd name="adj" fmla="val 10227"/>
            </a:avLst>
          </a:prstGeom>
          <a:solidFill>
            <a:srgbClr val="EEF4F0"/>
          </a:solidFill>
          <a:ln w="12700">
            <a:solidFill>
              <a:srgbClr val="EEF4F0">
                <a:alpha val="0"/>
              </a:srgbClr>
            </a:solidFill>
            <a:prstDash val="solid"/>
          </a:ln>
        </p:spPr>
      </p:sp>
      <p:sp>
        <p:nvSpPr>
          <p:cNvPr id="39" name="Text 37"/>
          <p:cNvSpPr/>
          <p:nvPr/>
        </p:nvSpPr>
        <p:spPr>
          <a:xfrm>
            <a:off x="9208008" y="4279392"/>
            <a:ext cx="1600200" cy="182880"/>
          </a:xfrm>
          <a:prstGeom prst="rect">
            <a:avLst/>
          </a:prstGeom>
          <a:noFill/>
          <a:ln/>
        </p:spPr>
        <p:txBody>
          <a:bodyPr wrap="square" lIns="0" tIns="0" rIns="0" bIns="0" rtlCol="0" anchor="ctr">
            <a:normAutofit/>
          </a:bodyPr>
          <a:lstStyle/>
          <a:p>
            <a:pPr algn="l" indent="0" marL="0">
              <a:buNone/>
            </a:pPr>
            <a:r>
              <a:rPr lang="en-US" sz="900" b="1" dirty="0">
                <a:solidFill>
                  <a:srgbClr val="213B52"/>
                </a:solidFill>
                <a:latin typeface="Aptos" pitchFamily="34" charset="0"/>
                <a:ea typeface="Aptos" pitchFamily="34" charset="-122"/>
                <a:cs typeface="Aptos" pitchFamily="34" charset="-120"/>
              </a:rPr>
              <a:t>Fare &amp; port</a:t>
            </a:r>
            <a:endParaRPr lang="en-US" sz="900" dirty="0"/>
          </a:p>
        </p:txBody>
      </p:sp>
      <p:sp>
        <p:nvSpPr>
          <p:cNvPr id="40" name="Text 38"/>
          <p:cNvSpPr/>
          <p:nvPr/>
        </p:nvSpPr>
        <p:spPr>
          <a:xfrm>
            <a:off x="9208008" y="4553712"/>
            <a:ext cx="1600200" cy="22860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Ticket fare and port</a:t>
            </a:r>
            <a:endParaRPr lang="en-US" sz="800" dirty="0"/>
          </a:p>
        </p:txBody>
      </p:sp>
      <p:sp>
        <p:nvSpPr>
          <p:cNvPr id="41" name="Text 39"/>
          <p:cNvSpPr/>
          <p:nvPr/>
        </p:nvSpPr>
        <p:spPr>
          <a:xfrm>
            <a:off x="1078992" y="5138928"/>
            <a:ext cx="9875520" cy="201168"/>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Some information is missing, so the data preparation step fills in reasonable values.</a:t>
            </a:r>
            <a:endParaRPr lang="en-US" sz="10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03 • WHAT WE NOTICED</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Survival rates were different across groups</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These are patterns in this dataset. They do not prove that one detail caused the outcome.</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804672" y="1783080"/>
            <a:ext cx="5074920" cy="3611880"/>
          </a:xfrm>
          <a:prstGeom prst="roundRect">
            <a:avLst>
              <a:gd name="adj" fmla="val 2278"/>
            </a:avLst>
          </a:prstGeom>
          <a:solidFill>
            <a:srgbClr val="FFFFFF"/>
          </a:solidFill>
          <a:ln w="10160">
            <a:solidFill>
              <a:srgbClr val="D8E0DC"/>
            </a:solidFill>
            <a:prstDash val="solid"/>
          </a:ln>
        </p:spPr>
      </p:sp>
      <p:sp>
        <p:nvSpPr>
          <p:cNvPr id="13" name="Text 11"/>
          <p:cNvSpPr/>
          <p:nvPr/>
        </p:nvSpPr>
        <p:spPr>
          <a:xfrm>
            <a:off x="1097280" y="2048256"/>
            <a:ext cx="1828800" cy="182880"/>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BY SEX</a:t>
            </a:r>
            <a:endParaRPr lang="en-US" sz="900" dirty="0"/>
          </a:p>
        </p:txBody>
      </p:sp>
      <p:sp>
        <p:nvSpPr>
          <p:cNvPr id="14" name="Text 12"/>
          <p:cNvSpPr/>
          <p:nvPr/>
        </p:nvSpPr>
        <p:spPr>
          <a:xfrm>
            <a:off x="1097280" y="2651760"/>
            <a:ext cx="1097280" cy="201168"/>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Aptos" pitchFamily="34" charset="0"/>
                <a:ea typeface="Aptos" pitchFamily="34" charset="-122"/>
                <a:cs typeface="Aptos" pitchFamily="34" charset="-120"/>
              </a:rPr>
              <a:t>Women</a:t>
            </a:r>
            <a:endParaRPr lang="en-US" sz="1100" dirty="0"/>
          </a:p>
        </p:txBody>
      </p:sp>
      <p:sp>
        <p:nvSpPr>
          <p:cNvPr id="15" name="Shape 13"/>
          <p:cNvSpPr/>
          <p:nvPr/>
        </p:nvSpPr>
        <p:spPr>
          <a:xfrm>
            <a:off x="2240280" y="2679192"/>
            <a:ext cx="2423160" cy="256032"/>
          </a:xfrm>
          <a:prstGeom prst="roundRect">
            <a:avLst>
              <a:gd name="adj" fmla="val 32143"/>
            </a:avLst>
          </a:prstGeom>
          <a:solidFill>
            <a:srgbClr val="E8EEEA"/>
          </a:solidFill>
          <a:ln w="12700">
            <a:solidFill>
              <a:srgbClr val="E8EEEA">
                <a:alpha val="0"/>
              </a:srgbClr>
            </a:solidFill>
            <a:prstDash val="solid"/>
          </a:ln>
        </p:spPr>
      </p:sp>
      <p:sp>
        <p:nvSpPr>
          <p:cNvPr id="16" name="Shape 14"/>
          <p:cNvSpPr/>
          <p:nvPr/>
        </p:nvSpPr>
        <p:spPr>
          <a:xfrm>
            <a:off x="2240280" y="2679192"/>
            <a:ext cx="1797985" cy="256032"/>
          </a:xfrm>
          <a:prstGeom prst="roundRect">
            <a:avLst>
              <a:gd name="adj" fmla="val 32143"/>
            </a:avLst>
          </a:prstGeom>
          <a:solidFill>
            <a:srgbClr val="398E82"/>
          </a:solidFill>
          <a:ln w="12700">
            <a:solidFill>
              <a:srgbClr val="398E82">
                <a:alpha val="0"/>
              </a:srgbClr>
            </a:solidFill>
            <a:prstDash val="solid"/>
          </a:ln>
        </p:spPr>
      </p:sp>
      <p:sp>
        <p:nvSpPr>
          <p:cNvPr id="17" name="Text 15"/>
          <p:cNvSpPr/>
          <p:nvPr/>
        </p:nvSpPr>
        <p:spPr>
          <a:xfrm>
            <a:off x="4754880" y="2651760"/>
            <a:ext cx="713232" cy="201168"/>
          </a:xfrm>
          <a:prstGeom prst="rect">
            <a:avLst/>
          </a:prstGeom>
          <a:noFill/>
          <a:ln/>
        </p:spPr>
        <p:txBody>
          <a:bodyPr wrap="square" lIns="0" tIns="0" rIns="0" bIns="0" rtlCol="0" anchor="ctr">
            <a:normAutofit/>
          </a:bodyPr>
          <a:lstStyle/>
          <a:p>
            <a:pPr algn="r" indent="0" marL="0">
              <a:buNone/>
            </a:pPr>
            <a:r>
              <a:rPr lang="en-US" sz="1100" b="1" dirty="0">
                <a:solidFill>
                  <a:srgbClr val="398E82"/>
                </a:solidFill>
                <a:latin typeface="Aptos" pitchFamily="34" charset="0"/>
                <a:ea typeface="Aptos" pitchFamily="34" charset="-122"/>
                <a:cs typeface="Aptos" pitchFamily="34" charset="-120"/>
              </a:rPr>
              <a:t>74.2%</a:t>
            </a:r>
            <a:endParaRPr lang="en-US" sz="1100" dirty="0"/>
          </a:p>
        </p:txBody>
      </p:sp>
      <p:sp>
        <p:nvSpPr>
          <p:cNvPr id="18" name="Text 16"/>
          <p:cNvSpPr/>
          <p:nvPr/>
        </p:nvSpPr>
        <p:spPr>
          <a:xfrm>
            <a:off x="1097280" y="3611880"/>
            <a:ext cx="1097280" cy="201168"/>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Aptos" pitchFamily="34" charset="0"/>
                <a:ea typeface="Aptos" pitchFamily="34" charset="-122"/>
                <a:cs typeface="Aptos" pitchFamily="34" charset="-120"/>
              </a:rPr>
              <a:t>Men</a:t>
            </a:r>
            <a:endParaRPr lang="en-US" sz="1100" dirty="0"/>
          </a:p>
        </p:txBody>
      </p:sp>
      <p:sp>
        <p:nvSpPr>
          <p:cNvPr id="19" name="Shape 17"/>
          <p:cNvSpPr/>
          <p:nvPr/>
        </p:nvSpPr>
        <p:spPr>
          <a:xfrm>
            <a:off x="2240280" y="3639312"/>
            <a:ext cx="2423160" cy="256032"/>
          </a:xfrm>
          <a:prstGeom prst="roundRect">
            <a:avLst>
              <a:gd name="adj" fmla="val 32143"/>
            </a:avLst>
          </a:prstGeom>
          <a:solidFill>
            <a:srgbClr val="E8EEEA"/>
          </a:solidFill>
          <a:ln w="12700">
            <a:solidFill>
              <a:srgbClr val="E8EEEA">
                <a:alpha val="0"/>
              </a:srgbClr>
            </a:solidFill>
            <a:prstDash val="solid"/>
          </a:ln>
        </p:spPr>
      </p:sp>
      <p:sp>
        <p:nvSpPr>
          <p:cNvPr id="20" name="Shape 18"/>
          <p:cNvSpPr/>
          <p:nvPr/>
        </p:nvSpPr>
        <p:spPr>
          <a:xfrm>
            <a:off x="2240280" y="3639312"/>
            <a:ext cx="457977" cy="256032"/>
          </a:xfrm>
          <a:prstGeom prst="roundRect">
            <a:avLst>
              <a:gd name="adj" fmla="val 32143"/>
            </a:avLst>
          </a:prstGeom>
          <a:solidFill>
            <a:srgbClr val="E77765"/>
          </a:solidFill>
          <a:ln w="12700">
            <a:solidFill>
              <a:srgbClr val="E77765">
                <a:alpha val="0"/>
              </a:srgbClr>
            </a:solidFill>
            <a:prstDash val="solid"/>
          </a:ln>
        </p:spPr>
      </p:sp>
      <p:sp>
        <p:nvSpPr>
          <p:cNvPr id="21" name="Text 19"/>
          <p:cNvSpPr/>
          <p:nvPr/>
        </p:nvSpPr>
        <p:spPr>
          <a:xfrm>
            <a:off x="4754880" y="3611880"/>
            <a:ext cx="713232" cy="201168"/>
          </a:xfrm>
          <a:prstGeom prst="rect">
            <a:avLst/>
          </a:prstGeom>
          <a:noFill/>
          <a:ln/>
        </p:spPr>
        <p:txBody>
          <a:bodyPr wrap="square" lIns="0" tIns="0" rIns="0" bIns="0" rtlCol="0" anchor="ctr">
            <a:normAutofit/>
          </a:bodyPr>
          <a:lstStyle/>
          <a:p>
            <a:pPr algn="r" indent="0" marL="0">
              <a:buNone/>
            </a:pPr>
            <a:r>
              <a:rPr lang="en-US" sz="1100" b="1" dirty="0">
                <a:solidFill>
                  <a:srgbClr val="E77765"/>
                </a:solidFill>
                <a:latin typeface="Aptos" pitchFamily="34" charset="0"/>
                <a:ea typeface="Aptos" pitchFamily="34" charset="-122"/>
                <a:cs typeface="Aptos" pitchFamily="34" charset="-120"/>
              </a:rPr>
              <a:t>18.9%</a:t>
            </a:r>
            <a:endParaRPr lang="en-US" sz="1100" dirty="0"/>
          </a:p>
        </p:txBody>
      </p:sp>
      <p:sp>
        <p:nvSpPr>
          <p:cNvPr id="22" name="Text 20"/>
          <p:cNvSpPr/>
          <p:nvPr/>
        </p:nvSpPr>
        <p:spPr>
          <a:xfrm>
            <a:off x="1097280" y="4754880"/>
            <a:ext cx="4389120" cy="18288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Women: 233 of 314  •  Men: 109 of 577</a:t>
            </a:r>
            <a:endParaRPr lang="en-US" sz="800" dirty="0"/>
          </a:p>
        </p:txBody>
      </p:sp>
      <p:sp>
        <p:nvSpPr>
          <p:cNvPr id="23" name="Shape 21"/>
          <p:cNvSpPr/>
          <p:nvPr/>
        </p:nvSpPr>
        <p:spPr>
          <a:xfrm>
            <a:off x="6309360" y="1783080"/>
            <a:ext cx="5074920" cy="3611880"/>
          </a:xfrm>
          <a:prstGeom prst="roundRect">
            <a:avLst>
              <a:gd name="adj" fmla="val 2278"/>
            </a:avLst>
          </a:prstGeom>
          <a:solidFill>
            <a:srgbClr val="FFFFFF"/>
          </a:solidFill>
          <a:ln w="10160">
            <a:solidFill>
              <a:srgbClr val="D8E0DC"/>
            </a:solidFill>
            <a:prstDash val="solid"/>
          </a:ln>
        </p:spPr>
      </p:sp>
      <p:sp>
        <p:nvSpPr>
          <p:cNvPr id="24" name="Text 22"/>
          <p:cNvSpPr/>
          <p:nvPr/>
        </p:nvSpPr>
        <p:spPr>
          <a:xfrm>
            <a:off x="6601968" y="2048256"/>
            <a:ext cx="2743200" cy="182880"/>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BY TICKET CLASS</a:t>
            </a:r>
            <a:endParaRPr lang="en-US" sz="900" dirty="0"/>
          </a:p>
        </p:txBody>
      </p:sp>
      <p:sp>
        <p:nvSpPr>
          <p:cNvPr id="25" name="Text 23"/>
          <p:cNvSpPr/>
          <p:nvPr/>
        </p:nvSpPr>
        <p:spPr>
          <a:xfrm>
            <a:off x="6601968" y="2542032"/>
            <a:ext cx="1280160" cy="201168"/>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1st class</a:t>
            </a:r>
            <a:endParaRPr lang="en-US" sz="1000" dirty="0"/>
          </a:p>
        </p:txBody>
      </p:sp>
      <p:sp>
        <p:nvSpPr>
          <p:cNvPr id="26" name="Shape 24"/>
          <p:cNvSpPr/>
          <p:nvPr/>
        </p:nvSpPr>
        <p:spPr>
          <a:xfrm>
            <a:off x="8046720" y="2569464"/>
            <a:ext cx="2423160" cy="237744"/>
          </a:xfrm>
          <a:prstGeom prst="roundRect">
            <a:avLst>
              <a:gd name="adj" fmla="val 34615"/>
            </a:avLst>
          </a:prstGeom>
          <a:solidFill>
            <a:srgbClr val="E8EEEA"/>
          </a:solidFill>
          <a:ln w="12700">
            <a:solidFill>
              <a:srgbClr val="E8EEEA">
                <a:alpha val="0"/>
              </a:srgbClr>
            </a:solidFill>
            <a:prstDash val="solid"/>
          </a:ln>
        </p:spPr>
      </p:sp>
      <p:sp>
        <p:nvSpPr>
          <p:cNvPr id="27" name="Shape 25"/>
          <p:cNvSpPr/>
          <p:nvPr/>
        </p:nvSpPr>
        <p:spPr>
          <a:xfrm>
            <a:off x="8046720" y="2569464"/>
            <a:ext cx="1526591" cy="237744"/>
          </a:xfrm>
          <a:prstGeom prst="roundRect">
            <a:avLst>
              <a:gd name="adj" fmla="val 34615"/>
            </a:avLst>
          </a:prstGeom>
          <a:solidFill>
            <a:srgbClr val="398E82"/>
          </a:solidFill>
          <a:ln w="12700">
            <a:solidFill>
              <a:srgbClr val="398E82">
                <a:alpha val="0"/>
              </a:srgbClr>
            </a:solidFill>
            <a:prstDash val="solid"/>
          </a:ln>
        </p:spPr>
      </p:sp>
      <p:sp>
        <p:nvSpPr>
          <p:cNvPr id="28" name="Text 26"/>
          <p:cNvSpPr/>
          <p:nvPr/>
        </p:nvSpPr>
        <p:spPr>
          <a:xfrm>
            <a:off x="10561320" y="2542032"/>
            <a:ext cx="502920" cy="201168"/>
          </a:xfrm>
          <a:prstGeom prst="rect">
            <a:avLst/>
          </a:prstGeom>
          <a:noFill/>
          <a:ln/>
        </p:spPr>
        <p:txBody>
          <a:bodyPr wrap="square" lIns="0" tIns="0" rIns="0" bIns="0" rtlCol="0" anchor="ctr">
            <a:normAutofit/>
          </a:bodyPr>
          <a:lstStyle/>
          <a:p>
            <a:pPr algn="r" indent="0" marL="0">
              <a:buNone/>
            </a:pPr>
            <a:r>
              <a:rPr lang="en-US" sz="1000" b="1" dirty="0">
                <a:solidFill>
                  <a:srgbClr val="398E82"/>
                </a:solidFill>
                <a:latin typeface="Aptos" pitchFamily="34" charset="0"/>
                <a:ea typeface="Aptos" pitchFamily="34" charset="-122"/>
                <a:cs typeface="Aptos" pitchFamily="34" charset="-120"/>
              </a:rPr>
              <a:t>63%</a:t>
            </a:r>
            <a:endParaRPr lang="en-US" sz="1000" dirty="0"/>
          </a:p>
        </p:txBody>
      </p:sp>
      <p:sp>
        <p:nvSpPr>
          <p:cNvPr id="29" name="Text 27"/>
          <p:cNvSpPr/>
          <p:nvPr/>
        </p:nvSpPr>
        <p:spPr>
          <a:xfrm>
            <a:off x="6601968" y="3273552"/>
            <a:ext cx="1280160" cy="201168"/>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2nd class</a:t>
            </a:r>
            <a:endParaRPr lang="en-US" sz="1000" dirty="0"/>
          </a:p>
        </p:txBody>
      </p:sp>
      <p:sp>
        <p:nvSpPr>
          <p:cNvPr id="30" name="Shape 28"/>
          <p:cNvSpPr/>
          <p:nvPr/>
        </p:nvSpPr>
        <p:spPr>
          <a:xfrm>
            <a:off x="8046720" y="3300984"/>
            <a:ext cx="2423160" cy="237744"/>
          </a:xfrm>
          <a:prstGeom prst="roundRect">
            <a:avLst>
              <a:gd name="adj" fmla="val 34615"/>
            </a:avLst>
          </a:prstGeom>
          <a:solidFill>
            <a:srgbClr val="E8EEEA"/>
          </a:solidFill>
          <a:ln w="12700">
            <a:solidFill>
              <a:srgbClr val="E8EEEA">
                <a:alpha val="0"/>
              </a:srgbClr>
            </a:solidFill>
            <a:prstDash val="solid"/>
          </a:ln>
        </p:spPr>
      </p:sp>
      <p:sp>
        <p:nvSpPr>
          <p:cNvPr id="31" name="Shape 29"/>
          <p:cNvSpPr/>
          <p:nvPr/>
        </p:nvSpPr>
        <p:spPr>
          <a:xfrm>
            <a:off x="8046720" y="3300984"/>
            <a:ext cx="1138885" cy="237744"/>
          </a:xfrm>
          <a:prstGeom prst="roundRect">
            <a:avLst>
              <a:gd name="adj" fmla="val 34615"/>
            </a:avLst>
          </a:prstGeom>
          <a:solidFill>
            <a:srgbClr val="D1A56A"/>
          </a:solidFill>
          <a:ln w="12700">
            <a:solidFill>
              <a:srgbClr val="D1A56A">
                <a:alpha val="0"/>
              </a:srgbClr>
            </a:solidFill>
            <a:prstDash val="solid"/>
          </a:ln>
        </p:spPr>
      </p:sp>
      <p:sp>
        <p:nvSpPr>
          <p:cNvPr id="32" name="Text 30"/>
          <p:cNvSpPr/>
          <p:nvPr/>
        </p:nvSpPr>
        <p:spPr>
          <a:xfrm>
            <a:off x="10561320" y="3273552"/>
            <a:ext cx="502920" cy="201168"/>
          </a:xfrm>
          <a:prstGeom prst="rect">
            <a:avLst/>
          </a:prstGeom>
          <a:noFill/>
          <a:ln/>
        </p:spPr>
        <p:txBody>
          <a:bodyPr wrap="square" lIns="0" tIns="0" rIns="0" bIns="0" rtlCol="0" anchor="ctr">
            <a:normAutofit/>
          </a:bodyPr>
          <a:lstStyle/>
          <a:p>
            <a:pPr algn="r" indent="0" marL="0">
              <a:buNone/>
            </a:pPr>
            <a:r>
              <a:rPr lang="en-US" sz="1000" b="1" dirty="0">
                <a:solidFill>
                  <a:srgbClr val="D1A56A"/>
                </a:solidFill>
                <a:latin typeface="Aptos" pitchFamily="34" charset="0"/>
                <a:ea typeface="Aptos" pitchFamily="34" charset="-122"/>
                <a:cs typeface="Aptos" pitchFamily="34" charset="-120"/>
              </a:rPr>
              <a:t>47%</a:t>
            </a:r>
            <a:endParaRPr lang="en-US" sz="1000" dirty="0"/>
          </a:p>
        </p:txBody>
      </p:sp>
      <p:sp>
        <p:nvSpPr>
          <p:cNvPr id="33" name="Text 31"/>
          <p:cNvSpPr/>
          <p:nvPr/>
        </p:nvSpPr>
        <p:spPr>
          <a:xfrm>
            <a:off x="6601968" y="4005072"/>
            <a:ext cx="1280160" cy="201168"/>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3rd class</a:t>
            </a:r>
            <a:endParaRPr lang="en-US" sz="1000" dirty="0"/>
          </a:p>
        </p:txBody>
      </p:sp>
      <p:sp>
        <p:nvSpPr>
          <p:cNvPr id="34" name="Shape 32"/>
          <p:cNvSpPr/>
          <p:nvPr/>
        </p:nvSpPr>
        <p:spPr>
          <a:xfrm>
            <a:off x="8046720" y="4032504"/>
            <a:ext cx="2423160" cy="237744"/>
          </a:xfrm>
          <a:prstGeom prst="roundRect">
            <a:avLst>
              <a:gd name="adj" fmla="val 34615"/>
            </a:avLst>
          </a:prstGeom>
          <a:solidFill>
            <a:srgbClr val="E8EEEA"/>
          </a:solidFill>
          <a:ln w="12700">
            <a:solidFill>
              <a:srgbClr val="E8EEEA">
                <a:alpha val="0"/>
              </a:srgbClr>
            </a:solidFill>
            <a:prstDash val="solid"/>
          </a:ln>
        </p:spPr>
      </p:sp>
      <p:sp>
        <p:nvSpPr>
          <p:cNvPr id="35" name="Shape 33"/>
          <p:cNvSpPr/>
          <p:nvPr/>
        </p:nvSpPr>
        <p:spPr>
          <a:xfrm>
            <a:off x="8046720" y="4032504"/>
            <a:ext cx="581558" cy="237744"/>
          </a:xfrm>
          <a:prstGeom prst="roundRect">
            <a:avLst>
              <a:gd name="adj" fmla="val 34615"/>
            </a:avLst>
          </a:prstGeom>
          <a:solidFill>
            <a:srgbClr val="E77765"/>
          </a:solidFill>
          <a:ln w="12700">
            <a:solidFill>
              <a:srgbClr val="E77765">
                <a:alpha val="0"/>
              </a:srgbClr>
            </a:solidFill>
            <a:prstDash val="solid"/>
          </a:ln>
        </p:spPr>
      </p:sp>
      <p:sp>
        <p:nvSpPr>
          <p:cNvPr id="36" name="Text 34"/>
          <p:cNvSpPr/>
          <p:nvPr/>
        </p:nvSpPr>
        <p:spPr>
          <a:xfrm>
            <a:off x="10561320" y="4005072"/>
            <a:ext cx="502920" cy="201168"/>
          </a:xfrm>
          <a:prstGeom prst="rect">
            <a:avLst/>
          </a:prstGeom>
          <a:noFill/>
          <a:ln/>
        </p:spPr>
        <p:txBody>
          <a:bodyPr wrap="square" lIns="0" tIns="0" rIns="0" bIns="0" rtlCol="0" anchor="ctr">
            <a:normAutofit/>
          </a:bodyPr>
          <a:lstStyle/>
          <a:p>
            <a:pPr algn="r" indent="0" marL="0">
              <a:buNone/>
            </a:pPr>
            <a:r>
              <a:rPr lang="en-US" sz="1000" b="1" dirty="0">
                <a:solidFill>
                  <a:srgbClr val="E77765"/>
                </a:solidFill>
                <a:latin typeface="Aptos" pitchFamily="34" charset="0"/>
                <a:ea typeface="Aptos" pitchFamily="34" charset="-122"/>
                <a:cs typeface="Aptos" pitchFamily="34" charset="-120"/>
              </a:rPr>
              <a:t>24%</a:t>
            </a:r>
            <a:endParaRPr lang="en-US" sz="1000" dirty="0"/>
          </a:p>
        </p:txBody>
      </p:sp>
      <p:sp>
        <p:nvSpPr>
          <p:cNvPr id="37" name="Text 35"/>
          <p:cNvSpPr/>
          <p:nvPr/>
        </p:nvSpPr>
        <p:spPr>
          <a:xfrm>
            <a:off x="6601968" y="4754880"/>
            <a:ext cx="4297680" cy="18288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The chart shows the share who survived in each group.</a:t>
            </a:r>
            <a:endParaRPr lang="en-US" sz="8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04 • HOW THE MODEL LEARNS</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Four steps turn the CSV into a prediction</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 notebook prepares the data, trains models, checks performance, and saves the selected pipeline.</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749808" y="2057400"/>
            <a:ext cx="2514600" cy="2148840"/>
          </a:xfrm>
          <a:prstGeom prst="roundRect">
            <a:avLst>
              <a:gd name="adj" fmla="val 3830"/>
            </a:avLst>
          </a:prstGeom>
          <a:solidFill>
            <a:srgbClr val="FFFFFF"/>
          </a:solidFill>
          <a:ln w="10160">
            <a:solidFill>
              <a:srgbClr val="D8E0DC"/>
            </a:solidFill>
            <a:prstDash val="solid"/>
          </a:ln>
        </p:spPr>
      </p:sp>
      <p:sp>
        <p:nvSpPr>
          <p:cNvPr id="13" name="Shape 11"/>
          <p:cNvSpPr/>
          <p:nvPr/>
        </p:nvSpPr>
        <p:spPr>
          <a:xfrm>
            <a:off x="950976" y="2304288"/>
            <a:ext cx="438912" cy="438912"/>
          </a:xfrm>
          <a:prstGeom prst="roundRect">
            <a:avLst>
              <a:gd name="adj" fmla="val 18750"/>
            </a:avLst>
          </a:prstGeom>
          <a:solidFill>
            <a:srgbClr val="398E82"/>
          </a:solidFill>
          <a:ln w="12700">
            <a:solidFill>
              <a:srgbClr val="398E82">
                <a:alpha val="0"/>
              </a:srgbClr>
            </a:solidFill>
            <a:prstDash val="solid"/>
          </a:ln>
        </p:spPr>
      </p:sp>
      <p:sp>
        <p:nvSpPr>
          <p:cNvPr id="14" name="Text 12"/>
          <p:cNvSpPr/>
          <p:nvPr/>
        </p:nvSpPr>
        <p:spPr>
          <a:xfrm>
            <a:off x="950976" y="2404872"/>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5" name="Text 13"/>
          <p:cNvSpPr/>
          <p:nvPr/>
        </p:nvSpPr>
        <p:spPr>
          <a:xfrm>
            <a:off x="950976" y="2944368"/>
            <a:ext cx="2057400" cy="301752"/>
          </a:xfrm>
          <a:prstGeom prst="rect">
            <a:avLst/>
          </a:prstGeom>
          <a:noFill/>
          <a:ln/>
        </p:spPr>
        <p:txBody>
          <a:bodyPr wrap="square" lIns="0" tIns="0" rIns="0" bIns="0" rtlCol="0" anchor="ctr">
            <a:normAutofit/>
          </a:bodyPr>
          <a:lstStyle/>
          <a:p>
            <a:pPr algn="l" indent="0" marL="0">
              <a:buNone/>
            </a:pPr>
            <a:r>
              <a:rPr lang="en-US" sz="1800" b="1" dirty="0">
                <a:solidFill>
                  <a:srgbClr val="142F49"/>
                </a:solidFill>
                <a:latin typeface="Georgia" pitchFamily="34" charset="0"/>
                <a:ea typeface="Georgia" pitchFamily="34" charset="-122"/>
                <a:cs typeface="Georgia" pitchFamily="34" charset="-120"/>
              </a:rPr>
              <a:t>Prepare</a:t>
            </a:r>
            <a:endParaRPr lang="en-US" sz="1800" dirty="0"/>
          </a:p>
        </p:txBody>
      </p:sp>
      <p:sp>
        <p:nvSpPr>
          <p:cNvPr id="16" name="Text 14"/>
          <p:cNvSpPr/>
          <p:nvPr/>
        </p:nvSpPr>
        <p:spPr>
          <a:xfrm>
            <a:off x="950976" y="3401568"/>
            <a:ext cx="2084832" cy="530352"/>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Fill missing values and turn categories into numbers.</a:t>
            </a:r>
            <a:endParaRPr lang="en-US" sz="1000" dirty="0"/>
          </a:p>
        </p:txBody>
      </p:sp>
      <p:sp>
        <p:nvSpPr>
          <p:cNvPr id="17" name="Text 15"/>
          <p:cNvSpPr/>
          <p:nvPr/>
        </p:nvSpPr>
        <p:spPr>
          <a:xfrm>
            <a:off x="3328416" y="2852928"/>
            <a:ext cx="274320" cy="310896"/>
          </a:xfrm>
          <a:prstGeom prst="rect">
            <a:avLst/>
          </a:prstGeom>
          <a:noFill/>
          <a:ln/>
        </p:spPr>
        <p:txBody>
          <a:bodyPr wrap="square" lIns="0" tIns="0" rIns="0" bIns="0" rtlCol="0" anchor="ctr">
            <a:normAutofit/>
          </a:bodyPr>
          <a:lstStyle/>
          <a:p>
            <a:pPr algn="ctr" indent="0" marL="0">
              <a:buNone/>
            </a:pPr>
            <a:r>
              <a:rPr lang="en-US" sz="2200" b="1" dirty="0">
                <a:solidFill>
                  <a:srgbClr val="D1A56A"/>
                </a:solidFill>
                <a:latin typeface="Georgia" pitchFamily="34" charset="0"/>
                <a:ea typeface="Georgia" pitchFamily="34" charset="-122"/>
                <a:cs typeface="Georgia" pitchFamily="34" charset="-120"/>
              </a:rPr>
              <a:t>→</a:t>
            </a:r>
            <a:endParaRPr lang="en-US" sz="2200" dirty="0"/>
          </a:p>
        </p:txBody>
      </p:sp>
      <p:sp>
        <p:nvSpPr>
          <p:cNvPr id="18" name="Shape 16"/>
          <p:cNvSpPr/>
          <p:nvPr/>
        </p:nvSpPr>
        <p:spPr>
          <a:xfrm>
            <a:off x="3602736" y="2057400"/>
            <a:ext cx="2514600" cy="2148840"/>
          </a:xfrm>
          <a:prstGeom prst="roundRect">
            <a:avLst>
              <a:gd name="adj" fmla="val 3830"/>
            </a:avLst>
          </a:prstGeom>
          <a:solidFill>
            <a:srgbClr val="FFFFFF"/>
          </a:solidFill>
          <a:ln w="10160">
            <a:solidFill>
              <a:srgbClr val="D8E0DC"/>
            </a:solidFill>
            <a:prstDash val="solid"/>
          </a:ln>
        </p:spPr>
      </p:sp>
      <p:sp>
        <p:nvSpPr>
          <p:cNvPr id="19" name="Shape 17"/>
          <p:cNvSpPr/>
          <p:nvPr/>
        </p:nvSpPr>
        <p:spPr>
          <a:xfrm>
            <a:off x="3803904" y="2304288"/>
            <a:ext cx="438912" cy="438912"/>
          </a:xfrm>
          <a:prstGeom prst="roundRect">
            <a:avLst>
              <a:gd name="adj" fmla="val 18750"/>
            </a:avLst>
          </a:prstGeom>
          <a:solidFill>
            <a:srgbClr val="398E82"/>
          </a:solidFill>
          <a:ln w="12700">
            <a:solidFill>
              <a:srgbClr val="398E82">
                <a:alpha val="0"/>
              </a:srgbClr>
            </a:solidFill>
            <a:prstDash val="solid"/>
          </a:ln>
        </p:spPr>
      </p:sp>
      <p:sp>
        <p:nvSpPr>
          <p:cNvPr id="20" name="Text 18"/>
          <p:cNvSpPr/>
          <p:nvPr/>
        </p:nvSpPr>
        <p:spPr>
          <a:xfrm>
            <a:off x="3803904" y="2404872"/>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21" name="Text 19"/>
          <p:cNvSpPr/>
          <p:nvPr/>
        </p:nvSpPr>
        <p:spPr>
          <a:xfrm>
            <a:off x="3803904" y="2944368"/>
            <a:ext cx="2057400" cy="301752"/>
          </a:xfrm>
          <a:prstGeom prst="rect">
            <a:avLst/>
          </a:prstGeom>
          <a:noFill/>
          <a:ln/>
        </p:spPr>
        <p:txBody>
          <a:bodyPr wrap="square" lIns="0" tIns="0" rIns="0" bIns="0" rtlCol="0" anchor="ctr">
            <a:normAutofit/>
          </a:bodyPr>
          <a:lstStyle/>
          <a:p>
            <a:pPr algn="l" indent="0" marL="0">
              <a:buNone/>
            </a:pPr>
            <a:r>
              <a:rPr lang="en-US" sz="1800" b="1" dirty="0">
                <a:solidFill>
                  <a:srgbClr val="142F49"/>
                </a:solidFill>
                <a:latin typeface="Georgia" pitchFamily="34" charset="0"/>
                <a:ea typeface="Georgia" pitchFamily="34" charset="-122"/>
                <a:cs typeface="Georgia" pitchFamily="34" charset="-120"/>
              </a:rPr>
              <a:t>Learn</a:t>
            </a:r>
            <a:endParaRPr lang="en-US" sz="1800" dirty="0"/>
          </a:p>
        </p:txBody>
      </p:sp>
      <p:sp>
        <p:nvSpPr>
          <p:cNvPr id="22" name="Text 20"/>
          <p:cNvSpPr/>
          <p:nvPr/>
        </p:nvSpPr>
        <p:spPr>
          <a:xfrm>
            <a:off x="3803904" y="3401568"/>
            <a:ext cx="2084832" cy="530352"/>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Train models using passenger records and outcomes.</a:t>
            </a:r>
            <a:endParaRPr lang="en-US" sz="1000" dirty="0"/>
          </a:p>
        </p:txBody>
      </p:sp>
      <p:sp>
        <p:nvSpPr>
          <p:cNvPr id="23" name="Text 21"/>
          <p:cNvSpPr/>
          <p:nvPr/>
        </p:nvSpPr>
        <p:spPr>
          <a:xfrm>
            <a:off x="6181344" y="2852928"/>
            <a:ext cx="274320" cy="310896"/>
          </a:xfrm>
          <a:prstGeom prst="rect">
            <a:avLst/>
          </a:prstGeom>
          <a:noFill/>
          <a:ln/>
        </p:spPr>
        <p:txBody>
          <a:bodyPr wrap="square" lIns="0" tIns="0" rIns="0" bIns="0" rtlCol="0" anchor="ctr">
            <a:normAutofit/>
          </a:bodyPr>
          <a:lstStyle/>
          <a:p>
            <a:pPr algn="ctr" indent="0" marL="0">
              <a:buNone/>
            </a:pPr>
            <a:r>
              <a:rPr lang="en-US" sz="2200" b="1" dirty="0">
                <a:solidFill>
                  <a:srgbClr val="D1A56A"/>
                </a:solidFill>
                <a:latin typeface="Georgia" pitchFamily="34" charset="0"/>
                <a:ea typeface="Georgia" pitchFamily="34" charset="-122"/>
                <a:cs typeface="Georgia" pitchFamily="34" charset="-120"/>
              </a:rPr>
              <a:t>→</a:t>
            </a:r>
            <a:endParaRPr lang="en-US" sz="2200" dirty="0"/>
          </a:p>
        </p:txBody>
      </p:sp>
      <p:sp>
        <p:nvSpPr>
          <p:cNvPr id="24" name="Shape 22"/>
          <p:cNvSpPr/>
          <p:nvPr/>
        </p:nvSpPr>
        <p:spPr>
          <a:xfrm>
            <a:off x="6455664" y="2057400"/>
            <a:ext cx="2514600" cy="2148840"/>
          </a:xfrm>
          <a:prstGeom prst="roundRect">
            <a:avLst>
              <a:gd name="adj" fmla="val 3830"/>
            </a:avLst>
          </a:prstGeom>
          <a:solidFill>
            <a:srgbClr val="FFFFFF"/>
          </a:solidFill>
          <a:ln w="10160">
            <a:solidFill>
              <a:srgbClr val="D8E0DC"/>
            </a:solidFill>
            <a:prstDash val="solid"/>
          </a:ln>
        </p:spPr>
      </p:sp>
      <p:sp>
        <p:nvSpPr>
          <p:cNvPr id="25" name="Shape 23"/>
          <p:cNvSpPr/>
          <p:nvPr/>
        </p:nvSpPr>
        <p:spPr>
          <a:xfrm>
            <a:off x="6656832" y="2304288"/>
            <a:ext cx="438912" cy="438912"/>
          </a:xfrm>
          <a:prstGeom prst="roundRect">
            <a:avLst>
              <a:gd name="adj" fmla="val 18750"/>
            </a:avLst>
          </a:prstGeom>
          <a:solidFill>
            <a:srgbClr val="398E82"/>
          </a:solidFill>
          <a:ln w="12700">
            <a:solidFill>
              <a:srgbClr val="398E82">
                <a:alpha val="0"/>
              </a:srgbClr>
            </a:solidFill>
            <a:prstDash val="solid"/>
          </a:ln>
        </p:spPr>
      </p:sp>
      <p:sp>
        <p:nvSpPr>
          <p:cNvPr id="26" name="Text 24"/>
          <p:cNvSpPr/>
          <p:nvPr/>
        </p:nvSpPr>
        <p:spPr>
          <a:xfrm>
            <a:off x="6656832" y="2404872"/>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7" name="Text 25"/>
          <p:cNvSpPr/>
          <p:nvPr/>
        </p:nvSpPr>
        <p:spPr>
          <a:xfrm>
            <a:off x="6656832" y="2944368"/>
            <a:ext cx="2057400" cy="301752"/>
          </a:xfrm>
          <a:prstGeom prst="rect">
            <a:avLst/>
          </a:prstGeom>
          <a:noFill/>
          <a:ln/>
        </p:spPr>
        <p:txBody>
          <a:bodyPr wrap="square" lIns="0" tIns="0" rIns="0" bIns="0" rtlCol="0" anchor="ctr">
            <a:normAutofit/>
          </a:bodyPr>
          <a:lstStyle/>
          <a:p>
            <a:pPr algn="l" indent="0" marL="0">
              <a:buNone/>
            </a:pPr>
            <a:r>
              <a:rPr lang="en-US" sz="1800" b="1" dirty="0">
                <a:solidFill>
                  <a:srgbClr val="142F49"/>
                </a:solidFill>
                <a:latin typeface="Georgia" pitchFamily="34" charset="0"/>
                <a:ea typeface="Georgia" pitchFamily="34" charset="-122"/>
                <a:cs typeface="Georgia" pitchFamily="34" charset="-120"/>
              </a:rPr>
              <a:t>Check</a:t>
            </a:r>
            <a:endParaRPr lang="en-US" sz="1800" dirty="0"/>
          </a:p>
        </p:txBody>
      </p:sp>
      <p:sp>
        <p:nvSpPr>
          <p:cNvPr id="28" name="Text 26"/>
          <p:cNvSpPr/>
          <p:nvPr/>
        </p:nvSpPr>
        <p:spPr>
          <a:xfrm>
            <a:off x="6656832" y="3401568"/>
            <a:ext cx="2084832" cy="530352"/>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Test on records the model did not learn from.</a:t>
            </a:r>
            <a:endParaRPr lang="en-US" sz="1000" dirty="0"/>
          </a:p>
        </p:txBody>
      </p:sp>
      <p:sp>
        <p:nvSpPr>
          <p:cNvPr id="29" name="Text 27"/>
          <p:cNvSpPr/>
          <p:nvPr/>
        </p:nvSpPr>
        <p:spPr>
          <a:xfrm>
            <a:off x="9034272" y="2852928"/>
            <a:ext cx="274320" cy="310896"/>
          </a:xfrm>
          <a:prstGeom prst="rect">
            <a:avLst/>
          </a:prstGeom>
          <a:noFill/>
          <a:ln/>
        </p:spPr>
        <p:txBody>
          <a:bodyPr wrap="square" lIns="0" tIns="0" rIns="0" bIns="0" rtlCol="0" anchor="ctr">
            <a:normAutofit/>
          </a:bodyPr>
          <a:lstStyle/>
          <a:p>
            <a:pPr algn="ctr" indent="0" marL="0">
              <a:buNone/>
            </a:pPr>
            <a:r>
              <a:rPr lang="en-US" sz="2200" b="1" dirty="0">
                <a:solidFill>
                  <a:srgbClr val="D1A56A"/>
                </a:solidFill>
                <a:latin typeface="Georgia" pitchFamily="34" charset="0"/>
                <a:ea typeface="Georgia" pitchFamily="34" charset="-122"/>
                <a:cs typeface="Georgia" pitchFamily="34" charset="-120"/>
              </a:rPr>
              <a:t>→</a:t>
            </a:r>
            <a:endParaRPr lang="en-US" sz="2200" dirty="0"/>
          </a:p>
        </p:txBody>
      </p:sp>
      <p:sp>
        <p:nvSpPr>
          <p:cNvPr id="30" name="Shape 28"/>
          <p:cNvSpPr/>
          <p:nvPr/>
        </p:nvSpPr>
        <p:spPr>
          <a:xfrm>
            <a:off x="9308592" y="2057400"/>
            <a:ext cx="2514600" cy="2148840"/>
          </a:xfrm>
          <a:prstGeom prst="roundRect">
            <a:avLst>
              <a:gd name="adj" fmla="val 3830"/>
            </a:avLst>
          </a:prstGeom>
          <a:solidFill>
            <a:srgbClr val="142F49"/>
          </a:solidFill>
          <a:ln w="10160">
            <a:solidFill>
              <a:srgbClr val="142F49"/>
            </a:solidFill>
            <a:prstDash val="solid"/>
          </a:ln>
        </p:spPr>
      </p:sp>
      <p:sp>
        <p:nvSpPr>
          <p:cNvPr id="31" name="Shape 29"/>
          <p:cNvSpPr/>
          <p:nvPr/>
        </p:nvSpPr>
        <p:spPr>
          <a:xfrm>
            <a:off x="9509760" y="2304288"/>
            <a:ext cx="438912" cy="438912"/>
          </a:xfrm>
          <a:prstGeom prst="roundRect">
            <a:avLst>
              <a:gd name="adj" fmla="val 18750"/>
            </a:avLst>
          </a:prstGeom>
          <a:solidFill>
            <a:srgbClr val="E77765"/>
          </a:solidFill>
          <a:ln w="12700">
            <a:solidFill>
              <a:srgbClr val="E77765">
                <a:alpha val="0"/>
              </a:srgbClr>
            </a:solidFill>
            <a:prstDash val="solid"/>
          </a:ln>
        </p:spPr>
      </p:sp>
      <p:sp>
        <p:nvSpPr>
          <p:cNvPr id="32" name="Text 30"/>
          <p:cNvSpPr/>
          <p:nvPr/>
        </p:nvSpPr>
        <p:spPr>
          <a:xfrm>
            <a:off x="9509760" y="2404872"/>
            <a:ext cx="438912" cy="1828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33" name="Text 31"/>
          <p:cNvSpPr/>
          <p:nvPr/>
        </p:nvSpPr>
        <p:spPr>
          <a:xfrm>
            <a:off x="9509760" y="2944368"/>
            <a:ext cx="2057400" cy="301752"/>
          </a:xfrm>
          <a:prstGeom prst="rect">
            <a:avLst/>
          </a:prstGeom>
          <a:noFill/>
          <a:ln/>
        </p:spPr>
        <p:txBody>
          <a:bodyPr wrap="square" lIns="0" tIns="0" rIns="0" bIns="0" rtlCol="0" anchor="ctr">
            <a:normAutofit/>
          </a:bodyPr>
          <a:lstStyle/>
          <a:p>
            <a:pPr algn="l" indent="0" marL="0">
              <a:buNone/>
            </a:pPr>
            <a:r>
              <a:rPr lang="en-US" sz="1800" b="1" dirty="0">
                <a:solidFill>
                  <a:srgbClr val="FAF8F1"/>
                </a:solidFill>
                <a:latin typeface="Georgia" pitchFamily="34" charset="0"/>
                <a:ea typeface="Georgia" pitchFamily="34" charset="-122"/>
                <a:cs typeface="Georgia" pitchFamily="34" charset="-120"/>
              </a:rPr>
              <a:t>Use</a:t>
            </a:r>
            <a:endParaRPr lang="en-US" sz="1800" dirty="0"/>
          </a:p>
        </p:txBody>
      </p:sp>
      <p:sp>
        <p:nvSpPr>
          <p:cNvPr id="34" name="Text 32"/>
          <p:cNvSpPr/>
          <p:nvPr/>
        </p:nvSpPr>
        <p:spPr>
          <a:xfrm>
            <a:off x="9509760" y="3401568"/>
            <a:ext cx="2084832" cy="530352"/>
          </a:xfrm>
          <a:prstGeom prst="rect">
            <a:avLst/>
          </a:prstGeom>
          <a:noFill/>
          <a:ln/>
        </p:spPr>
        <p:txBody>
          <a:bodyPr wrap="square" lIns="0" tIns="0" rIns="0" bIns="0" rtlCol="0" anchor="ctr">
            <a:normAutofit/>
          </a:bodyPr>
          <a:lstStyle/>
          <a:p>
            <a:pPr algn="l" indent="0" marL="0">
              <a:buNone/>
            </a:pPr>
            <a:r>
              <a:rPr lang="en-US" sz="1000" dirty="0">
                <a:solidFill>
                  <a:srgbClr val="D5E2DE"/>
                </a:solidFill>
                <a:latin typeface="Aptos" pitchFamily="34" charset="0"/>
                <a:ea typeface="Aptos" pitchFamily="34" charset="-122"/>
                <a:cs typeface="Aptos" pitchFamily="34" charset="-120"/>
              </a:rPr>
              <a:t>Save the pipeline and connect it to the website.</a:t>
            </a:r>
            <a:endParaRPr lang="en-US" sz="1000" dirty="0"/>
          </a:p>
        </p:txBody>
      </p:sp>
      <p:sp>
        <p:nvSpPr>
          <p:cNvPr id="35" name="Shape 33"/>
          <p:cNvSpPr/>
          <p:nvPr/>
        </p:nvSpPr>
        <p:spPr>
          <a:xfrm>
            <a:off x="786384" y="4800600"/>
            <a:ext cx="10561320" cy="658368"/>
          </a:xfrm>
          <a:prstGeom prst="roundRect">
            <a:avLst>
              <a:gd name="adj" fmla="val 12500"/>
            </a:avLst>
          </a:prstGeom>
          <a:solidFill>
            <a:srgbClr val="E3F0E9"/>
          </a:solidFill>
          <a:ln w="12700">
            <a:solidFill>
              <a:srgbClr val="E3F0E9">
                <a:alpha val="0"/>
              </a:srgbClr>
            </a:solidFill>
            <a:prstDash val="solid"/>
          </a:ln>
        </p:spPr>
      </p:sp>
      <p:sp>
        <p:nvSpPr>
          <p:cNvPr id="36" name="Text 34"/>
          <p:cNvSpPr/>
          <p:nvPr/>
        </p:nvSpPr>
        <p:spPr>
          <a:xfrm>
            <a:off x="1024128" y="5020056"/>
            <a:ext cx="9966960" cy="201168"/>
          </a:xfrm>
          <a:prstGeom prst="rect">
            <a:avLst/>
          </a:prstGeom>
          <a:noFill/>
          <a:ln/>
        </p:spPr>
        <p:txBody>
          <a:bodyPr wrap="square" lIns="0" tIns="0" rIns="0" bIns="0" rtlCol="0" anchor="ctr">
            <a:normAutofit/>
          </a:bodyPr>
          <a:lstStyle/>
          <a:p>
            <a:pPr algn="l" indent="0" marL="0">
              <a:buNone/>
            </a:pPr>
            <a:r>
              <a:rPr lang="en-US" sz="1000" dirty="0">
                <a:solidFill>
                  <a:srgbClr val="213B52"/>
                </a:solidFill>
                <a:latin typeface="Aptos" pitchFamily="34" charset="0"/>
                <a:ea typeface="Aptos" pitchFamily="34" charset="-122"/>
                <a:cs typeface="Aptos" pitchFamily="34" charset="-120"/>
              </a:rPr>
              <a:t>A family-size feature combines the number of parents/children and siblings/spouses.</a:t>
            </a:r>
            <a:endParaRPr lang="en-US" sz="10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05 • MODEL RESULTS</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The model got about 8 out of 10 test records right</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This score comes from a held-out validation set of 179 passengers.</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822960" y="1828800"/>
            <a:ext cx="3246120" cy="1417320"/>
          </a:xfrm>
          <a:prstGeom prst="roundRect">
            <a:avLst>
              <a:gd name="adj" fmla="val 5806"/>
            </a:avLst>
          </a:prstGeom>
          <a:solidFill>
            <a:srgbClr val="FFFFFF"/>
          </a:solidFill>
          <a:ln w="10160">
            <a:solidFill>
              <a:srgbClr val="D8E0DC"/>
            </a:solidFill>
            <a:prstDash val="solid"/>
          </a:ln>
        </p:spPr>
      </p:sp>
      <p:sp>
        <p:nvSpPr>
          <p:cNvPr id="13" name="Text 11"/>
          <p:cNvSpPr/>
          <p:nvPr/>
        </p:nvSpPr>
        <p:spPr>
          <a:xfrm>
            <a:off x="987552" y="1956816"/>
            <a:ext cx="2916936" cy="384048"/>
          </a:xfrm>
          <a:prstGeom prst="rect">
            <a:avLst/>
          </a:prstGeom>
          <a:noFill/>
          <a:ln/>
        </p:spPr>
        <p:txBody>
          <a:bodyPr wrap="square" lIns="0" tIns="0" rIns="0" bIns="0" rtlCol="0" anchor="ctr">
            <a:normAutofit/>
          </a:bodyPr>
          <a:lstStyle/>
          <a:p>
            <a:pPr algn="l" indent="0" marL="0">
              <a:buNone/>
            </a:pPr>
            <a:r>
              <a:rPr lang="en-US" sz="2400" b="1" dirty="0">
                <a:solidFill>
                  <a:srgbClr val="398E82"/>
                </a:solidFill>
                <a:latin typeface="Georgia" pitchFamily="34" charset="0"/>
                <a:ea typeface="Georgia" pitchFamily="34" charset="-122"/>
                <a:cs typeface="Georgia" pitchFamily="34" charset="-120"/>
              </a:rPr>
              <a:t>79.9%</a:t>
            </a:r>
            <a:endParaRPr lang="en-US" sz="2400" dirty="0"/>
          </a:p>
        </p:txBody>
      </p:sp>
      <p:sp>
        <p:nvSpPr>
          <p:cNvPr id="14" name="Text 12"/>
          <p:cNvSpPr/>
          <p:nvPr/>
        </p:nvSpPr>
        <p:spPr>
          <a:xfrm>
            <a:off x="987552" y="2404872"/>
            <a:ext cx="2916936" cy="182880"/>
          </a:xfrm>
          <a:prstGeom prst="rect">
            <a:avLst/>
          </a:prstGeom>
          <a:noFill/>
          <a:ln/>
        </p:spPr>
        <p:txBody>
          <a:bodyPr wrap="square" lIns="0" tIns="0" rIns="0" bIns="0" rtlCol="0" anchor="ctr">
            <a:normAutofit/>
          </a:bodyPr>
          <a:lstStyle/>
          <a:p>
            <a:pPr algn="l" indent="0" marL="0">
              <a:buNone/>
            </a:pPr>
            <a:r>
              <a:rPr lang="en-US" sz="800" b="1" dirty="0">
                <a:solidFill>
                  <a:srgbClr val="213B52"/>
                </a:solidFill>
                <a:latin typeface="Aptos" pitchFamily="34" charset="0"/>
                <a:ea typeface="Aptos" pitchFamily="34" charset="-122"/>
                <a:cs typeface="Aptos" pitchFamily="34" charset="-120"/>
              </a:rPr>
              <a:t>ACCURACY</a:t>
            </a:r>
            <a:endParaRPr lang="en-US" sz="800" dirty="0"/>
          </a:p>
        </p:txBody>
      </p:sp>
      <p:sp>
        <p:nvSpPr>
          <p:cNvPr id="15" name="Text 13"/>
          <p:cNvSpPr/>
          <p:nvPr/>
        </p:nvSpPr>
        <p:spPr>
          <a:xfrm>
            <a:off x="987552" y="2660904"/>
            <a:ext cx="2916936" cy="48463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143 of 179 predictions were correct</a:t>
            </a:r>
            <a:endParaRPr lang="en-US" sz="800" dirty="0"/>
          </a:p>
        </p:txBody>
      </p:sp>
      <p:sp>
        <p:nvSpPr>
          <p:cNvPr id="16" name="Shape 14"/>
          <p:cNvSpPr/>
          <p:nvPr/>
        </p:nvSpPr>
        <p:spPr>
          <a:xfrm>
            <a:off x="4480560" y="1828800"/>
            <a:ext cx="3246120" cy="1417320"/>
          </a:xfrm>
          <a:prstGeom prst="roundRect">
            <a:avLst>
              <a:gd name="adj" fmla="val 5806"/>
            </a:avLst>
          </a:prstGeom>
          <a:solidFill>
            <a:srgbClr val="FFFFFF"/>
          </a:solidFill>
          <a:ln w="10160">
            <a:solidFill>
              <a:srgbClr val="D8E0DC"/>
            </a:solidFill>
            <a:prstDash val="solid"/>
          </a:ln>
        </p:spPr>
      </p:sp>
      <p:sp>
        <p:nvSpPr>
          <p:cNvPr id="17" name="Text 15"/>
          <p:cNvSpPr/>
          <p:nvPr/>
        </p:nvSpPr>
        <p:spPr>
          <a:xfrm>
            <a:off x="4645152" y="1956816"/>
            <a:ext cx="2916936" cy="384048"/>
          </a:xfrm>
          <a:prstGeom prst="rect">
            <a:avLst/>
          </a:prstGeom>
          <a:noFill/>
          <a:ln/>
        </p:spPr>
        <p:txBody>
          <a:bodyPr wrap="square" lIns="0" tIns="0" rIns="0" bIns="0" rtlCol="0" anchor="ctr">
            <a:normAutofit/>
          </a:bodyPr>
          <a:lstStyle/>
          <a:p>
            <a:pPr algn="l" indent="0" marL="0">
              <a:buNone/>
            </a:pPr>
            <a:r>
              <a:rPr lang="en-US" sz="2400" b="1" dirty="0">
                <a:solidFill>
                  <a:srgbClr val="142F49"/>
                </a:solidFill>
                <a:latin typeface="Georgia" pitchFamily="34" charset="0"/>
                <a:ea typeface="Georgia" pitchFamily="34" charset="-122"/>
                <a:cs typeface="Georgia" pitchFamily="34" charset="-120"/>
              </a:rPr>
              <a:t>43 of 69</a:t>
            </a:r>
            <a:endParaRPr lang="en-US" sz="2400" dirty="0"/>
          </a:p>
        </p:txBody>
      </p:sp>
      <p:sp>
        <p:nvSpPr>
          <p:cNvPr id="18" name="Text 16"/>
          <p:cNvSpPr/>
          <p:nvPr/>
        </p:nvSpPr>
        <p:spPr>
          <a:xfrm>
            <a:off x="4645152" y="2404872"/>
            <a:ext cx="2916936" cy="182880"/>
          </a:xfrm>
          <a:prstGeom prst="rect">
            <a:avLst/>
          </a:prstGeom>
          <a:noFill/>
          <a:ln/>
        </p:spPr>
        <p:txBody>
          <a:bodyPr wrap="square" lIns="0" tIns="0" rIns="0" bIns="0" rtlCol="0" anchor="ctr">
            <a:normAutofit/>
          </a:bodyPr>
          <a:lstStyle/>
          <a:p>
            <a:pPr algn="l" indent="0" marL="0">
              <a:buNone/>
            </a:pPr>
            <a:r>
              <a:rPr lang="en-US" sz="800" b="1" dirty="0">
                <a:solidFill>
                  <a:srgbClr val="213B52"/>
                </a:solidFill>
                <a:latin typeface="Aptos" pitchFamily="34" charset="0"/>
                <a:ea typeface="Aptos" pitchFamily="34" charset="-122"/>
                <a:cs typeface="Aptos" pitchFamily="34" charset="-120"/>
              </a:rPr>
              <a:t>SURVIVORS FOUND</a:t>
            </a:r>
            <a:endParaRPr lang="en-US" sz="800" dirty="0"/>
          </a:p>
        </p:txBody>
      </p:sp>
      <p:sp>
        <p:nvSpPr>
          <p:cNvPr id="19" name="Text 17"/>
          <p:cNvSpPr/>
          <p:nvPr/>
        </p:nvSpPr>
        <p:spPr>
          <a:xfrm>
            <a:off x="4645152" y="2660904"/>
            <a:ext cx="2916936" cy="48463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The model found about 6 in 10 survivors</a:t>
            </a:r>
            <a:endParaRPr lang="en-US" sz="800" dirty="0"/>
          </a:p>
        </p:txBody>
      </p:sp>
      <p:sp>
        <p:nvSpPr>
          <p:cNvPr id="20" name="Shape 18"/>
          <p:cNvSpPr/>
          <p:nvPr/>
        </p:nvSpPr>
        <p:spPr>
          <a:xfrm>
            <a:off x="8138160" y="1828800"/>
            <a:ext cx="3246120" cy="1417320"/>
          </a:xfrm>
          <a:prstGeom prst="roundRect">
            <a:avLst>
              <a:gd name="adj" fmla="val 5806"/>
            </a:avLst>
          </a:prstGeom>
          <a:solidFill>
            <a:srgbClr val="FFFFFF"/>
          </a:solidFill>
          <a:ln w="10160">
            <a:solidFill>
              <a:srgbClr val="D8E0DC"/>
            </a:solidFill>
            <a:prstDash val="solid"/>
          </a:ln>
        </p:spPr>
      </p:sp>
      <p:sp>
        <p:nvSpPr>
          <p:cNvPr id="21" name="Text 19"/>
          <p:cNvSpPr/>
          <p:nvPr/>
        </p:nvSpPr>
        <p:spPr>
          <a:xfrm>
            <a:off x="8302752" y="1956816"/>
            <a:ext cx="2916936" cy="384048"/>
          </a:xfrm>
          <a:prstGeom prst="rect">
            <a:avLst/>
          </a:prstGeom>
          <a:noFill/>
          <a:ln/>
        </p:spPr>
        <p:txBody>
          <a:bodyPr wrap="square" lIns="0" tIns="0" rIns="0" bIns="0" rtlCol="0" anchor="ctr">
            <a:normAutofit/>
          </a:bodyPr>
          <a:lstStyle/>
          <a:p>
            <a:pPr algn="l" indent="0" marL="0">
              <a:buNone/>
            </a:pPr>
            <a:r>
              <a:rPr lang="en-US" sz="2400" b="1" dirty="0">
                <a:solidFill>
                  <a:srgbClr val="E77765"/>
                </a:solidFill>
                <a:latin typeface="Georgia" pitchFamily="34" charset="0"/>
                <a:ea typeface="Georgia" pitchFamily="34" charset="-122"/>
                <a:cs typeface="Georgia" pitchFamily="34" charset="-120"/>
              </a:rPr>
              <a:t>26</a:t>
            </a:r>
            <a:endParaRPr lang="en-US" sz="2400" dirty="0"/>
          </a:p>
        </p:txBody>
      </p:sp>
      <p:sp>
        <p:nvSpPr>
          <p:cNvPr id="22" name="Text 20"/>
          <p:cNvSpPr/>
          <p:nvPr/>
        </p:nvSpPr>
        <p:spPr>
          <a:xfrm>
            <a:off x="8302752" y="2404872"/>
            <a:ext cx="2916936" cy="182880"/>
          </a:xfrm>
          <a:prstGeom prst="rect">
            <a:avLst/>
          </a:prstGeom>
          <a:noFill/>
          <a:ln/>
        </p:spPr>
        <p:txBody>
          <a:bodyPr wrap="square" lIns="0" tIns="0" rIns="0" bIns="0" rtlCol="0" anchor="ctr">
            <a:normAutofit/>
          </a:bodyPr>
          <a:lstStyle/>
          <a:p>
            <a:pPr algn="l" indent="0" marL="0">
              <a:buNone/>
            </a:pPr>
            <a:r>
              <a:rPr lang="en-US" sz="800" b="1" dirty="0">
                <a:solidFill>
                  <a:srgbClr val="213B52"/>
                </a:solidFill>
                <a:latin typeface="Aptos" pitchFamily="34" charset="0"/>
                <a:ea typeface="Aptos" pitchFamily="34" charset="-122"/>
                <a:cs typeface="Aptos" pitchFamily="34" charset="-120"/>
              </a:rPr>
              <a:t>SURVIVORS MISSED</a:t>
            </a:r>
            <a:endParaRPr lang="en-US" sz="800" dirty="0"/>
          </a:p>
        </p:txBody>
      </p:sp>
      <p:sp>
        <p:nvSpPr>
          <p:cNvPr id="23" name="Text 21"/>
          <p:cNvSpPr/>
          <p:nvPr/>
        </p:nvSpPr>
        <p:spPr>
          <a:xfrm>
            <a:off x="8302752" y="2660904"/>
            <a:ext cx="2916936" cy="48463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These are called false negatives</a:t>
            </a:r>
            <a:endParaRPr lang="en-US" sz="800" dirty="0"/>
          </a:p>
        </p:txBody>
      </p:sp>
      <p:sp>
        <p:nvSpPr>
          <p:cNvPr id="24" name="Shape 22"/>
          <p:cNvSpPr/>
          <p:nvPr/>
        </p:nvSpPr>
        <p:spPr>
          <a:xfrm>
            <a:off x="822960" y="3794760"/>
            <a:ext cx="10561320" cy="1234440"/>
          </a:xfrm>
          <a:prstGeom prst="roundRect">
            <a:avLst>
              <a:gd name="adj" fmla="val 6667"/>
            </a:avLst>
          </a:prstGeom>
          <a:solidFill>
            <a:srgbClr val="142F49"/>
          </a:solidFill>
          <a:ln w="12700">
            <a:solidFill>
              <a:srgbClr val="142F49">
                <a:alpha val="0"/>
              </a:srgbClr>
            </a:solidFill>
            <a:prstDash val="solid"/>
          </a:ln>
        </p:spPr>
      </p:sp>
      <p:sp>
        <p:nvSpPr>
          <p:cNvPr id="25" name="Text 23"/>
          <p:cNvSpPr/>
          <p:nvPr/>
        </p:nvSpPr>
        <p:spPr>
          <a:xfrm>
            <a:off x="1133856" y="4059936"/>
            <a:ext cx="1920240" cy="182880"/>
          </a:xfrm>
          <a:prstGeom prst="rect">
            <a:avLst/>
          </a:prstGeom>
          <a:noFill/>
          <a:ln/>
        </p:spPr>
        <p:txBody>
          <a:bodyPr wrap="square" lIns="0" tIns="0" rIns="0" bIns="0" rtlCol="0" anchor="ctr">
            <a:normAutofit/>
          </a:bodyPr>
          <a:lstStyle/>
          <a:p>
            <a:pPr algn="l" indent="0" marL="0">
              <a:buNone/>
            </a:pPr>
            <a:r>
              <a:rPr lang="en-US" sz="900" b="1" dirty="0">
                <a:solidFill>
                  <a:srgbClr val="D1A56A"/>
                </a:solidFill>
                <a:latin typeface="Aptos" pitchFamily="34" charset="0"/>
                <a:ea typeface="Aptos" pitchFamily="34" charset="-122"/>
                <a:cs typeface="Aptos" pitchFamily="34" charset="-120"/>
              </a:rPr>
              <a:t>WHAT THIS MEANS</a:t>
            </a:r>
            <a:endParaRPr lang="en-US" sz="900" dirty="0"/>
          </a:p>
        </p:txBody>
      </p:sp>
      <p:sp>
        <p:nvSpPr>
          <p:cNvPr id="26" name="Text 24"/>
          <p:cNvSpPr/>
          <p:nvPr/>
        </p:nvSpPr>
        <p:spPr>
          <a:xfrm>
            <a:off x="1133856" y="4407408"/>
            <a:ext cx="9052560" cy="320040"/>
          </a:xfrm>
          <a:prstGeom prst="rect">
            <a:avLst/>
          </a:prstGeom>
          <a:noFill/>
          <a:ln/>
        </p:spPr>
        <p:txBody>
          <a:bodyPr wrap="square" lIns="0" tIns="0" rIns="0" bIns="0" rtlCol="0" anchor="ctr">
            <a:normAutofit/>
          </a:bodyPr>
          <a:lstStyle/>
          <a:p>
            <a:pPr algn="l" indent="0" marL="0">
              <a:buNone/>
            </a:pPr>
            <a:r>
              <a:rPr lang="en-US" sz="1900" b="1" dirty="0">
                <a:solidFill>
                  <a:srgbClr val="FAF8F1"/>
                </a:solidFill>
                <a:latin typeface="Georgia" pitchFamily="34" charset="0"/>
                <a:ea typeface="Georgia" pitchFamily="34" charset="-122"/>
                <a:cs typeface="Georgia" pitchFamily="34" charset="-120"/>
              </a:rPr>
              <a:t>The estimate can be useful for a class demo, but it can be wrong.</a:t>
            </a:r>
            <a:endParaRPr lang="en-US" sz="1900" dirty="0"/>
          </a:p>
        </p:txBody>
      </p:sp>
      <p:sp>
        <p:nvSpPr>
          <p:cNvPr id="27" name="Text 25"/>
          <p:cNvSpPr/>
          <p:nvPr/>
        </p:nvSpPr>
        <p:spPr>
          <a:xfrm>
            <a:off x="914400" y="5303520"/>
            <a:ext cx="9875520" cy="219456"/>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A simple majority guess got 61.5% accuracy, so the model improved on that baseline.</a:t>
            </a:r>
            <a:endParaRPr lang="en-US" sz="10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06 • THE WEBSITE</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A website makes the project easy to try</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Enter passenger details, explore the dataset, or read how the model works.</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713232" y="1755648"/>
            <a:ext cx="3529584" cy="3182112"/>
          </a:xfrm>
          <a:prstGeom prst="roundRect">
            <a:avLst>
              <a:gd name="adj" fmla="val 2586"/>
            </a:avLst>
          </a:prstGeom>
          <a:solidFill>
            <a:srgbClr val="FFFFFF"/>
          </a:solidFill>
          <a:ln w="10160">
            <a:solidFill>
              <a:srgbClr val="D8E0DC"/>
            </a:solidFill>
            <a:prstDash val="solid"/>
          </a:ln>
        </p:spPr>
      </p:sp>
      <p:pic>
        <p:nvPicPr>
          <p:cNvPr id="13" name="Image 0" descr="C:\Users\acer\Desktop\Titanic Survival Prediction\presentation_assets\predict.png">    </p:cNvPr>
          <p:cNvPicPr>
            <a:picLocks noChangeAspect="1"/>
          </p:cNvPicPr>
          <p:nvPr/>
        </p:nvPicPr>
        <p:blipFill>
          <a:blip r:embed="rId8"/>
          <a:stretch>
            <a:fillRect/>
          </a:stretch>
        </p:blipFill>
        <p:spPr>
          <a:xfrm>
            <a:off x="841248" y="1901952"/>
            <a:ext cx="3273552" cy="2331720"/>
          </a:xfrm>
          <a:prstGeom prst="rect">
            <a:avLst/>
          </a:prstGeom>
        </p:spPr>
      </p:pic>
      <p:sp>
        <p:nvSpPr>
          <p:cNvPr id="14" name="Text 11"/>
          <p:cNvSpPr/>
          <p:nvPr/>
        </p:nvSpPr>
        <p:spPr>
          <a:xfrm>
            <a:off x="914400" y="4416552"/>
            <a:ext cx="2926080" cy="182880"/>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PREDICT</a:t>
            </a:r>
            <a:endParaRPr lang="en-US" sz="900" dirty="0"/>
          </a:p>
        </p:txBody>
      </p:sp>
      <p:sp>
        <p:nvSpPr>
          <p:cNvPr id="15" name="Shape 12"/>
          <p:cNvSpPr/>
          <p:nvPr/>
        </p:nvSpPr>
        <p:spPr>
          <a:xfrm>
            <a:off x="4517136" y="1755648"/>
            <a:ext cx="3529584" cy="3182112"/>
          </a:xfrm>
          <a:prstGeom prst="roundRect">
            <a:avLst>
              <a:gd name="adj" fmla="val 2586"/>
            </a:avLst>
          </a:prstGeom>
          <a:solidFill>
            <a:srgbClr val="FFFFFF"/>
          </a:solidFill>
          <a:ln w="10160">
            <a:solidFill>
              <a:srgbClr val="D8E0DC"/>
            </a:solidFill>
            <a:prstDash val="solid"/>
          </a:ln>
        </p:spPr>
      </p:sp>
      <p:pic>
        <p:nvPicPr>
          <p:cNvPr id="16" name="Image 1" descr="C:\Users\acer\Desktop\Titanic Survival Prediction\presentation_assets\explore.png">    </p:cNvPr>
          <p:cNvPicPr>
            <a:picLocks noChangeAspect="1"/>
          </p:cNvPicPr>
          <p:nvPr/>
        </p:nvPicPr>
        <p:blipFill>
          <a:blip r:embed="rId9"/>
          <a:stretch>
            <a:fillRect/>
          </a:stretch>
        </p:blipFill>
        <p:spPr>
          <a:xfrm>
            <a:off x="4645152" y="1901952"/>
            <a:ext cx="3273552" cy="2331720"/>
          </a:xfrm>
          <a:prstGeom prst="rect">
            <a:avLst/>
          </a:prstGeom>
        </p:spPr>
      </p:pic>
      <p:sp>
        <p:nvSpPr>
          <p:cNvPr id="17" name="Text 13"/>
          <p:cNvSpPr/>
          <p:nvPr/>
        </p:nvSpPr>
        <p:spPr>
          <a:xfrm>
            <a:off x="4718304" y="4416552"/>
            <a:ext cx="2926080" cy="182880"/>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EXPLORE DATA</a:t>
            </a:r>
            <a:endParaRPr lang="en-US" sz="900" dirty="0"/>
          </a:p>
        </p:txBody>
      </p:sp>
      <p:sp>
        <p:nvSpPr>
          <p:cNvPr id="18" name="Shape 14"/>
          <p:cNvSpPr/>
          <p:nvPr/>
        </p:nvSpPr>
        <p:spPr>
          <a:xfrm>
            <a:off x="8321040" y="1755648"/>
            <a:ext cx="3529584" cy="3182112"/>
          </a:xfrm>
          <a:prstGeom prst="roundRect">
            <a:avLst>
              <a:gd name="adj" fmla="val 2586"/>
            </a:avLst>
          </a:prstGeom>
          <a:solidFill>
            <a:srgbClr val="FFFFFF"/>
          </a:solidFill>
          <a:ln w="10160">
            <a:solidFill>
              <a:srgbClr val="D8E0DC"/>
            </a:solidFill>
            <a:prstDash val="solid"/>
          </a:ln>
        </p:spPr>
      </p:sp>
      <p:pic>
        <p:nvPicPr>
          <p:cNvPr id="19" name="Image 2" descr="C:\Users\acer\Desktop\Titanic Survival Prediction\presentation_assets\about.png">    </p:cNvPr>
          <p:cNvPicPr>
            <a:picLocks noChangeAspect="1"/>
          </p:cNvPicPr>
          <p:nvPr/>
        </p:nvPicPr>
        <p:blipFill>
          <a:blip r:embed="rId10"/>
          <a:stretch>
            <a:fillRect/>
          </a:stretch>
        </p:blipFill>
        <p:spPr>
          <a:xfrm>
            <a:off x="8449056" y="1901952"/>
            <a:ext cx="3273552" cy="2331720"/>
          </a:xfrm>
          <a:prstGeom prst="rect">
            <a:avLst/>
          </a:prstGeom>
        </p:spPr>
      </p:pic>
      <p:sp>
        <p:nvSpPr>
          <p:cNvPr id="20" name="Text 15"/>
          <p:cNvSpPr/>
          <p:nvPr/>
        </p:nvSpPr>
        <p:spPr>
          <a:xfrm>
            <a:off x="8522208" y="4416552"/>
            <a:ext cx="2926080" cy="182880"/>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ABOUT</a:t>
            </a:r>
            <a:endParaRPr lang="en-US" sz="900" dirty="0"/>
          </a:p>
        </p:txBody>
      </p:sp>
      <p:sp>
        <p:nvSpPr>
          <p:cNvPr id="21" name="Text 16"/>
          <p:cNvSpPr/>
          <p:nvPr/>
        </p:nvSpPr>
        <p:spPr>
          <a:xfrm>
            <a:off x="841248" y="5321808"/>
            <a:ext cx="7680960" cy="228600"/>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Built with Python • FastAPI • scikit-learn • HTML • CSS • JavaScript</a:t>
            </a:r>
            <a:endParaRPr lang="en-US" sz="1000" dirty="0"/>
          </a:p>
        </p:txBody>
      </p:sp>
      <p:sp>
        <p:nvSpPr>
          <p:cNvPr id="22" name="Text 17">
            <a:hlinkClick r:id="rId11" tooltip=""/>
          </p:cNvPr>
          <p:cNvSpPr/>
          <p:nvPr/>
        </p:nvSpPr>
        <p:spPr>
          <a:xfrm>
            <a:off x="8961120" y="5285232"/>
            <a:ext cx="2011680" cy="274320"/>
          </a:xfrm>
          <a:prstGeom prst="rect">
            <a:avLst/>
          </a:prstGeom>
          <a:noFill/>
          <a:ln/>
        </p:spPr>
        <p:txBody>
          <a:bodyPr wrap="square" lIns="0" tIns="0" rIns="0" bIns="0" rtlCol="0" anchor="ctr"/>
          <a:lstStyle/>
          <a:p>
            <a:pPr indent="0" marL="0">
              <a:buNone/>
            </a:pPr>
            <a:r>
              <a:rPr lang="en-US" sz="1000" b="1" u="sng" dirty="0">
                <a:solidFill>
                  <a:srgbClr val="398E82"/>
                </a:solidFill>
                <a:latin typeface="Aptos" pitchFamily="34" charset="0"/>
                <a:ea typeface="Aptos" pitchFamily="34" charset="-122"/>
                <a:cs typeface="Apto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Open local demo ↗</a:t>
            </a:r>
            <a:endParaRPr lang="en-US" sz="1000" dirty="0"/>
          </a:p>
        </p:txBody>
      </p:sp>
      <p:sp>
        <p:nvSpPr>
          <p:cNvPr id="23" name="Text 18"/>
          <p:cNvSpPr/>
          <p:nvPr/>
        </p:nvSpPr>
        <p:spPr>
          <a:xfrm>
            <a:off x="841248" y="5650992"/>
            <a:ext cx="9692640" cy="18288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The link works when the project website is running on your computer.</a:t>
            </a:r>
            <a:endParaRPr lang="en-US" sz="8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10896"/>
            <a:ext cx="8229600" cy="182880"/>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07 • TAKEAWAY</a:t>
            </a:r>
            <a:endParaRPr lang="en-US" sz="800" dirty="0"/>
          </a:p>
        </p:txBody>
      </p:sp>
      <p:sp>
        <p:nvSpPr>
          <p:cNvPr id="3" name="Text 1"/>
          <p:cNvSpPr/>
          <p:nvPr/>
        </p:nvSpPr>
        <p:spPr>
          <a:xfrm>
            <a:off x="594360" y="658368"/>
            <a:ext cx="10972800" cy="457200"/>
          </a:xfrm>
          <a:prstGeom prst="rect">
            <a:avLst/>
          </a:prstGeom>
          <a:noFill/>
          <a:ln/>
        </p:spPr>
        <p:txBody>
          <a:bodyPr wrap="square" lIns="0" tIns="0" rIns="0" bIns="0" rtlCol="0" anchor="ctr">
            <a:normAutofit/>
          </a:bodyPr>
          <a:lstStyle/>
          <a:p>
            <a:pPr algn="l" indent="0" marL="0">
              <a:buNone/>
            </a:pPr>
            <a:r>
              <a:rPr lang="en-US" sz="2600" b="1" dirty="0">
                <a:solidFill>
                  <a:srgbClr val="142F49"/>
                </a:solidFill>
                <a:latin typeface="Georgia" pitchFamily="34" charset="0"/>
                <a:ea typeface="Georgia" pitchFamily="34" charset="-122"/>
                <a:cs typeface="Georgia" pitchFamily="34" charset="-120"/>
              </a:rPr>
              <a:t>A complete beginner machine learning project</a:t>
            </a:r>
            <a:endParaRPr lang="en-US" sz="2600" dirty="0"/>
          </a:p>
        </p:txBody>
      </p:sp>
      <p:sp>
        <p:nvSpPr>
          <p:cNvPr id="4" name="Text 2"/>
          <p:cNvSpPr/>
          <p:nvPr/>
        </p:nvSpPr>
        <p:spPr>
          <a:xfrm>
            <a:off x="621792" y="1170432"/>
            <a:ext cx="10789920" cy="292608"/>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We explored data, trained and checked a model, then connected it to a website.</a:t>
            </a:r>
            <a:endParaRPr lang="en-US" sz="1100" dirty="0"/>
          </a:p>
        </p:txBody>
      </p:sp>
      <p:sp>
        <p:nvSpPr>
          <p:cNvPr id="5" name="Text 3">
            <a:hlinkClick r:id="rId1" tooltip="" action="ppaction://hlinksldjump"/>
          </p:cNvPr>
          <p:cNvSpPr/>
          <p:nvPr/>
        </p:nvSpPr>
        <p:spPr>
          <a:xfrm>
            <a:off x="594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Goal</a:t>
            </a:r>
            <a:endParaRPr lang="en-US" sz="700" dirty="0"/>
          </a:p>
        </p:txBody>
      </p:sp>
      <p:sp>
        <p:nvSpPr>
          <p:cNvPr id="6" name="Text 4">
            <a:hlinkClick r:id="rId2" tooltip="" action="ppaction://hlinksldjump"/>
          </p:cNvPr>
          <p:cNvSpPr/>
          <p:nvPr/>
        </p:nvSpPr>
        <p:spPr>
          <a:xfrm>
            <a:off x="1737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a:t>
            </a:r>
            <a:endParaRPr lang="en-US" sz="700" dirty="0"/>
          </a:p>
        </p:txBody>
      </p:sp>
      <p:sp>
        <p:nvSpPr>
          <p:cNvPr id="7" name="Text 5">
            <a:hlinkClick r:id="rId3" tooltip="" action="ppaction://hlinksldjump"/>
          </p:cNvPr>
          <p:cNvSpPr/>
          <p:nvPr/>
        </p:nvSpPr>
        <p:spPr>
          <a:xfrm>
            <a:off x="2880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Patterns</a:t>
            </a:r>
            <a:endParaRPr lang="en-US" sz="700" dirty="0"/>
          </a:p>
        </p:txBody>
      </p:sp>
      <p:sp>
        <p:nvSpPr>
          <p:cNvPr id="8" name="Text 6">
            <a:hlinkClick r:id="rId4" tooltip="" action="ppaction://hlinksldjump"/>
          </p:cNvPr>
          <p:cNvSpPr/>
          <p:nvPr/>
        </p:nvSpPr>
        <p:spPr>
          <a:xfrm>
            <a:off x="4023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a:t>
            </a:r>
            <a:endParaRPr lang="en-US" sz="700" dirty="0"/>
          </a:p>
        </p:txBody>
      </p:sp>
      <p:sp>
        <p:nvSpPr>
          <p:cNvPr id="9" name="Text 7">
            <a:hlinkClick r:id="rId5" tooltip="" action="ppaction://hlinksldjump"/>
          </p:cNvPr>
          <p:cNvSpPr/>
          <p:nvPr/>
        </p:nvSpPr>
        <p:spPr>
          <a:xfrm>
            <a:off x="5166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Results</a:t>
            </a:r>
            <a:endParaRPr lang="en-US" sz="700" dirty="0"/>
          </a:p>
        </p:txBody>
      </p:sp>
      <p:sp>
        <p:nvSpPr>
          <p:cNvPr id="10" name="Text 8">
            <a:hlinkClick r:id="rId6" tooltip="" action="ppaction://hlinksldjump"/>
          </p:cNvPr>
          <p:cNvSpPr/>
          <p:nvPr/>
        </p:nvSpPr>
        <p:spPr>
          <a:xfrm>
            <a:off x="6309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11" name="Text 9">
            <a:hlinkClick r:id="rId7" tooltip="" action="ppaction://hlinksldjump"/>
          </p:cNvPr>
          <p:cNvSpPr/>
          <p:nvPr/>
        </p:nvSpPr>
        <p:spPr>
          <a:xfrm>
            <a:off x="7452360" y="6245352"/>
            <a:ext cx="1005840" cy="155448"/>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Takeaway</a:t>
            </a:r>
            <a:endParaRPr lang="en-US" sz="700" dirty="0"/>
          </a:p>
        </p:txBody>
      </p:sp>
      <p:sp>
        <p:nvSpPr>
          <p:cNvPr id="12" name="Shape 10"/>
          <p:cNvSpPr/>
          <p:nvPr/>
        </p:nvSpPr>
        <p:spPr>
          <a:xfrm>
            <a:off x="804672" y="1828800"/>
            <a:ext cx="5486400" cy="3108960"/>
          </a:xfrm>
          <a:prstGeom prst="roundRect">
            <a:avLst>
              <a:gd name="adj" fmla="val 2647"/>
            </a:avLst>
          </a:prstGeom>
          <a:solidFill>
            <a:srgbClr val="142F49"/>
          </a:solidFill>
          <a:ln w="12700">
            <a:solidFill>
              <a:srgbClr val="142F49">
                <a:alpha val="0"/>
              </a:srgbClr>
            </a:solidFill>
            <a:prstDash val="solid"/>
          </a:ln>
        </p:spPr>
      </p:sp>
      <p:sp>
        <p:nvSpPr>
          <p:cNvPr id="13" name="Text 11"/>
          <p:cNvSpPr/>
          <p:nvPr/>
        </p:nvSpPr>
        <p:spPr>
          <a:xfrm>
            <a:off x="1143000" y="2148840"/>
            <a:ext cx="1828800" cy="201168"/>
          </a:xfrm>
          <a:prstGeom prst="rect">
            <a:avLst/>
          </a:prstGeom>
          <a:noFill/>
          <a:ln/>
        </p:spPr>
        <p:txBody>
          <a:bodyPr wrap="square" lIns="0" tIns="0" rIns="0" bIns="0" rtlCol="0" anchor="ctr">
            <a:normAutofit/>
          </a:bodyPr>
          <a:lstStyle/>
          <a:p>
            <a:pPr algn="l" indent="0" marL="0">
              <a:buNone/>
            </a:pPr>
            <a:r>
              <a:rPr lang="en-US" sz="900" b="1" dirty="0">
                <a:solidFill>
                  <a:srgbClr val="D1A56A"/>
                </a:solidFill>
                <a:latin typeface="Aptos" pitchFamily="34" charset="0"/>
                <a:ea typeface="Aptos" pitchFamily="34" charset="-122"/>
                <a:cs typeface="Aptos" pitchFamily="34" charset="-120"/>
              </a:rPr>
              <a:t>REMEMBER</a:t>
            </a:r>
            <a:endParaRPr lang="en-US" sz="900" dirty="0"/>
          </a:p>
        </p:txBody>
      </p:sp>
      <p:sp>
        <p:nvSpPr>
          <p:cNvPr id="14" name="Text 12"/>
          <p:cNvSpPr/>
          <p:nvPr/>
        </p:nvSpPr>
        <p:spPr>
          <a:xfrm>
            <a:off x="1143000" y="2651760"/>
            <a:ext cx="4572000" cy="960120"/>
          </a:xfrm>
          <a:prstGeom prst="rect">
            <a:avLst/>
          </a:prstGeom>
          <a:noFill/>
          <a:ln/>
        </p:spPr>
        <p:txBody>
          <a:bodyPr wrap="square" lIns="0" tIns="0" rIns="0" bIns="0" rtlCol="0" anchor="ctr">
            <a:normAutofit/>
          </a:bodyPr>
          <a:lstStyle/>
          <a:p>
            <a:pPr algn="l" indent="0" marL="0">
              <a:buNone/>
            </a:pPr>
            <a:r>
              <a:rPr lang="en-US" sz="2400" b="1" dirty="0">
                <a:solidFill>
                  <a:srgbClr val="FAF8F1"/>
                </a:solidFill>
                <a:latin typeface="Georgia" pitchFamily="34" charset="0"/>
                <a:ea typeface="Georgia" pitchFamily="34" charset="-122"/>
                <a:cs typeface="Georgia" pitchFamily="34" charset="-120"/>
              </a:rPr>
              <a:t>This model gives an estimate based on historical passenger records.</a:t>
            </a:r>
            <a:endParaRPr lang="en-US" sz="2400" dirty="0"/>
          </a:p>
        </p:txBody>
      </p:sp>
      <p:sp>
        <p:nvSpPr>
          <p:cNvPr id="15" name="Text 13"/>
          <p:cNvSpPr/>
          <p:nvPr/>
        </p:nvSpPr>
        <p:spPr>
          <a:xfrm>
            <a:off x="1143000" y="4087368"/>
            <a:ext cx="4389120" cy="256032"/>
          </a:xfrm>
          <a:prstGeom prst="rect">
            <a:avLst/>
          </a:prstGeom>
          <a:noFill/>
          <a:ln/>
        </p:spPr>
        <p:txBody>
          <a:bodyPr wrap="square" lIns="0" tIns="0" rIns="0" bIns="0" rtlCol="0" anchor="ctr">
            <a:normAutofit/>
          </a:bodyPr>
          <a:lstStyle/>
          <a:p>
            <a:pPr algn="l" indent="0" marL="0">
              <a:buNone/>
            </a:pPr>
            <a:r>
              <a:rPr lang="en-US" sz="1100" dirty="0">
                <a:solidFill>
                  <a:srgbClr val="D5E2DE"/>
                </a:solidFill>
                <a:latin typeface="Aptos" pitchFamily="34" charset="0"/>
                <a:ea typeface="Aptos" pitchFamily="34" charset="-122"/>
                <a:cs typeface="Aptos" pitchFamily="34" charset="-120"/>
              </a:rPr>
              <a:t>It cannot explain every individual outcome.</a:t>
            </a:r>
            <a:endParaRPr lang="en-US" sz="1100" dirty="0"/>
          </a:p>
        </p:txBody>
      </p:sp>
      <p:sp>
        <p:nvSpPr>
          <p:cNvPr id="16" name="Shape 14"/>
          <p:cNvSpPr/>
          <p:nvPr/>
        </p:nvSpPr>
        <p:spPr>
          <a:xfrm>
            <a:off x="6720840" y="1828800"/>
            <a:ext cx="4434840" cy="3108960"/>
          </a:xfrm>
          <a:prstGeom prst="roundRect">
            <a:avLst>
              <a:gd name="adj" fmla="val 2647"/>
            </a:avLst>
          </a:prstGeom>
          <a:solidFill>
            <a:srgbClr val="E3F0E9"/>
          </a:solidFill>
          <a:ln w="12700">
            <a:solidFill>
              <a:srgbClr val="E3F0E9">
                <a:alpha val="0"/>
              </a:srgbClr>
            </a:solidFill>
            <a:prstDash val="solid"/>
          </a:ln>
        </p:spPr>
      </p:sp>
      <p:sp>
        <p:nvSpPr>
          <p:cNvPr id="17" name="Text 15"/>
          <p:cNvSpPr/>
          <p:nvPr/>
        </p:nvSpPr>
        <p:spPr>
          <a:xfrm>
            <a:off x="7059168" y="2148840"/>
            <a:ext cx="3200400" cy="201168"/>
          </a:xfrm>
          <a:prstGeom prst="rect">
            <a:avLst/>
          </a:prstGeom>
          <a:noFill/>
          <a:ln/>
        </p:spPr>
        <p:txBody>
          <a:bodyPr wrap="square" lIns="0" tIns="0" rIns="0" bIns="0" rtlCol="0" anchor="ctr">
            <a:normAutofit/>
          </a:bodyPr>
          <a:lstStyle/>
          <a:p>
            <a:pPr algn="l" indent="0" marL="0">
              <a:buNone/>
            </a:pPr>
            <a:r>
              <a:rPr lang="en-US" sz="900" b="1" dirty="0">
                <a:solidFill>
                  <a:srgbClr val="398E82"/>
                </a:solidFill>
                <a:latin typeface="Aptos" pitchFamily="34" charset="0"/>
                <a:ea typeface="Aptos" pitchFamily="34" charset="-122"/>
                <a:cs typeface="Aptos" pitchFamily="34" charset="-120"/>
              </a:rPr>
              <a:t>BEFORE PRESENTING</a:t>
            </a:r>
            <a:endParaRPr lang="en-US" sz="900" dirty="0"/>
          </a:p>
        </p:txBody>
      </p:sp>
      <p:sp>
        <p:nvSpPr>
          <p:cNvPr id="18" name="Shape 16"/>
          <p:cNvSpPr/>
          <p:nvPr/>
        </p:nvSpPr>
        <p:spPr>
          <a:xfrm>
            <a:off x="7077456" y="2697480"/>
            <a:ext cx="201168" cy="201168"/>
          </a:xfrm>
          <a:prstGeom prst="roundRect">
            <a:avLst>
              <a:gd name="adj" fmla="val 40909"/>
            </a:avLst>
          </a:prstGeom>
          <a:solidFill>
            <a:srgbClr val="E77765"/>
          </a:solidFill>
          <a:ln w="12700">
            <a:solidFill>
              <a:srgbClr val="E77765">
                <a:alpha val="0"/>
              </a:srgbClr>
            </a:solidFill>
            <a:prstDash val="solid"/>
          </a:ln>
        </p:spPr>
      </p:sp>
      <p:sp>
        <p:nvSpPr>
          <p:cNvPr id="19" name="Text 17"/>
          <p:cNvSpPr/>
          <p:nvPr/>
        </p:nvSpPr>
        <p:spPr>
          <a:xfrm>
            <a:off x="7452360" y="2688336"/>
            <a:ext cx="3246120" cy="256032"/>
          </a:xfrm>
          <a:prstGeom prst="rect">
            <a:avLst/>
          </a:prstGeom>
          <a:noFill/>
          <a:ln/>
        </p:spPr>
        <p:txBody>
          <a:bodyPr wrap="square" lIns="0" tIns="0" rIns="0" bIns="0" rtlCol="0" anchor="ctr">
            <a:normAutofit/>
          </a:bodyPr>
          <a:lstStyle/>
          <a:p>
            <a:pPr algn="l" indent="0" marL="0">
              <a:buNone/>
            </a:pPr>
            <a:r>
              <a:rPr lang="en-US" sz="1000" dirty="0">
                <a:solidFill>
                  <a:srgbClr val="213B52"/>
                </a:solidFill>
                <a:latin typeface="Aptos" pitchFamily="34" charset="0"/>
                <a:ea typeface="Aptos" pitchFamily="34" charset="-122"/>
                <a:cs typeface="Aptos" pitchFamily="34" charset="-120"/>
              </a:rPr>
              <a:t>Add student and mentor details</a:t>
            </a:r>
            <a:endParaRPr lang="en-US" sz="1000" dirty="0"/>
          </a:p>
        </p:txBody>
      </p:sp>
      <p:sp>
        <p:nvSpPr>
          <p:cNvPr id="20" name="Shape 18"/>
          <p:cNvSpPr/>
          <p:nvPr/>
        </p:nvSpPr>
        <p:spPr>
          <a:xfrm>
            <a:off x="7077456" y="3264408"/>
            <a:ext cx="201168" cy="201168"/>
          </a:xfrm>
          <a:prstGeom prst="roundRect">
            <a:avLst>
              <a:gd name="adj" fmla="val 40909"/>
            </a:avLst>
          </a:prstGeom>
          <a:solidFill>
            <a:srgbClr val="398E82"/>
          </a:solidFill>
          <a:ln w="12700">
            <a:solidFill>
              <a:srgbClr val="398E82">
                <a:alpha val="0"/>
              </a:srgbClr>
            </a:solidFill>
            <a:prstDash val="solid"/>
          </a:ln>
        </p:spPr>
      </p:sp>
      <p:sp>
        <p:nvSpPr>
          <p:cNvPr id="21" name="Text 19"/>
          <p:cNvSpPr/>
          <p:nvPr/>
        </p:nvSpPr>
        <p:spPr>
          <a:xfrm>
            <a:off x="7452360" y="3255264"/>
            <a:ext cx="3246120" cy="256032"/>
          </a:xfrm>
          <a:prstGeom prst="rect">
            <a:avLst/>
          </a:prstGeom>
          <a:noFill/>
          <a:ln/>
        </p:spPr>
        <p:txBody>
          <a:bodyPr wrap="square" lIns="0" tIns="0" rIns="0" bIns="0" rtlCol="0" anchor="ctr">
            <a:normAutofit/>
          </a:bodyPr>
          <a:lstStyle/>
          <a:p>
            <a:pPr algn="l" indent="0" marL="0">
              <a:buNone/>
            </a:pPr>
            <a:r>
              <a:rPr lang="en-US" sz="1000" dirty="0">
                <a:solidFill>
                  <a:srgbClr val="213B52"/>
                </a:solidFill>
                <a:latin typeface="Aptos" pitchFamily="34" charset="0"/>
                <a:ea typeface="Aptos" pitchFamily="34" charset="-122"/>
                <a:cs typeface="Aptos" pitchFamily="34" charset="-120"/>
              </a:rPr>
              <a:t>Run the website for the live demo</a:t>
            </a:r>
            <a:endParaRPr lang="en-US" sz="1000" dirty="0"/>
          </a:p>
        </p:txBody>
      </p:sp>
      <p:sp>
        <p:nvSpPr>
          <p:cNvPr id="22" name="Shape 20"/>
          <p:cNvSpPr/>
          <p:nvPr/>
        </p:nvSpPr>
        <p:spPr>
          <a:xfrm>
            <a:off x="7077456" y="3831336"/>
            <a:ext cx="201168" cy="201168"/>
          </a:xfrm>
          <a:prstGeom prst="roundRect">
            <a:avLst>
              <a:gd name="adj" fmla="val 40909"/>
            </a:avLst>
          </a:prstGeom>
          <a:solidFill>
            <a:srgbClr val="398E82"/>
          </a:solidFill>
          <a:ln w="12700">
            <a:solidFill>
              <a:srgbClr val="398E82">
                <a:alpha val="0"/>
              </a:srgbClr>
            </a:solidFill>
            <a:prstDash val="solid"/>
          </a:ln>
        </p:spPr>
      </p:sp>
      <p:sp>
        <p:nvSpPr>
          <p:cNvPr id="23" name="Text 21"/>
          <p:cNvSpPr/>
          <p:nvPr/>
        </p:nvSpPr>
        <p:spPr>
          <a:xfrm>
            <a:off x="7452360" y="3822192"/>
            <a:ext cx="3246120" cy="256032"/>
          </a:xfrm>
          <a:prstGeom prst="rect">
            <a:avLst/>
          </a:prstGeom>
          <a:noFill/>
          <a:ln/>
        </p:spPr>
        <p:txBody>
          <a:bodyPr wrap="square" lIns="0" tIns="0" rIns="0" bIns="0" rtlCol="0" anchor="ctr">
            <a:normAutofit/>
          </a:bodyPr>
          <a:lstStyle/>
          <a:p>
            <a:pPr algn="l" indent="0" marL="0">
              <a:buNone/>
            </a:pPr>
            <a:r>
              <a:rPr lang="en-US" sz="1000" dirty="0">
                <a:solidFill>
                  <a:srgbClr val="213B52"/>
                </a:solidFill>
                <a:latin typeface="Aptos" pitchFamily="34" charset="0"/>
                <a:ea typeface="Aptos" pitchFamily="34" charset="-122"/>
                <a:cs typeface="Aptos" pitchFamily="34" charset="-120"/>
              </a:rPr>
              <a:t>Cite the dataset source in the report</a:t>
            </a:r>
            <a:endParaRPr lang="en-US" sz="1000" dirty="0"/>
          </a:p>
        </p:txBody>
      </p:sp>
      <p:sp>
        <p:nvSpPr>
          <p:cNvPr id="24" name="Text 22"/>
          <p:cNvSpPr/>
          <p:nvPr/>
        </p:nvSpPr>
        <p:spPr>
          <a:xfrm>
            <a:off x="841248" y="5340096"/>
            <a:ext cx="9692640" cy="201168"/>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Project files: Titanic.csv • Titanic_Survival_Analysis.ipynb • app.py</a:t>
            </a:r>
            <a:endParaRPr lang="en-US" sz="9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Invertis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Titanic Survival Prediction | Invertis University</dc:title>
  <dc:subject>Titanic Survival Prediction</dc:subject>
  <dc:creator>Invertis University - Machine Learning Project</dc:creator>
  <cp:lastModifiedBy>Invertis University - Machine Learning Project</cp:lastModifiedBy>
  <cp:revision>1</cp:revision>
  <dcterms:created xsi:type="dcterms:W3CDTF">2026-10-30T14:39:49Z</dcterms:created>
  <dcterms:modified xsi:type="dcterms:W3CDTF">2026-10-30T14:39:49Z</dcterms:modified>
</cp:coreProperties>
</file>